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7" r:id="rId2"/>
    <p:sldId id="372" r:id="rId3"/>
    <p:sldId id="422" r:id="rId4"/>
    <p:sldId id="420" r:id="rId5"/>
    <p:sldId id="384" r:id="rId6"/>
    <p:sldId id="412" r:id="rId7"/>
    <p:sldId id="413" r:id="rId8"/>
    <p:sldId id="414" r:id="rId9"/>
    <p:sldId id="415" r:id="rId10"/>
    <p:sldId id="423" r:id="rId11"/>
    <p:sldId id="424" r:id="rId1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1004" autoAdjust="0"/>
  </p:normalViewPr>
  <p:slideViewPr>
    <p:cSldViewPr snapToGrid="0">
      <p:cViewPr varScale="1">
        <p:scale>
          <a:sx n="32" d="100"/>
          <a:sy n="32" d="100"/>
        </p:scale>
        <p:origin x="1526"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7D0AE-F8F2-475F-85C8-5DA5207016F3}" type="datetimeFigureOut">
              <a:rPr lang="en-GB" smtClean="0"/>
              <a:t>22/05/2022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14B93A-25CB-4834-8347-8E448F1E0F06}" type="slidenum">
              <a:rPr lang="en-GB" smtClean="0"/>
              <a:t>‹#›</a:t>
            </a:fld>
            <a:endParaRPr lang="en-GB"/>
          </a:p>
        </p:txBody>
      </p:sp>
    </p:spTree>
    <p:extLst>
      <p:ext uri="{BB962C8B-B14F-4D97-AF65-F5344CB8AC3E}">
        <p14:creationId xmlns:p14="http://schemas.microsoft.com/office/powerpoint/2010/main" val="2472202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8" y="1241425"/>
            <a:ext cx="5954712" cy="334962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dirty="0"/>
              <a:t>The rules on referencing in social sciences have been drafted by the  American Psychological Associacion and are listed in the Publication Manual (available from the library).  </a:t>
            </a:r>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250B3B4-A52A-491D-ADEB-D2C0AD3558FA}"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12761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important to stick to the APA rules (to the letter!) Losing marks over these is just such a waste of effort.</a:t>
            </a:r>
          </a:p>
          <a:p>
            <a:r>
              <a:rPr dirty="0"/>
              <a:t>Students often fail to correctly apply the A</a:t>
            </a:r>
            <a:r>
              <a:rPr lang="en-US" dirty="0"/>
              <a:t>PA</a:t>
            </a:r>
            <a:r>
              <a:rPr dirty="0"/>
              <a:t> Guidelines when writing a report. This can have one of two causes: either they have been sloppy, or they aren't aware of the correct way of doing it. </a:t>
            </a:r>
          </a:p>
          <a:p>
            <a:r>
              <a:rPr dirty="0"/>
              <a:t>Another aspect is that students find it hard to determine where best to insert the reference and how often to repeat it. In principle, you, the author, should ensure that there can be no doubt as to the source of your information, but to really get a feel for how to do it, students are advised to pay attention to </a:t>
            </a:r>
            <a:r>
              <a:rPr lang="en-US" dirty="0"/>
              <a:t>how </a:t>
            </a:r>
            <a:r>
              <a:rPr dirty="0"/>
              <a:t>sources are cited in scientific literature. </a:t>
            </a:r>
            <a:endParaRPr lang="en-US" dirty="0"/>
          </a:p>
        </p:txBody>
      </p:sp>
      <p:sp>
        <p:nvSpPr>
          <p:cNvPr id="4" name="Tijdelijke aanduiding voor dianummer 3"/>
          <p:cNvSpPr>
            <a:spLocks noGrp="1"/>
          </p:cNvSpPr>
          <p:nvPr>
            <p:ph type="sldNum" sz="quarter" idx="10"/>
          </p:nvPr>
        </p:nvSpPr>
        <p:spPr/>
        <p:txBody>
          <a:bodyPr/>
          <a:lstStyle/>
          <a:p>
            <a:fld id="{E250B3B4-A52A-491D-ADEB-D2C0AD3558FA}" type="slidenum">
              <a:rPr lang="nl-NL" smtClean="0">
                <a:solidFill>
                  <a:prstClr val="black"/>
                </a:solidFill>
              </a:rPr>
              <a:pPr/>
              <a:t>4</a:t>
            </a:fld>
            <a:endParaRPr lang="en-GB" dirty="0">
              <a:solidFill>
                <a:prstClr val="black"/>
              </a:solidFill>
            </a:endParaRPr>
          </a:p>
        </p:txBody>
      </p:sp>
    </p:spTree>
    <p:extLst>
      <p:ext uri="{BB962C8B-B14F-4D97-AF65-F5344CB8AC3E}">
        <p14:creationId xmlns:p14="http://schemas.microsoft.com/office/powerpoint/2010/main" val="2642951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14B93A-25CB-4834-8347-8E448F1E0F06}" type="slidenum">
              <a:rPr lang="en-GB" smtClean="0"/>
              <a:t>5</a:t>
            </a:fld>
            <a:endParaRPr lang="en-GB"/>
          </a:p>
        </p:txBody>
      </p:sp>
    </p:spTree>
    <p:extLst>
      <p:ext uri="{BB962C8B-B14F-4D97-AF65-F5344CB8AC3E}">
        <p14:creationId xmlns:p14="http://schemas.microsoft.com/office/powerpoint/2010/main" val="3641974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defTabSz="920750" eaLnBrk="0" hangingPunct="0">
              <a:defRPr sz="4800" b="1" i="1">
                <a:solidFill>
                  <a:srgbClr val="FFD200"/>
                </a:solidFill>
                <a:latin typeface="Times New Roman" pitchFamily="18" charset="0"/>
              </a:defRPr>
            </a:lvl1pPr>
            <a:lvl2pPr marL="742950" indent="-285750" defTabSz="920750" eaLnBrk="0" hangingPunct="0">
              <a:defRPr sz="4800" b="1" i="1">
                <a:solidFill>
                  <a:srgbClr val="FFD200"/>
                </a:solidFill>
                <a:latin typeface="Times New Roman" pitchFamily="18" charset="0"/>
              </a:defRPr>
            </a:lvl2pPr>
            <a:lvl3pPr marL="1143000" indent="-228600" defTabSz="920750" eaLnBrk="0" hangingPunct="0">
              <a:defRPr sz="4800" b="1" i="1">
                <a:solidFill>
                  <a:srgbClr val="FFD200"/>
                </a:solidFill>
                <a:latin typeface="Times New Roman" pitchFamily="18" charset="0"/>
              </a:defRPr>
            </a:lvl3pPr>
            <a:lvl4pPr marL="1600200" indent="-228600" defTabSz="920750" eaLnBrk="0" hangingPunct="0">
              <a:defRPr sz="4800" b="1" i="1">
                <a:solidFill>
                  <a:srgbClr val="FFD200"/>
                </a:solidFill>
                <a:latin typeface="Times New Roman" pitchFamily="18" charset="0"/>
              </a:defRPr>
            </a:lvl4pPr>
            <a:lvl5pPr marL="2057400" indent="-228600" defTabSz="920750" eaLnBrk="0" hangingPunct="0">
              <a:defRPr sz="4800" b="1" i="1">
                <a:solidFill>
                  <a:srgbClr val="FFD200"/>
                </a:solidFill>
                <a:latin typeface="Times New Roman" pitchFamily="18" charset="0"/>
              </a:defRPr>
            </a:lvl5pPr>
            <a:lvl6pPr marL="2514600" indent="-228600" defTabSz="920750" eaLnBrk="0" fontAlgn="base" hangingPunct="0">
              <a:spcBef>
                <a:spcPct val="0"/>
              </a:spcBef>
              <a:spcAft>
                <a:spcPct val="0"/>
              </a:spcAft>
              <a:defRPr sz="4800" b="1" i="1">
                <a:solidFill>
                  <a:srgbClr val="FFD200"/>
                </a:solidFill>
                <a:latin typeface="Times New Roman" pitchFamily="18" charset="0"/>
              </a:defRPr>
            </a:lvl6pPr>
            <a:lvl7pPr marL="2971800" indent="-228600" defTabSz="920750" eaLnBrk="0" fontAlgn="base" hangingPunct="0">
              <a:spcBef>
                <a:spcPct val="0"/>
              </a:spcBef>
              <a:spcAft>
                <a:spcPct val="0"/>
              </a:spcAft>
              <a:defRPr sz="4800" b="1" i="1">
                <a:solidFill>
                  <a:srgbClr val="FFD200"/>
                </a:solidFill>
                <a:latin typeface="Times New Roman" pitchFamily="18" charset="0"/>
              </a:defRPr>
            </a:lvl7pPr>
            <a:lvl8pPr marL="3429000" indent="-228600" defTabSz="920750" eaLnBrk="0" fontAlgn="base" hangingPunct="0">
              <a:spcBef>
                <a:spcPct val="0"/>
              </a:spcBef>
              <a:spcAft>
                <a:spcPct val="0"/>
              </a:spcAft>
              <a:defRPr sz="4800" b="1" i="1">
                <a:solidFill>
                  <a:srgbClr val="FFD200"/>
                </a:solidFill>
                <a:latin typeface="Times New Roman" pitchFamily="18" charset="0"/>
              </a:defRPr>
            </a:lvl8pPr>
            <a:lvl9pPr marL="3886200" indent="-228600" defTabSz="920750" eaLnBrk="0" fontAlgn="base" hangingPunct="0">
              <a:spcBef>
                <a:spcPct val="0"/>
              </a:spcBef>
              <a:spcAft>
                <a:spcPct val="0"/>
              </a:spcAft>
              <a:defRPr sz="4800" b="1" i="1">
                <a:solidFill>
                  <a:srgbClr val="FFD200"/>
                </a:solidFill>
                <a:latin typeface="Times New Roman" pitchFamily="18" charset="0"/>
              </a:defRPr>
            </a:lvl9pPr>
          </a:lstStyle>
          <a:p>
            <a:pPr marL="0" marR="0" lvl="0" indent="0" algn="r" defTabSz="920750" rtl="0" eaLnBrk="1" fontAlgn="auto" latinLnBrk="0" hangingPunct="1">
              <a:lnSpc>
                <a:spcPct val="100000"/>
              </a:lnSpc>
              <a:spcBef>
                <a:spcPts val="0"/>
              </a:spcBef>
              <a:spcAft>
                <a:spcPts val="0"/>
              </a:spcAft>
              <a:buClrTx/>
              <a:buSzTx/>
              <a:buFontTx/>
              <a:buNone/>
              <a:tabLst/>
              <a:defRPr/>
            </a:pPr>
            <a:fld id="{DCC262E8-61D6-4713-9574-BC963BDF122D}" type="slidenum">
              <a:rPr kumimoji="0" lang="nl-NL" altLang="nl-NL"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0750" rtl="0" eaLnBrk="1" fontAlgn="auto" latinLnBrk="0" hangingPunct="1">
                <a:lnSpc>
                  <a:spcPct val="100000"/>
                </a:lnSpc>
                <a:spcBef>
                  <a:spcPts val="0"/>
                </a:spcBef>
                <a:spcAft>
                  <a:spcPts val="0"/>
                </a:spcAft>
                <a:buClrTx/>
                <a:buSzTx/>
                <a:buFontTx/>
                <a:buNone/>
                <a:tabLst/>
                <a:defRPr/>
              </a:pPr>
              <a:t>6</a:t>
            </a:fld>
            <a:endParaRPr kumimoji="0" lang="en-GB" altLang="nl-NL" sz="1200" b="0" i="0" u="none" strike="noStrike" kern="1200" cap="none" spc="0" normalizeH="0" baseline="0" noProof="0" dirty="0">
              <a:ln>
                <a:noFill/>
              </a:ln>
              <a:solidFill>
                <a:prstClr val="black"/>
              </a:solidFill>
              <a:effectLst/>
              <a:uLnTx/>
              <a:uFillTx/>
              <a:latin typeface="Times New Roman" pitchFamily="18" charset="0"/>
              <a:ea typeface="+mn-ea"/>
              <a:cs typeface="+mn-cs"/>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p:spPr>
        <p:txBody>
          <a:bodyPr/>
          <a:lstStyle/>
          <a:p>
            <a:pPr eaLnBrk="1" hangingPunct="1"/>
            <a:r>
              <a:rPr lang="nl-NL" altLang="nl-NL" dirty="0"/>
              <a:t>The reference belongs to the sentence, so should be inserted before the full stop. The sentence doesn't end until after the reference!</a:t>
            </a:r>
          </a:p>
          <a:p>
            <a:pPr eaLnBrk="1" hangingPunct="1"/>
            <a:endParaRPr lang="en-GB" altLang="nl-NL" dirty="0"/>
          </a:p>
        </p:txBody>
      </p:sp>
    </p:spTree>
    <p:extLst>
      <p:ext uri="{BB962C8B-B14F-4D97-AF65-F5344CB8AC3E}">
        <p14:creationId xmlns:p14="http://schemas.microsoft.com/office/powerpoint/2010/main" val="3017319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14B93A-25CB-4834-8347-8E448F1E0F06}" type="slidenum">
              <a:rPr lang="en-GB" smtClean="0"/>
              <a:t>7</a:t>
            </a:fld>
            <a:endParaRPr lang="en-GB"/>
          </a:p>
        </p:txBody>
      </p:sp>
    </p:spTree>
    <p:extLst>
      <p:ext uri="{BB962C8B-B14F-4D97-AF65-F5344CB8AC3E}">
        <p14:creationId xmlns:p14="http://schemas.microsoft.com/office/powerpoint/2010/main" val="2884332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defTabSz="920750" eaLnBrk="0" hangingPunct="0">
              <a:defRPr sz="4800" b="1" i="1">
                <a:solidFill>
                  <a:srgbClr val="FFD200"/>
                </a:solidFill>
                <a:latin typeface="Times New Roman" pitchFamily="18" charset="0"/>
              </a:defRPr>
            </a:lvl1pPr>
            <a:lvl2pPr marL="742950" indent="-285750" defTabSz="920750" eaLnBrk="0" hangingPunct="0">
              <a:defRPr sz="4800" b="1" i="1">
                <a:solidFill>
                  <a:srgbClr val="FFD200"/>
                </a:solidFill>
                <a:latin typeface="Times New Roman" pitchFamily="18" charset="0"/>
              </a:defRPr>
            </a:lvl2pPr>
            <a:lvl3pPr marL="1143000" indent="-228600" defTabSz="920750" eaLnBrk="0" hangingPunct="0">
              <a:defRPr sz="4800" b="1" i="1">
                <a:solidFill>
                  <a:srgbClr val="FFD200"/>
                </a:solidFill>
                <a:latin typeface="Times New Roman" pitchFamily="18" charset="0"/>
              </a:defRPr>
            </a:lvl3pPr>
            <a:lvl4pPr marL="1600200" indent="-228600" defTabSz="920750" eaLnBrk="0" hangingPunct="0">
              <a:defRPr sz="4800" b="1" i="1">
                <a:solidFill>
                  <a:srgbClr val="FFD200"/>
                </a:solidFill>
                <a:latin typeface="Times New Roman" pitchFamily="18" charset="0"/>
              </a:defRPr>
            </a:lvl4pPr>
            <a:lvl5pPr marL="2057400" indent="-228600" defTabSz="920750" eaLnBrk="0" hangingPunct="0">
              <a:defRPr sz="4800" b="1" i="1">
                <a:solidFill>
                  <a:srgbClr val="FFD200"/>
                </a:solidFill>
                <a:latin typeface="Times New Roman" pitchFamily="18" charset="0"/>
              </a:defRPr>
            </a:lvl5pPr>
            <a:lvl6pPr marL="2514600" indent="-228600" defTabSz="920750" eaLnBrk="0" fontAlgn="base" hangingPunct="0">
              <a:spcBef>
                <a:spcPct val="0"/>
              </a:spcBef>
              <a:spcAft>
                <a:spcPct val="0"/>
              </a:spcAft>
              <a:defRPr sz="4800" b="1" i="1">
                <a:solidFill>
                  <a:srgbClr val="FFD200"/>
                </a:solidFill>
                <a:latin typeface="Times New Roman" pitchFamily="18" charset="0"/>
              </a:defRPr>
            </a:lvl6pPr>
            <a:lvl7pPr marL="2971800" indent="-228600" defTabSz="920750" eaLnBrk="0" fontAlgn="base" hangingPunct="0">
              <a:spcBef>
                <a:spcPct val="0"/>
              </a:spcBef>
              <a:spcAft>
                <a:spcPct val="0"/>
              </a:spcAft>
              <a:defRPr sz="4800" b="1" i="1">
                <a:solidFill>
                  <a:srgbClr val="FFD200"/>
                </a:solidFill>
                <a:latin typeface="Times New Roman" pitchFamily="18" charset="0"/>
              </a:defRPr>
            </a:lvl7pPr>
            <a:lvl8pPr marL="3429000" indent="-228600" defTabSz="920750" eaLnBrk="0" fontAlgn="base" hangingPunct="0">
              <a:spcBef>
                <a:spcPct val="0"/>
              </a:spcBef>
              <a:spcAft>
                <a:spcPct val="0"/>
              </a:spcAft>
              <a:defRPr sz="4800" b="1" i="1">
                <a:solidFill>
                  <a:srgbClr val="FFD200"/>
                </a:solidFill>
                <a:latin typeface="Times New Roman" pitchFamily="18" charset="0"/>
              </a:defRPr>
            </a:lvl8pPr>
            <a:lvl9pPr marL="3886200" indent="-228600" defTabSz="920750" eaLnBrk="0" fontAlgn="base" hangingPunct="0">
              <a:spcBef>
                <a:spcPct val="0"/>
              </a:spcBef>
              <a:spcAft>
                <a:spcPct val="0"/>
              </a:spcAft>
              <a:defRPr sz="4800" b="1" i="1">
                <a:solidFill>
                  <a:srgbClr val="FFD200"/>
                </a:solidFill>
                <a:latin typeface="Times New Roman" pitchFamily="18" charset="0"/>
              </a:defRPr>
            </a:lvl9pPr>
          </a:lstStyle>
          <a:p>
            <a:pPr marL="0" marR="0" lvl="0" indent="0" algn="r" defTabSz="920750" rtl="0" eaLnBrk="1" fontAlgn="auto" latinLnBrk="0" hangingPunct="1">
              <a:lnSpc>
                <a:spcPct val="100000"/>
              </a:lnSpc>
              <a:spcBef>
                <a:spcPts val="0"/>
              </a:spcBef>
              <a:spcAft>
                <a:spcPts val="0"/>
              </a:spcAft>
              <a:buClrTx/>
              <a:buSzTx/>
              <a:buFontTx/>
              <a:buNone/>
              <a:tabLst/>
              <a:defRPr/>
            </a:pPr>
            <a:fld id="{76119A0F-C108-4483-8B5D-E6525B2B4331}" type="slidenum">
              <a:rPr kumimoji="0" lang="nl-NL" altLang="nl-NL"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0750" rtl="0" eaLnBrk="1" fontAlgn="auto" latinLnBrk="0" hangingPunct="1">
                <a:lnSpc>
                  <a:spcPct val="100000"/>
                </a:lnSpc>
                <a:spcBef>
                  <a:spcPts val="0"/>
                </a:spcBef>
                <a:spcAft>
                  <a:spcPts val="0"/>
                </a:spcAft>
                <a:buClrTx/>
                <a:buSzTx/>
                <a:buFontTx/>
                <a:buNone/>
                <a:tabLst/>
                <a:defRPr/>
              </a:pPr>
              <a:t>8</a:t>
            </a:fld>
            <a:endParaRPr kumimoji="0" lang="en-GB" altLang="nl-NL" sz="1200" b="0" i="0" u="none" strike="noStrike" kern="1200" cap="none" spc="0" normalizeH="0" baseline="0" noProof="0" dirty="0">
              <a:ln>
                <a:noFill/>
              </a:ln>
              <a:solidFill>
                <a:prstClr val="black"/>
              </a:solidFill>
              <a:effectLst/>
              <a:uLnTx/>
              <a:uFillTx/>
              <a:latin typeface="Times New Roman" pitchFamily="18" charset="0"/>
              <a:ea typeface="+mn-ea"/>
              <a:cs typeface="+mn-cs"/>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r>
              <a:rPr lang="nl-NL" altLang="nl-NL" dirty="0"/>
              <a:t>We don't transpose the capitals from the title of the article. Just make a proper sentence. An </a:t>
            </a:r>
            <a:r>
              <a:rPr lang="nl-NL" altLang="nl-NL" dirty="0" err="1"/>
              <a:t>exceptio</a:t>
            </a:r>
            <a:r>
              <a:rPr lang="nl-NL" altLang="nl-NL" baseline="0" dirty="0" err="1"/>
              <a:t>n</a:t>
            </a:r>
            <a:r>
              <a:rPr lang="nl-NL" altLang="nl-NL" baseline="0" dirty="0"/>
              <a:t> is the </a:t>
            </a:r>
            <a:r>
              <a:rPr lang="nl-NL" altLang="nl-NL" dirty="0" err="1"/>
              <a:t>use</a:t>
            </a:r>
            <a:r>
              <a:rPr lang="nl-NL" altLang="nl-NL" dirty="0"/>
              <a:t> of a capital following a colon. </a:t>
            </a:r>
          </a:p>
        </p:txBody>
      </p:sp>
    </p:spTree>
    <p:extLst>
      <p:ext uri="{BB962C8B-B14F-4D97-AF65-F5344CB8AC3E}">
        <p14:creationId xmlns:p14="http://schemas.microsoft.com/office/powerpoint/2010/main" val="660542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lvl1pPr defTabSz="920750" eaLnBrk="0" hangingPunct="0">
              <a:defRPr sz="4800" b="1" i="1">
                <a:solidFill>
                  <a:srgbClr val="FFD200"/>
                </a:solidFill>
                <a:latin typeface="Times New Roman" pitchFamily="18" charset="0"/>
              </a:defRPr>
            </a:lvl1pPr>
            <a:lvl2pPr marL="742950" indent="-285750" defTabSz="920750" eaLnBrk="0" hangingPunct="0">
              <a:defRPr sz="4800" b="1" i="1">
                <a:solidFill>
                  <a:srgbClr val="FFD200"/>
                </a:solidFill>
                <a:latin typeface="Times New Roman" pitchFamily="18" charset="0"/>
              </a:defRPr>
            </a:lvl2pPr>
            <a:lvl3pPr marL="1143000" indent="-228600" defTabSz="920750" eaLnBrk="0" hangingPunct="0">
              <a:defRPr sz="4800" b="1" i="1">
                <a:solidFill>
                  <a:srgbClr val="FFD200"/>
                </a:solidFill>
                <a:latin typeface="Times New Roman" pitchFamily="18" charset="0"/>
              </a:defRPr>
            </a:lvl3pPr>
            <a:lvl4pPr marL="1600200" indent="-228600" defTabSz="920750" eaLnBrk="0" hangingPunct="0">
              <a:defRPr sz="4800" b="1" i="1">
                <a:solidFill>
                  <a:srgbClr val="FFD200"/>
                </a:solidFill>
                <a:latin typeface="Times New Roman" pitchFamily="18" charset="0"/>
              </a:defRPr>
            </a:lvl4pPr>
            <a:lvl5pPr marL="2057400" indent="-228600" defTabSz="920750" eaLnBrk="0" hangingPunct="0">
              <a:defRPr sz="4800" b="1" i="1">
                <a:solidFill>
                  <a:srgbClr val="FFD200"/>
                </a:solidFill>
                <a:latin typeface="Times New Roman" pitchFamily="18" charset="0"/>
              </a:defRPr>
            </a:lvl5pPr>
            <a:lvl6pPr marL="2514600" indent="-228600" defTabSz="920750" eaLnBrk="0" fontAlgn="base" hangingPunct="0">
              <a:spcBef>
                <a:spcPct val="0"/>
              </a:spcBef>
              <a:spcAft>
                <a:spcPct val="0"/>
              </a:spcAft>
              <a:defRPr sz="4800" b="1" i="1">
                <a:solidFill>
                  <a:srgbClr val="FFD200"/>
                </a:solidFill>
                <a:latin typeface="Times New Roman" pitchFamily="18" charset="0"/>
              </a:defRPr>
            </a:lvl6pPr>
            <a:lvl7pPr marL="2971800" indent="-228600" defTabSz="920750" eaLnBrk="0" fontAlgn="base" hangingPunct="0">
              <a:spcBef>
                <a:spcPct val="0"/>
              </a:spcBef>
              <a:spcAft>
                <a:spcPct val="0"/>
              </a:spcAft>
              <a:defRPr sz="4800" b="1" i="1">
                <a:solidFill>
                  <a:srgbClr val="FFD200"/>
                </a:solidFill>
                <a:latin typeface="Times New Roman" pitchFamily="18" charset="0"/>
              </a:defRPr>
            </a:lvl7pPr>
            <a:lvl8pPr marL="3429000" indent="-228600" defTabSz="920750" eaLnBrk="0" fontAlgn="base" hangingPunct="0">
              <a:spcBef>
                <a:spcPct val="0"/>
              </a:spcBef>
              <a:spcAft>
                <a:spcPct val="0"/>
              </a:spcAft>
              <a:defRPr sz="4800" b="1" i="1">
                <a:solidFill>
                  <a:srgbClr val="FFD200"/>
                </a:solidFill>
                <a:latin typeface="Times New Roman" pitchFamily="18" charset="0"/>
              </a:defRPr>
            </a:lvl8pPr>
            <a:lvl9pPr marL="3886200" indent="-228600" defTabSz="920750" eaLnBrk="0" fontAlgn="base" hangingPunct="0">
              <a:spcBef>
                <a:spcPct val="0"/>
              </a:spcBef>
              <a:spcAft>
                <a:spcPct val="0"/>
              </a:spcAft>
              <a:defRPr sz="4800" b="1" i="1">
                <a:solidFill>
                  <a:srgbClr val="FFD200"/>
                </a:solidFill>
                <a:latin typeface="Times New Roman" pitchFamily="18" charset="0"/>
              </a:defRPr>
            </a:lvl9pPr>
          </a:lstStyle>
          <a:p>
            <a:pPr marL="0" marR="0" lvl="0" indent="0" algn="r" defTabSz="920750" rtl="0" eaLnBrk="1" fontAlgn="auto" latinLnBrk="0" hangingPunct="1">
              <a:lnSpc>
                <a:spcPct val="100000"/>
              </a:lnSpc>
              <a:spcBef>
                <a:spcPts val="0"/>
              </a:spcBef>
              <a:spcAft>
                <a:spcPts val="0"/>
              </a:spcAft>
              <a:buClrTx/>
              <a:buSzTx/>
              <a:buFontTx/>
              <a:buNone/>
              <a:tabLst/>
              <a:defRPr/>
            </a:pPr>
            <a:fld id="{805CA8BD-533D-40A2-B9A6-89796400E588}" type="slidenum">
              <a:rPr kumimoji="0" lang="nl-NL" altLang="nl-NL" sz="1200" b="0"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20750" rtl="0" eaLnBrk="1" fontAlgn="auto" latinLnBrk="0" hangingPunct="1">
                <a:lnSpc>
                  <a:spcPct val="100000"/>
                </a:lnSpc>
                <a:spcBef>
                  <a:spcPts val="0"/>
                </a:spcBef>
                <a:spcAft>
                  <a:spcPts val="0"/>
                </a:spcAft>
                <a:buClrTx/>
                <a:buSzTx/>
                <a:buFontTx/>
                <a:buNone/>
                <a:tabLst/>
                <a:defRPr/>
              </a:pPr>
              <a:t>9</a:t>
            </a:fld>
            <a:endParaRPr kumimoji="0" lang="en-GB" altLang="nl-NL" sz="1200" b="0" i="0" u="none" strike="noStrike" kern="1200" cap="none" spc="0" normalizeH="0" baseline="0" noProof="0" dirty="0">
              <a:ln>
                <a:noFill/>
              </a:ln>
              <a:solidFill>
                <a:prstClr val="black"/>
              </a:solidFill>
              <a:effectLst/>
              <a:uLnTx/>
              <a:uFillTx/>
              <a:latin typeface="Times New Roman" pitchFamily="18" charset="0"/>
              <a:ea typeface="+mn-ea"/>
              <a:cs typeface="+mn-cs"/>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p:spPr>
        <p:txBody>
          <a:bodyPr/>
          <a:lstStyle/>
          <a:p>
            <a:pPr eaLnBrk="1" hangingPunct="1"/>
            <a:r>
              <a:rPr lang="nl-NL" altLang="nl-NL" dirty="0"/>
              <a:t>Capitals from the title of the journal, however, are transposed, as you would with a person's name.</a:t>
            </a:r>
          </a:p>
        </p:txBody>
      </p:sp>
    </p:spTree>
    <p:extLst>
      <p:ext uri="{BB962C8B-B14F-4D97-AF65-F5344CB8AC3E}">
        <p14:creationId xmlns:p14="http://schemas.microsoft.com/office/powerpoint/2010/main" val="3083512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14B93A-25CB-4834-8347-8E448F1E0F06}" type="slidenum">
              <a:rPr lang="en-GB" smtClean="0"/>
              <a:t>10</a:t>
            </a:fld>
            <a:endParaRPr lang="en-GB"/>
          </a:p>
        </p:txBody>
      </p:sp>
    </p:spTree>
    <p:extLst>
      <p:ext uri="{BB962C8B-B14F-4D97-AF65-F5344CB8AC3E}">
        <p14:creationId xmlns:p14="http://schemas.microsoft.com/office/powerpoint/2010/main" val="2970707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814B93A-25CB-4834-8347-8E448F1E0F06}" type="slidenum">
              <a:rPr lang="en-GB" smtClean="0"/>
              <a:t>11</a:t>
            </a:fld>
            <a:endParaRPr lang="en-GB"/>
          </a:p>
        </p:txBody>
      </p:sp>
    </p:spTree>
    <p:extLst>
      <p:ext uri="{BB962C8B-B14F-4D97-AF65-F5344CB8AC3E}">
        <p14:creationId xmlns:p14="http://schemas.microsoft.com/office/powerpoint/2010/main" val="32926589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1763795"/>
            <a:ext cx="7921367" cy="1968000"/>
          </a:xfrm>
        </p:spPr>
        <p:txBody>
          <a:bodyPr/>
          <a:lstStyle>
            <a:lvl1pPr>
              <a:lnSpc>
                <a:spcPts val="7466"/>
              </a:lnSpc>
              <a:defRPr sz="8533" baseline="0">
                <a:solidFill>
                  <a:schemeClr val="bg1"/>
                </a:solidFill>
              </a:defRPr>
            </a:lvl1pPr>
          </a:lstStyle>
          <a:p>
            <a:r>
              <a:rPr lang="nl-NL" dirty="0"/>
              <a:t>Titel </a:t>
            </a:r>
            <a:br>
              <a:rPr lang="nl-NL" dirty="0"/>
            </a:br>
            <a:r>
              <a:rPr lang="nl-NL" dirty="0"/>
              <a:t>bewerken</a:t>
            </a:r>
          </a:p>
        </p:txBody>
      </p:sp>
      <p:sp>
        <p:nvSpPr>
          <p:cNvPr id="3" name="Subtitel 2"/>
          <p:cNvSpPr>
            <a:spLocks noGrp="1"/>
          </p:cNvSpPr>
          <p:nvPr>
            <p:ph type="subTitle" idx="1" hasCustomPrompt="1"/>
          </p:nvPr>
        </p:nvSpPr>
        <p:spPr>
          <a:xfrm>
            <a:off x="655369" y="3731795"/>
            <a:ext cx="7921367" cy="108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Subtitel bewerken</a:t>
            </a:r>
          </a:p>
        </p:txBody>
      </p:sp>
    </p:spTree>
    <p:extLst>
      <p:ext uri="{BB962C8B-B14F-4D97-AF65-F5344CB8AC3E}">
        <p14:creationId xmlns:p14="http://schemas.microsoft.com/office/powerpoint/2010/main" val="386056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528000"/>
            <a:ext cx="6498967" cy="1968000"/>
          </a:xfrm>
        </p:spPr>
        <p:txBody>
          <a:bodyPr/>
          <a:lstStyle>
            <a:lvl1pPr>
              <a:lnSpc>
                <a:spcPts val="7466"/>
              </a:lnSpc>
              <a:defRPr sz="8533" baseline="0">
                <a:solidFill>
                  <a:schemeClr val="bg1"/>
                </a:solidFill>
              </a:defRPr>
            </a:lvl1pPr>
          </a:lstStyle>
          <a:p>
            <a:r>
              <a:rPr lang="nl-NL" dirty="0"/>
              <a:t>Titel  bewerken</a:t>
            </a:r>
          </a:p>
        </p:txBody>
      </p:sp>
      <p:sp>
        <p:nvSpPr>
          <p:cNvPr id="3" name="Subtitel 2"/>
          <p:cNvSpPr>
            <a:spLocks noGrp="1"/>
          </p:cNvSpPr>
          <p:nvPr>
            <p:ph type="subTitle" idx="1" hasCustomPrompt="1"/>
          </p:nvPr>
        </p:nvSpPr>
        <p:spPr>
          <a:xfrm>
            <a:off x="655369" y="2496000"/>
            <a:ext cx="6498967" cy="144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Plaats een foto en zet die op de </a:t>
            </a:r>
            <a:br>
              <a:rPr lang="nl-NL" dirty="0"/>
            </a:br>
            <a:r>
              <a:rPr lang="nl-NL" dirty="0"/>
              <a:t>achtergrond met rechtermuisknop</a:t>
            </a:r>
            <a:br>
              <a:rPr lang="nl-NL" dirty="0"/>
            </a:br>
            <a:r>
              <a:rPr lang="nl-NL" dirty="0"/>
              <a:t>&gt; </a:t>
            </a:r>
            <a:r>
              <a:rPr lang="nl-NL" dirty="0" err="1"/>
              <a:t>send</a:t>
            </a:r>
            <a:r>
              <a:rPr lang="nl-NL" dirty="0"/>
              <a:t> to back</a:t>
            </a:r>
          </a:p>
        </p:txBody>
      </p:sp>
    </p:spTree>
    <p:extLst>
      <p:ext uri="{BB962C8B-B14F-4D97-AF65-F5344CB8AC3E}">
        <p14:creationId xmlns:p14="http://schemas.microsoft.com/office/powerpoint/2010/main" val="264245333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7" y="528000"/>
            <a:ext cx="10896000" cy="768000"/>
          </a:xfrm>
        </p:spPr>
        <p:txBody>
          <a:bodyPr/>
          <a:lstStyle>
            <a:lvl1pPr>
              <a:defRPr>
                <a:solidFill>
                  <a:srgbClr val="FF9E00"/>
                </a:solidFill>
              </a:defRPr>
            </a:lvl1pPr>
          </a:lstStyle>
          <a:p>
            <a:r>
              <a:rPr lang="nl-NL" dirty="0"/>
              <a:t>Titel bewerken</a:t>
            </a:r>
            <a:br>
              <a:rPr lang="nl-NL" dirty="0"/>
            </a:br>
            <a:endParaRPr lang="nl-NL" dirty="0"/>
          </a:p>
        </p:txBody>
      </p:sp>
      <p:sp>
        <p:nvSpPr>
          <p:cNvPr id="3" name="Tijdelijke aanduiding voor inhoud 2"/>
          <p:cNvSpPr>
            <a:spLocks noGrp="1"/>
          </p:cNvSpPr>
          <p:nvPr>
            <p:ph idx="1" hasCustomPrompt="1"/>
          </p:nvPr>
        </p:nvSpPr>
        <p:spPr/>
        <p:txBody>
          <a:bodyPr/>
          <a:lstStyle>
            <a:lvl1pPr>
              <a:defRPr baseline="0"/>
            </a:lvl1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22-5-2022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61331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22-5-2022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438322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ee object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sz="half" idx="1" hasCustomPrompt="1"/>
          </p:nvPr>
        </p:nvSpPr>
        <p:spPr>
          <a:xfrm>
            <a:off x="657600" y="1296000"/>
            <a:ext cx="5352000"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inhoud 3"/>
          <p:cNvSpPr>
            <a:spLocks noGrp="1"/>
          </p:cNvSpPr>
          <p:nvPr>
            <p:ph sz="half" idx="2" hasCustomPrompt="1"/>
          </p:nvPr>
        </p:nvSpPr>
        <p:spPr>
          <a:xfrm>
            <a:off x="6197602" y="1295999"/>
            <a:ext cx="5353767"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22-5-2022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a:xfrm>
            <a:off x="655367" y="6217571"/>
            <a:ext cx="432000" cy="240380"/>
          </a:xfrm>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49136024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tekst 4"/>
          <p:cNvSpPr>
            <a:spLocks noGrp="1"/>
          </p:cNvSpPr>
          <p:nvPr>
            <p:ph type="body" sz="quarter" idx="3" hasCustomPrompt="1"/>
          </p:nvPr>
        </p:nvSpPr>
        <p:spPr>
          <a:xfrm>
            <a:off x="6193368" y="1296000"/>
            <a:ext cx="5352000"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6" name="Tijdelijke aanduiding voor inhoud 5"/>
          <p:cNvSpPr>
            <a:spLocks noGrp="1"/>
          </p:cNvSpPr>
          <p:nvPr>
            <p:ph sz="quarter" idx="4" hasCustomPrompt="1"/>
          </p:nvPr>
        </p:nvSpPr>
        <p:spPr>
          <a:xfrm>
            <a:off x="6193367" y="1728000"/>
            <a:ext cx="53520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22-5-2022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826345230"/>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en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22-5-2022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508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59390952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en 2 afbeelding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5365" y="1296000"/>
            <a:ext cx="5332800" cy="432000"/>
          </a:xfrm>
        </p:spPr>
        <p:txBody>
          <a:bodyPr anchor="t" anchorCtr="0"/>
          <a:lstStyle>
            <a:lvl1pPr marL="0" indent="0">
              <a:buNone/>
              <a:defRPr sz="2400" b="0" i="0">
                <a:solidFill>
                  <a:schemeClr val="tx1"/>
                </a:solidFill>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22-5-2022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244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a:p>
            <a:endParaRPr lang="nl-NL"/>
          </a:p>
        </p:txBody>
      </p:sp>
      <p:sp>
        <p:nvSpPr>
          <p:cNvPr id="11" name="Tijdelijke aanduiding voor afbeelding 2"/>
          <p:cNvSpPr>
            <a:spLocks noGrp="1"/>
          </p:cNvSpPr>
          <p:nvPr>
            <p:ph type="pic" idx="14" hasCustomPrompt="1"/>
          </p:nvPr>
        </p:nvSpPr>
        <p:spPr>
          <a:xfrm>
            <a:off x="6191999" y="3168000"/>
            <a:ext cx="5352000" cy="2448000"/>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132438235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22-5-2022</a:t>
            </a:fld>
            <a:endParaRPr lang="nl-NL"/>
          </a:p>
        </p:txBody>
      </p:sp>
      <p:sp>
        <p:nvSpPr>
          <p:cNvPr id="4" name="Tijdelijke aanduiding voor voettekst 3"/>
          <p:cNvSpPr>
            <a:spLocks noGrp="1"/>
          </p:cNvSpPr>
          <p:nvPr>
            <p:ph type="ftr" sz="quarter" idx="11"/>
          </p:nvPr>
        </p:nvSpPr>
        <p:spPr/>
        <p:txBody>
          <a:bodyPr/>
          <a:lstStyle>
            <a:lvl1pPr>
              <a:defRPr>
                <a:solidFill>
                  <a:schemeClr val="accent5"/>
                </a:solidFill>
              </a:defRPr>
            </a:lvl1pPr>
          </a:lstStyle>
          <a:p>
            <a:endParaRPr lang="nl-NL"/>
          </a:p>
        </p:txBody>
      </p:sp>
      <p:sp>
        <p:nvSpPr>
          <p:cNvPr id="5" name="Tijdelijke aanduiding voor dianummer 4"/>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034809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22-5-2022</a:t>
            </a:fld>
            <a:endParaRPr lang="nl-NL"/>
          </a:p>
        </p:txBody>
      </p:sp>
      <p:sp>
        <p:nvSpPr>
          <p:cNvPr id="3" name="Tijdelijke aanduiding voor voettekst 2"/>
          <p:cNvSpPr>
            <a:spLocks noGrp="1"/>
          </p:cNvSpPr>
          <p:nvPr>
            <p:ph type="ftr" sz="quarter" idx="11"/>
          </p:nvPr>
        </p:nvSpPr>
        <p:spPr/>
        <p:txBody>
          <a:bodyPr/>
          <a:lstStyle>
            <a:lvl1pPr>
              <a:defRPr>
                <a:solidFill>
                  <a:schemeClr val="accent5"/>
                </a:solidFill>
              </a:defRPr>
            </a:lvl1pPr>
          </a:lstStyle>
          <a:p>
            <a:endParaRPr lang="nl-NL"/>
          </a:p>
        </p:txBody>
      </p:sp>
      <p:sp>
        <p:nvSpPr>
          <p:cNvPr id="4" name="Tijdelijke aanduiding voor dianummer 3"/>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8891872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beelding met bijschrift">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655367" y="1056001"/>
            <a:ext cx="10896000" cy="4558151"/>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
        <p:nvSpPr>
          <p:cNvPr id="2" name="Titel 1"/>
          <p:cNvSpPr>
            <a:spLocks noGrp="1"/>
          </p:cNvSpPr>
          <p:nvPr>
            <p:ph type="title" hasCustomPrompt="1"/>
          </p:nvPr>
        </p:nvSpPr>
        <p:spPr>
          <a:xfrm>
            <a:off x="655367" y="528000"/>
            <a:ext cx="10896000" cy="528000"/>
          </a:xfrm>
        </p:spPr>
        <p:txBody>
          <a:bodyPr anchor="t" anchorCtr="0"/>
          <a:lstStyle>
            <a:lvl1pPr algn="l">
              <a:lnSpc>
                <a:spcPts val="3333"/>
              </a:lnSpc>
              <a:defRPr sz="2667" b="1">
                <a:solidFill>
                  <a:schemeClr val="tx1"/>
                </a:solidFill>
                <a:latin typeface="+mj-lt"/>
              </a:defRPr>
            </a:lvl1pPr>
          </a:lstStyle>
          <a:p>
            <a:r>
              <a:rPr lang="nl-NL" dirty="0"/>
              <a:t>Titel bewerken</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22-5-2022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82898555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9744000" y="5731201"/>
            <a:ext cx="1910144" cy="768121"/>
          </a:xfrm>
          <a:prstGeom prst="rect">
            <a:avLst/>
          </a:prstGeom>
        </p:spPr>
      </p:pic>
      <p:sp>
        <p:nvSpPr>
          <p:cNvPr id="2" name="Tijdelijke aanduiding voor titel 1"/>
          <p:cNvSpPr>
            <a:spLocks noGrp="1"/>
          </p:cNvSpPr>
          <p:nvPr>
            <p:ph type="title"/>
          </p:nvPr>
        </p:nvSpPr>
        <p:spPr>
          <a:xfrm>
            <a:off x="655367" y="528000"/>
            <a:ext cx="10896000" cy="768000"/>
          </a:xfrm>
          <a:prstGeom prst="rect">
            <a:avLst/>
          </a:prstGeom>
        </p:spPr>
        <p:txBody>
          <a:bodyPr vert="horz" lIns="0" tIns="0" rIns="0" bIns="0" rtlCol="0" anchor="t" anchorCtr="0">
            <a:noAutofit/>
          </a:bodyPr>
          <a:lstStyle/>
          <a:p>
            <a:r>
              <a:rPr lang="nl-NL" dirty="0"/>
              <a:t>Titel bewerken</a:t>
            </a:r>
          </a:p>
        </p:txBody>
      </p:sp>
      <p:sp>
        <p:nvSpPr>
          <p:cNvPr id="3" name="Tijdelijke aanduiding voor tekst 2"/>
          <p:cNvSpPr>
            <a:spLocks noGrp="1"/>
          </p:cNvSpPr>
          <p:nvPr>
            <p:ph type="body" idx="1"/>
          </p:nvPr>
        </p:nvSpPr>
        <p:spPr>
          <a:xfrm>
            <a:off x="655365" y="1295401"/>
            <a:ext cx="10896000" cy="4464000"/>
          </a:xfrm>
          <a:prstGeom prst="rect">
            <a:avLst/>
          </a:prstGeom>
        </p:spPr>
        <p:txBody>
          <a:bodyPr vert="horz" lIns="0" tIns="0" rIns="0" bIns="0" rtlCol="0" anchor="t" anchorCtr="0">
            <a:noAutofit/>
          </a:body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2"/>
          </p:nvPr>
        </p:nvSpPr>
        <p:spPr>
          <a:xfrm>
            <a:off x="1089600" y="6217571"/>
            <a:ext cx="1008000" cy="240380"/>
          </a:xfrm>
          <a:prstGeom prst="rect">
            <a:avLst/>
          </a:prstGeom>
        </p:spPr>
        <p:txBody>
          <a:bodyPr vert="horz" lIns="0" tIns="0" rIns="0" bIns="0" rtlCol="0" anchor="t" anchorCtr="0">
            <a:noAutofit/>
          </a:bodyPr>
          <a:lstStyle>
            <a:lvl1pPr algn="l">
              <a:defRPr sz="1333">
                <a:solidFill>
                  <a:schemeClr val="tx1"/>
                </a:solidFill>
                <a:latin typeface="Museo Sans 100"/>
                <a:cs typeface="Museo Sans 100"/>
              </a:defRPr>
            </a:lvl1pPr>
          </a:lstStyle>
          <a:p>
            <a:fld id="{F10973AC-957D-C346-BA56-D82065FA2AEB}" type="datetimeFigureOut">
              <a:rPr lang="nl-NL" smtClean="0"/>
              <a:pPr/>
              <a:t>22-5-2022</a:t>
            </a:fld>
            <a:endParaRPr lang="nl-NL"/>
          </a:p>
        </p:txBody>
      </p:sp>
      <p:sp>
        <p:nvSpPr>
          <p:cNvPr id="5" name="Tijdelijke aanduiding voor voettekst 4"/>
          <p:cNvSpPr>
            <a:spLocks noGrp="1"/>
          </p:cNvSpPr>
          <p:nvPr>
            <p:ph type="ftr" sz="quarter" idx="3"/>
          </p:nvPr>
        </p:nvSpPr>
        <p:spPr>
          <a:xfrm>
            <a:off x="2097600" y="6217571"/>
            <a:ext cx="6803893"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endParaRPr lang="nl-NL"/>
          </a:p>
        </p:txBody>
      </p:sp>
      <p:sp>
        <p:nvSpPr>
          <p:cNvPr id="6" name="Tijdelijke aanduiding voor dianummer 5"/>
          <p:cNvSpPr>
            <a:spLocks noGrp="1"/>
          </p:cNvSpPr>
          <p:nvPr>
            <p:ph type="sldNum" sz="quarter" idx="4"/>
          </p:nvPr>
        </p:nvSpPr>
        <p:spPr>
          <a:xfrm>
            <a:off x="655367" y="6217571"/>
            <a:ext cx="432000"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161055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09585" rtl="0" eaLnBrk="1" latinLnBrk="0" hangingPunct="1">
        <a:lnSpc>
          <a:spcPts val="4267"/>
        </a:lnSpc>
        <a:spcBef>
          <a:spcPct val="0"/>
        </a:spcBef>
        <a:buNone/>
        <a:defRPr sz="3733" b="0" i="0" kern="1200">
          <a:solidFill>
            <a:schemeClr val="accent5"/>
          </a:solidFill>
          <a:latin typeface="+mj-lt"/>
          <a:ea typeface="+mj-ea"/>
          <a:cs typeface="Museo Sans 700"/>
        </a:defRPr>
      </a:lvl1pPr>
    </p:titleStyle>
    <p:bodyStyle>
      <a:lvl1pPr marL="287993"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libguides.csudh.edu/citation/apa-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libguides.csudh.edu/citation/apa-7"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sz="5867" dirty="0"/>
              <a:t>APA-</a:t>
            </a:r>
            <a:r>
              <a:rPr lang="nl-NL" sz="5867" dirty="0" err="1"/>
              <a:t>Guidelines</a:t>
            </a:r>
            <a:endParaRPr lang="nl-NL" sz="5867" dirty="0"/>
          </a:p>
        </p:txBody>
      </p:sp>
      <p:sp>
        <p:nvSpPr>
          <p:cNvPr id="3" name="Subtitel 2"/>
          <p:cNvSpPr>
            <a:spLocks noGrp="1"/>
          </p:cNvSpPr>
          <p:nvPr>
            <p:ph type="subTitle" idx="1"/>
          </p:nvPr>
        </p:nvSpPr>
        <p:spPr>
          <a:xfrm>
            <a:off x="655369" y="3731795"/>
            <a:ext cx="7921367" cy="1818773"/>
          </a:xfrm>
        </p:spPr>
        <p:txBody>
          <a:bodyPr/>
          <a:lstStyle/>
          <a:p>
            <a:endParaRPr lang="nl-NL" sz="3733" dirty="0">
              <a:solidFill>
                <a:schemeClr val="accent6">
                  <a:lumMod val="60000"/>
                  <a:lumOff val="40000"/>
                </a:schemeClr>
              </a:solidFill>
            </a:endParaRPr>
          </a:p>
          <a:p>
            <a:endParaRPr lang="nl-NL" sz="3733" dirty="0">
              <a:solidFill>
                <a:schemeClr val="accent6">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a:t>APA-GUIDELINES</a:t>
            </a:r>
            <a:r>
              <a:rPr lang="en-GB" dirty="0"/>
              <a:t> </a:t>
            </a:r>
          </a:p>
        </p:txBody>
      </p:sp>
      <p:pic>
        <p:nvPicPr>
          <p:cNvPr id="2" name="Content Placeholder 1">
            <a:extLst>
              <a:ext uri="{FF2B5EF4-FFF2-40B4-BE49-F238E27FC236}">
                <a16:creationId xmlns:a16="http://schemas.microsoft.com/office/drawing/2014/main" id="{350D55A7-E940-4888-937A-72AC1449413F}"/>
              </a:ext>
            </a:extLst>
          </p:cNvPr>
          <p:cNvPicPr>
            <a:picLocks noGrp="1" noChangeAspect="1"/>
          </p:cNvPicPr>
          <p:nvPr>
            <p:ph idx="1"/>
          </p:nvPr>
        </p:nvPicPr>
        <p:blipFill>
          <a:blip r:embed="rId3"/>
          <a:stretch>
            <a:fillRect/>
          </a:stretch>
        </p:blipFill>
        <p:spPr>
          <a:xfrm>
            <a:off x="720915" y="1196975"/>
            <a:ext cx="3081847" cy="4464051"/>
          </a:xfrm>
          <a:prstGeom prst="rect">
            <a:avLst/>
          </a:prstGeom>
        </p:spPr>
      </p:pic>
      <p:sp>
        <p:nvSpPr>
          <p:cNvPr id="4" name="TextBox 3">
            <a:extLst>
              <a:ext uri="{FF2B5EF4-FFF2-40B4-BE49-F238E27FC236}">
                <a16:creationId xmlns:a16="http://schemas.microsoft.com/office/drawing/2014/main" id="{9BC7F953-E5A8-4785-888F-504E3DDB8783}"/>
              </a:ext>
            </a:extLst>
          </p:cNvPr>
          <p:cNvSpPr txBox="1"/>
          <p:nvPr/>
        </p:nvSpPr>
        <p:spPr>
          <a:xfrm>
            <a:off x="4347268" y="1552754"/>
            <a:ext cx="7204099" cy="2677656"/>
          </a:xfrm>
          <a:prstGeom prst="rect">
            <a:avLst/>
          </a:prstGeom>
          <a:noFill/>
        </p:spPr>
        <p:txBody>
          <a:bodyPr wrap="square" rtlCol="0">
            <a:spAutoFit/>
          </a:bodyPr>
          <a:lstStyle/>
          <a:p>
            <a:r>
              <a:rPr lang="en-US" sz="2800" dirty="0"/>
              <a:t>Compact manual on formatting your paper and citing sources according to APA-7 referencing available via:</a:t>
            </a:r>
          </a:p>
          <a:p>
            <a:endParaRPr lang="en-US" sz="2800" dirty="0"/>
          </a:p>
          <a:p>
            <a:r>
              <a:rPr lang="en-US" sz="2800" dirty="0">
                <a:hlinkClick r:id="rId4"/>
              </a:rPr>
              <a:t>https://libguides.csudh.edu/citation/apa-7</a:t>
            </a:r>
            <a:r>
              <a:rPr lang="en-US" sz="2800" dirty="0"/>
              <a:t> </a:t>
            </a:r>
          </a:p>
          <a:p>
            <a:endParaRPr lang="en-GB" sz="2800" dirty="0"/>
          </a:p>
        </p:txBody>
      </p:sp>
    </p:spTree>
    <p:extLst>
      <p:ext uri="{BB962C8B-B14F-4D97-AF65-F5344CB8AC3E}">
        <p14:creationId xmlns:p14="http://schemas.microsoft.com/office/powerpoint/2010/main" val="394721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5F3C3-BA00-41E5-9C29-559CE682CA2C}"/>
              </a:ext>
            </a:extLst>
          </p:cNvPr>
          <p:cNvSpPr>
            <a:spLocks noGrp="1"/>
          </p:cNvSpPr>
          <p:nvPr>
            <p:ph type="title"/>
          </p:nvPr>
        </p:nvSpPr>
        <p:spPr/>
        <p:txBody>
          <a:bodyPr/>
          <a:lstStyle/>
          <a:p>
            <a:r>
              <a:rPr lang="en-US" dirty="0"/>
              <a:t>APPLYING APA-GUIDELINES</a:t>
            </a:r>
            <a:r>
              <a:rPr lang="en-GB" dirty="0"/>
              <a:t> </a:t>
            </a:r>
            <a:br>
              <a:rPr lang="en-GB" dirty="0"/>
            </a:br>
            <a:r>
              <a:rPr lang="en-GB" dirty="0"/>
              <a:t>Assessment criteria Rubric </a:t>
            </a:r>
          </a:p>
        </p:txBody>
      </p:sp>
      <p:sp>
        <p:nvSpPr>
          <p:cNvPr id="3" name="Content Placeholder 2">
            <a:extLst>
              <a:ext uri="{FF2B5EF4-FFF2-40B4-BE49-F238E27FC236}">
                <a16:creationId xmlns:a16="http://schemas.microsoft.com/office/drawing/2014/main" id="{AEBBD250-5E71-42D1-92B4-80BCA81FA1BB}"/>
              </a:ext>
            </a:extLst>
          </p:cNvPr>
          <p:cNvSpPr>
            <a:spLocks noGrp="1"/>
          </p:cNvSpPr>
          <p:nvPr>
            <p:ph idx="1"/>
          </p:nvPr>
        </p:nvSpPr>
        <p:spPr/>
        <p:txBody>
          <a:bodyPr/>
          <a:lstStyle/>
          <a:p>
            <a:endParaRPr lang="en-GB" dirty="0"/>
          </a:p>
          <a:p>
            <a:r>
              <a:rPr lang="en-GB" dirty="0"/>
              <a:t>References in the text:</a:t>
            </a:r>
          </a:p>
          <a:p>
            <a:pPr lvl="1"/>
            <a:r>
              <a:rPr lang="en-GB" dirty="0"/>
              <a:t>have the correct notation (APA-7)</a:t>
            </a:r>
          </a:p>
          <a:p>
            <a:pPr lvl="1"/>
            <a:r>
              <a:rPr lang="en-GB" dirty="0"/>
              <a:t>are in the right place (clear where the information comes from)</a:t>
            </a:r>
          </a:p>
          <a:p>
            <a:r>
              <a:rPr lang="en-GB" dirty="0"/>
              <a:t>References in the reference list:</a:t>
            </a:r>
          </a:p>
          <a:p>
            <a:pPr lvl="1"/>
            <a:r>
              <a:rPr lang="en-GB" dirty="0"/>
              <a:t>have the correct nation (APA-7)</a:t>
            </a:r>
          </a:p>
          <a:p>
            <a:pPr lvl="1"/>
            <a:r>
              <a:rPr lang="en-GB" dirty="0"/>
              <a:t>are listed in the correct order</a:t>
            </a:r>
          </a:p>
          <a:p>
            <a:r>
              <a:rPr lang="en-GB" dirty="0"/>
              <a:t>The text does not contain references that are not included in the reference list or vice versa</a:t>
            </a:r>
          </a:p>
          <a:p>
            <a:r>
              <a:rPr lang="en-GB" dirty="0"/>
              <a:t>The text lay-out is conform to the APA-7 (student paper) style</a:t>
            </a:r>
          </a:p>
          <a:p>
            <a:endParaRPr lang="en-GB" dirty="0"/>
          </a:p>
        </p:txBody>
      </p:sp>
    </p:spTree>
    <p:extLst>
      <p:ext uri="{BB962C8B-B14F-4D97-AF65-F5344CB8AC3E}">
        <p14:creationId xmlns:p14="http://schemas.microsoft.com/office/powerpoint/2010/main" val="589276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Pitfalls </a:t>
            </a:r>
            <a:r>
              <a:rPr lang="en-US" dirty="0"/>
              <a:t>APA</a:t>
            </a:r>
            <a:endParaRPr lang="en-GB" dirty="0"/>
          </a:p>
        </p:txBody>
      </p:sp>
      <p:sp>
        <p:nvSpPr>
          <p:cNvPr id="2" name="Tijdelijke aanduiding voor inhoud 1"/>
          <p:cNvSpPr>
            <a:spLocks noGrp="1"/>
          </p:cNvSpPr>
          <p:nvPr>
            <p:ph idx="1"/>
          </p:nvPr>
        </p:nvSpPr>
        <p:spPr/>
        <p:txBody>
          <a:bodyPr/>
          <a:lstStyle/>
          <a:p>
            <a:pPr marL="452625" indent="-342900"/>
            <a:endParaRPr lang="en-GB" dirty="0"/>
          </a:p>
          <a:p>
            <a:r>
              <a:rPr lang="en-US" sz="2800" dirty="0"/>
              <a:t>Not correctly applying the APA rules (tiny errors in punctuation, case or otherwise)</a:t>
            </a:r>
          </a:p>
          <a:p>
            <a:r>
              <a:rPr lang="en-US" sz="2800" dirty="0"/>
              <a:t>How often and where to place a reference?</a:t>
            </a:r>
          </a:p>
          <a:p>
            <a:r>
              <a:rPr lang="en-US" sz="2800" dirty="0"/>
              <a:t>Text layout not according to APA-student paper style</a:t>
            </a:r>
          </a:p>
          <a:p>
            <a:pPr marL="0" indent="0">
              <a:buNone/>
            </a:pPr>
            <a:endParaRPr lang="en-GB" sz="2800" dirty="0"/>
          </a:p>
          <a:p>
            <a:pPr marL="0" indent="0">
              <a:buNone/>
            </a:pPr>
            <a:r>
              <a:rPr lang="en-US" sz="2800" dirty="0"/>
              <a:t>Overview of APA-rules:</a:t>
            </a:r>
          </a:p>
          <a:p>
            <a:pPr marL="0" indent="0">
              <a:buNone/>
            </a:pPr>
            <a:r>
              <a:rPr lang="en-US" sz="2800" dirty="0">
                <a:hlinkClick r:id="rId3"/>
              </a:rPr>
              <a:t>https://libguides.csudh.edu/citation/apa-7</a:t>
            </a:r>
            <a:r>
              <a:rPr lang="en-US" sz="2800" dirty="0"/>
              <a:t> </a:t>
            </a:r>
          </a:p>
          <a:p>
            <a:pPr marL="0" indent="0">
              <a:buNone/>
            </a:pPr>
            <a:endParaRPr lang="en-GB" sz="2800" dirty="0"/>
          </a:p>
        </p:txBody>
      </p:sp>
    </p:spTree>
    <p:extLst>
      <p:ext uri="{BB962C8B-B14F-4D97-AF65-F5344CB8AC3E}">
        <p14:creationId xmlns:p14="http://schemas.microsoft.com/office/powerpoint/2010/main" val="2477956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D49C-33DA-47D6-85C2-573E2E9FD7D4}"/>
              </a:ext>
            </a:extLst>
          </p:cNvPr>
          <p:cNvSpPr>
            <a:spLocks noGrp="1"/>
          </p:cNvSpPr>
          <p:nvPr>
            <p:ph type="title"/>
          </p:nvPr>
        </p:nvSpPr>
        <p:spPr/>
        <p:txBody>
          <a:bodyPr/>
          <a:lstStyle/>
          <a:p>
            <a:r>
              <a:rPr lang="nl-NL" dirty="0"/>
              <a:t>In-</a:t>
            </a:r>
            <a:r>
              <a:rPr lang="nl-NL" dirty="0" err="1"/>
              <a:t>text</a:t>
            </a:r>
            <a:r>
              <a:rPr lang="nl-NL" dirty="0"/>
              <a:t> </a:t>
            </a:r>
            <a:r>
              <a:rPr lang="nl-NL" dirty="0" err="1"/>
              <a:t>references</a:t>
            </a:r>
            <a:endParaRPr lang="nl-NL" dirty="0"/>
          </a:p>
        </p:txBody>
      </p:sp>
      <p:graphicFrame>
        <p:nvGraphicFramePr>
          <p:cNvPr id="4" name="Table 4">
            <a:extLst>
              <a:ext uri="{FF2B5EF4-FFF2-40B4-BE49-F238E27FC236}">
                <a16:creationId xmlns:a16="http://schemas.microsoft.com/office/drawing/2014/main" id="{322D1B64-DADF-4B8B-9577-B30EAF2AF9E6}"/>
              </a:ext>
            </a:extLst>
          </p:cNvPr>
          <p:cNvGraphicFramePr>
            <a:graphicFrameLocks noGrp="1"/>
          </p:cNvGraphicFramePr>
          <p:nvPr>
            <p:ph idx="1"/>
            <p:extLst>
              <p:ext uri="{D42A27DB-BD31-4B8C-83A1-F6EECF244321}">
                <p14:modId xmlns:p14="http://schemas.microsoft.com/office/powerpoint/2010/main" val="1636623677"/>
              </p:ext>
            </p:extLst>
          </p:nvPr>
        </p:nvGraphicFramePr>
        <p:xfrm>
          <a:off x="656167" y="1295400"/>
          <a:ext cx="10723032" cy="2234119"/>
        </p:xfrm>
        <a:graphic>
          <a:graphicData uri="http://schemas.openxmlformats.org/drawingml/2006/table">
            <a:tbl>
              <a:tblPr firstRow="1" bandRow="1">
                <a:tableStyleId>{7DF18680-E054-41AD-8BC1-D1AEF772440D}</a:tableStyleId>
              </a:tblPr>
              <a:tblGrid>
                <a:gridCol w="3574344">
                  <a:extLst>
                    <a:ext uri="{9D8B030D-6E8A-4147-A177-3AD203B41FA5}">
                      <a16:colId xmlns:a16="http://schemas.microsoft.com/office/drawing/2014/main" val="1647341021"/>
                    </a:ext>
                  </a:extLst>
                </a:gridCol>
                <a:gridCol w="3574344">
                  <a:extLst>
                    <a:ext uri="{9D8B030D-6E8A-4147-A177-3AD203B41FA5}">
                      <a16:colId xmlns:a16="http://schemas.microsoft.com/office/drawing/2014/main" val="3803830052"/>
                    </a:ext>
                  </a:extLst>
                </a:gridCol>
                <a:gridCol w="3574344">
                  <a:extLst>
                    <a:ext uri="{9D8B030D-6E8A-4147-A177-3AD203B41FA5}">
                      <a16:colId xmlns:a16="http://schemas.microsoft.com/office/drawing/2014/main" val="1540654680"/>
                    </a:ext>
                  </a:extLst>
                </a:gridCol>
              </a:tblGrid>
              <a:tr h="527239">
                <a:tc>
                  <a:txBody>
                    <a:bodyPr/>
                    <a:lstStyle/>
                    <a:p>
                      <a:r>
                        <a:rPr lang="nl-NL" sz="2400" dirty="0" err="1"/>
                        <a:t>Number</a:t>
                      </a:r>
                      <a:r>
                        <a:rPr lang="nl-NL" sz="2400" dirty="0"/>
                        <a:t> of </a:t>
                      </a:r>
                      <a:r>
                        <a:rPr lang="nl-NL" sz="2400" dirty="0" err="1"/>
                        <a:t>authors</a:t>
                      </a:r>
                      <a:endParaRPr lang="nl-NL" sz="2400" dirty="0"/>
                    </a:p>
                  </a:txBody>
                  <a:tcPr marL="121920" marR="121920" marT="60960" marB="60960"/>
                </a:tc>
                <a:tc>
                  <a:txBody>
                    <a:bodyPr/>
                    <a:lstStyle/>
                    <a:p>
                      <a:r>
                        <a:rPr lang="nl-NL" sz="2400" dirty="0"/>
                        <a:t>Parentheses</a:t>
                      </a:r>
                    </a:p>
                  </a:txBody>
                  <a:tcPr marL="121920" marR="121920" marT="60960" marB="60960"/>
                </a:tc>
                <a:tc>
                  <a:txBody>
                    <a:bodyPr/>
                    <a:lstStyle/>
                    <a:p>
                      <a:r>
                        <a:rPr lang="nl-NL" sz="2400" dirty="0" err="1"/>
                        <a:t>Narrative</a:t>
                      </a:r>
                      <a:endParaRPr lang="nl-NL" sz="2400" dirty="0"/>
                    </a:p>
                  </a:txBody>
                  <a:tcPr marL="121920" marR="121920" marT="60960" marB="60960"/>
                </a:tc>
                <a:extLst>
                  <a:ext uri="{0D108BD9-81ED-4DB2-BD59-A6C34878D82A}">
                    <a16:rowId xmlns:a16="http://schemas.microsoft.com/office/drawing/2014/main" val="3242865540"/>
                  </a:ext>
                </a:extLst>
              </a:tr>
              <a:tr h="566294">
                <a:tc>
                  <a:txBody>
                    <a:bodyPr/>
                    <a:lstStyle/>
                    <a:p>
                      <a:r>
                        <a:rPr lang="nl-NL" sz="2400" dirty="0"/>
                        <a:t>1</a:t>
                      </a:r>
                    </a:p>
                  </a:txBody>
                  <a:tcPr marL="121920" marR="121920" marT="60960" marB="60960"/>
                </a:tc>
                <a:tc>
                  <a:txBody>
                    <a:bodyPr/>
                    <a:lstStyle/>
                    <a:p>
                      <a:pPr fontAlgn="t"/>
                      <a:r>
                        <a:rPr lang="nl-NL" sz="2400" dirty="0">
                          <a:effectLst/>
                        </a:rPr>
                        <a:t>(Johnson, 2020)</a:t>
                      </a:r>
                    </a:p>
                  </a:txBody>
                  <a:tcPr marL="101600" marR="101600" marT="101600" marB="101600"/>
                </a:tc>
                <a:tc>
                  <a:txBody>
                    <a:bodyPr/>
                    <a:lstStyle/>
                    <a:p>
                      <a:pPr fontAlgn="t"/>
                      <a:r>
                        <a:rPr lang="nl-NL" sz="2400" dirty="0">
                          <a:effectLst/>
                        </a:rPr>
                        <a:t>Johnson (2020)</a:t>
                      </a:r>
                    </a:p>
                  </a:txBody>
                  <a:tcPr marL="101600" marR="101600" marT="101600" marB="101600"/>
                </a:tc>
                <a:extLst>
                  <a:ext uri="{0D108BD9-81ED-4DB2-BD59-A6C34878D82A}">
                    <a16:rowId xmlns:a16="http://schemas.microsoft.com/office/drawing/2014/main" val="444559126"/>
                  </a:ext>
                </a:extLst>
              </a:tr>
              <a:tr h="566294">
                <a:tc>
                  <a:txBody>
                    <a:bodyPr/>
                    <a:lstStyle/>
                    <a:p>
                      <a:r>
                        <a:rPr lang="nl-NL" sz="2400" dirty="0"/>
                        <a:t>2</a:t>
                      </a:r>
                    </a:p>
                  </a:txBody>
                  <a:tcPr marL="121920" marR="121920" marT="60960" marB="60960"/>
                </a:tc>
                <a:tc>
                  <a:txBody>
                    <a:bodyPr/>
                    <a:lstStyle/>
                    <a:p>
                      <a:pPr fontAlgn="t"/>
                      <a:r>
                        <a:rPr lang="nl-NL" sz="2400" dirty="0">
                          <a:effectLst/>
                        </a:rPr>
                        <a:t>(Smith &amp; Jones, 2019)</a:t>
                      </a:r>
                    </a:p>
                  </a:txBody>
                  <a:tcPr marL="101600" marR="101600" marT="101600" marB="101600"/>
                </a:tc>
                <a:tc>
                  <a:txBody>
                    <a:bodyPr/>
                    <a:lstStyle/>
                    <a:p>
                      <a:pPr fontAlgn="t"/>
                      <a:r>
                        <a:rPr lang="nl-NL" sz="2400" dirty="0">
                          <a:effectLst/>
                        </a:rPr>
                        <a:t>Smith </a:t>
                      </a:r>
                      <a:r>
                        <a:rPr lang="nl-NL" sz="2400" dirty="0" err="1">
                          <a:effectLst/>
                        </a:rPr>
                        <a:t>and</a:t>
                      </a:r>
                      <a:r>
                        <a:rPr lang="nl-NL" sz="2400" dirty="0">
                          <a:effectLst/>
                        </a:rPr>
                        <a:t> Jones (2019)</a:t>
                      </a:r>
                    </a:p>
                  </a:txBody>
                  <a:tcPr marL="101600" marR="101600" marT="101600" marB="101600"/>
                </a:tc>
                <a:extLst>
                  <a:ext uri="{0D108BD9-81ED-4DB2-BD59-A6C34878D82A}">
                    <a16:rowId xmlns:a16="http://schemas.microsoft.com/office/drawing/2014/main" val="133194750"/>
                  </a:ext>
                </a:extLst>
              </a:tr>
              <a:tr h="566294">
                <a:tc>
                  <a:txBody>
                    <a:bodyPr/>
                    <a:lstStyle/>
                    <a:p>
                      <a:r>
                        <a:rPr lang="nl-NL" sz="2400" dirty="0"/>
                        <a:t>3 or more</a:t>
                      </a:r>
                    </a:p>
                  </a:txBody>
                  <a:tcPr marL="121920" marR="121920" marT="60960" marB="60960"/>
                </a:tc>
                <a:tc>
                  <a:txBody>
                    <a:bodyPr/>
                    <a:lstStyle/>
                    <a:p>
                      <a:pPr fontAlgn="t"/>
                      <a:r>
                        <a:rPr lang="nl-NL" sz="2400" dirty="0">
                          <a:effectLst/>
                        </a:rPr>
                        <a:t>(Carlson et al., 2018)</a:t>
                      </a:r>
                    </a:p>
                  </a:txBody>
                  <a:tcPr marL="101600" marR="101600" marT="101600" marB="101600"/>
                </a:tc>
                <a:tc>
                  <a:txBody>
                    <a:bodyPr/>
                    <a:lstStyle/>
                    <a:p>
                      <a:pPr fontAlgn="t"/>
                      <a:r>
                        <a:rPr lang="nl-NL" sz="2400" dirty="0">
                          <a:effectLst/>
                        </a:rPr>
                        <a:t>Carlson et al. (2018)</a:t>
                      </a:r>
                    </a:p>
                  </a:txBody>
                  <a:tcPr marL="101600" marR="101600" marT="101600" marB="101600"/>
                </a:tc>
                <a:extLst>
                  <a:ext uri="{0D108BD9-81ED-4DB2-BD59-A6C34878D82A}">
                    <a16:rowId xmlns:a16="http://schemas.microsoft.com/office/drawing/2014/main" val="1072821896"/>
                  </a:ext>
                </a:extLst>
              </a:tr>
            </a:tbl>
          </a:graphicData>
        </a:graphic>
      </p:graphicFrame>
      <p:sp>
        <p:nvSpPr>
          <p:cNvPr id="6" name="TextBox 5">
            <a:extLst>
              <a:ext uri="{FF2B5EF4-FFF2-40B4-BE49-F238E27FC236}">
                <a16:creationId xmlns:a16="http://schemas.microsoft.com/office/drawing/2014/main" id="{01475FAD-7EB3-4BE7-9AFB-D5ACF88CB416}"/>
              </a:ext>
            </a:extLst>
          </p:cNvPr>
          <p:cNvSpPr txBox="1"/>
          <p:nvPr/>
        </p:nvSpPr>
        <p:spPr>
          <a:xfrm>
            <a:off x="655367" y="3940656"/>
            <a:ext cx="10723032" cy="1856790"/>
          </a:xfrm>
          <a:prstGeom prst="rect">
            <a:avLst/>
          </a:prstGeom>
          <a:noFill/>
        </p:spPr>
        <p:txBody>
          <a:bodyPr wrap="square" rtlCol="0">
            <a:spAutoFit/>
          </a:bodyPr>
          <a:lstStyle/>
          <a:p>
            <a:r>
              <a:rPr lang="en-US" sz="2400" dirty="0"/>
              <a:t>Multiple articles at once: Alphabetical order, separated by; </a:t>
            </a:r>
          </a:p>
          <a:p>
            <a:endParaRPr lang="en-US" sz="2400" b="1" dirty="0"/>
          </a:p>
          <a:p>
            <a:r>
              <a:rPr lang="en-US" sz="2400" b="1" dirty="0"/>
              <a:t>Example:</a:t>
            </a:r>
          </a:p>
          <a:p>
            <a:r>
              <a:rPr lang="en-US" sz="2133" dirty="0"/>
              <a:t>“From several studies it can be concluded …. (</a:t>
            </a:r>
            <a:r>
              <a:rPr lang="en-US" sz="2133" dirty="0" err="1"/>
              <a:t>Asendorpf</a:t>
            </a:r>
            <a:r>
              <a:rPr lang="en-US" sz="2133" dirty="0"/>
              <a:t> &amp; Van </a:t>
            </a:r>
            <a:r>
              <a:rPr lang="en-US" sz="2133" dirty="0" err="1"/>
              <a:t>Aken</a:t>
            </a:r>
            <a:r>
              <a:rPr lang="en-US" sz="2133" dirty="0"/>
              <a:t>, 1999; </a:t>
            </a:r>
            <a:r>
              <a:rPr lang="en-US" sz="2133" dirty="0" err="1"/>
              <a:t>Meeus</a:t>
            </a:r>
            <a:r>
              <a:rPr lang="en-US" sz="2133" dirty="0"/>
              <a:t> et al., 2011; Van Leeuwen et al., 2004).”</a:t>
            </a:r>
          </a:p>
        </p:txBody>
      </p:sp>
    </p:spTree>
    <p:extLst>
      <p:ext uri="{BB962C8B-B14F-4D97-AF65-F5344CB8AC3E}">
        <p14:creationId xmlns:p14="http://schemas.microsoft.com/office/powerpoint/2010/main" val="468453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p:cNvSpPr>
            <a:spLocks noGrp="1" noChangeArrowheads="1"/>
          </p:cNvSpPr>
          <p:nvPr>
            <p:ph type="title"/>
          </p:nvPr>
        </p:nvSpPr>
        <p:spPr/>
        <p:txBody>
          <a:bodyPr/>
          <a:lstStyle/>
          <a:p>
            <a:pPr>
              <a:defRPr/>
            </a:pPr>
            <a:r>
              <a:rPr lang="en-US" dirty="0"/>
              <a:t>Point of attention in-text references</a:t>
            </a:r>
            <a:endParaRPr dirty="0"/>
          </a:p>
        </p:txBody>
      </p:sp>
      <p:sp>
        <p:nvSpPr>
          <p:cNvPr id="71682" name="Rectangle 3"/>
          <p:cNvSpPr>
            <a:spLocks noGrp="1" noChangeArrowheads="1"/>
          </p:cNvSpPr>
          <p:nvPr>
            <p:ph idx="1"/>
          </p:nvPr>
        </p:nvSpPr>
        <p:spPr/>
        <p:txBody>
          <a:bodyPr/>
          <a:lstStyle/>
          <a:p>
            <a:pPr marL="179384" lvl="1" indent="0">
              <a:buNone/>
            </a:pPr>
            <a:endParaRPr lang="nl-NL" altLang="nl-NL" sz="2800" dirty="0"/>
          </a:p>
          <a:p>
            <a:pPr marL="179384" lvl="1" indent="0">
              <a:buNone/>
            </a:pPr>
            <a:r>
              <a:rPr lang="nl-NL" altLang="nl-NL" sz="2800" dirty="0"/>
              <a:t>Research has suggested that the use of difficult words can lead to the author being considered not very intelligent (Oppenheimer, 2006).</a:t>
            </a:r>
          </a:p>
          <a:p>
            <a:pPr marL="0" indent="0"/>
            <a:endParaRPr lang="en-GB" altLang="nl-NL" sz="2800" dirty="0"/>
          </a:p>
          <a:p>
            <a:pPr marL="179384" lvl="1" indent="0">
              <a:buNone/>
            </a:pPr>
            <a:r>
              <a:rPr lang="nl-NL" altLang="nl-NL" sz="2800" dirty="0"/>
              <a:t>Research has suggested that the use of difficult words can lead to the author being considered not very intelligent. (Oppenheimer, 2006)</a:t>
            </a:r>
          </a:p>
          <a:p>
            <a:pPr marL="0" indent="0">
              <a:buNone/>
            </a:pPr>
            <a:endParaRPr lang="en-GB" altLang="nl-NL" sz="2800" dirty="0"/>
          </a:p>
          <a:p>
            <a:pPr marL="0" indent="0">
              <a:buNone/>
            </a:pPr>
            <a:endParaRPr lang="en-GB" altLang="nl-NL" dirty="0"/>
          </a:p>
        </p:txBody>
      </p:sp>
      <p:sp>
        <p:nvSpPr>
          <p:cNvPr id="234508" name="Oval 12"/>
          <p:cNvSpPr>
            <a:spLocks noChangeArrowheads="1"/>
          </p:cNvSpPr>
          <p:nvPr/>
        </p:nvSpPr>
        <p:spPr bwMode="auto">
          <a:xfrm>
            <a:off x="4157930" y="2474909"/>
            <a:ext cx="504825" cy="4318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800" b="1" i="1">
                <a:solidFill>
                  <a:srgbClr val="FFD200"/>
                </a:solidFill>
                <a:latin typeface="Times New Roman" pitchFamily="18" charset="0"/>
              </a:defRPr>
            </a:lvl1pPr>
            <a:lvl2pPr marL="742950" indent="-285750" eaLnBrk="0" hangingPunct="0">
              <a:defRPr sz="4800" b="1" i="1">
                <a:solidFill>
                  <a:srgbClr val="FFD200"/>
                </a:solidFill>
                <a:latin typeface="Times New Roman" pitchFamily="18" charset="0"/>
              </a:defRPr>
            </a:lvl2pPr>
            <a:lvl3pPr marL="1143000" indent="-228600" eaLnBrk="0" hangingPunct="0">
              <a:defRPr sz="4800" b="1" i="1">
                <a:solidFill>
                  <a:srgbClr val="FFD200"/>
                </a:solidFill>
                <a:latin typeface="Times New Roman" pitchFamily="18" charset="0"/>
              </a:defRPr>
            </a:lvl3pPr>
            <a:lvl4pPr marL="1600200" indent="-228600" eaLnBrk="0" hangingPunct="0">
              <a:defRPr sz="4800" b="1" i="1">
                <a:solidFill>
                  <a:srgbClr val="FFD200"/>
                </a:solidFill>
                <a:latin typeface="Times New Roman" pitchFamily="18" charset="0"/>
              </a:defRPr>
            </a:lvl4pPr>
            <a:lvl5pPr marL="2057400" indent="-228600" eaLnBrk="0" hangingPunct="0">
              <a:defRPr sz="4800" b="1" i="1">
                <a:solidFill>
                  <a:srgbClr val="FFD200"/>
                </a:solidFill>
                <a:latin typeface="Times New Roman" pitchFamily="18" charset="0"/>
              </a:defRPr>
            </a:lvl5pPr>
            <a:lvl6pPr marL="2514600" indent="-228600" eaLnBrk="0" fontAlgn="base" hangingPunct="0">
              <a:spcBef>
                <a:spcPct val="0"/>
              </a:spcBef>
              <a:spcAft>
                <a:spcPct val="0"/>
              </a:spcAft>
              <a:defRPr sz="4800" b="1" i="1">
                <a:solidFill>
                  <a:srgbClr val="FFD200"/>
                </a:solidFill>
                <a:latin typeface="Times New Roman" pitchFamily="18" charset="0"/>
              </a:defRPr>
            </a:lvl6pPr>
            <a:lvl7pPr marL="2971800" indent="-228600" eaLnBrk="0" fontAlgn="base" hangingPunct="0">
              <a:spcBef>
                <a:spcPct val="0"/>
              </a:spcBef>
              <a:spcAft>
                <a:spcPct val="0"/>
              </a:spcAft>
              <a:defRPr sz="4800" b="1" i="1">
                <a:solidFill>
                  <a:srgbClr val="FFD200"/>
                </a:solidFill>
                <a:latin typeface="Times New Roman" pitchFamily="18" charset="0"/>
              </a:defRPr>
            </a:lvl7pPr>
            <a:lvl8pPr marL="3429000" indent="-228600" eaLnBrk="0" fontAlgn="base" hangingPunct="0">
              <a:spcBef>
                <a:spcPct val="0"/>
              </a:spcBef>
              <a:spcAft>
                <a:spcPct val="0"/>
              </a:spcAft>
              <a:defRPr sz="4800" b="1" i="1">
                <a:solidFill>
                  <a:srgbClr val="FFD200"/>
                </a:solidFill>
                <a:latin typeface="Times New Roman" pitchFamily="18" charset="0"/>
              </a:defRPr>
            </a:lvl8pPr>
            <a:lvl9pPr marL="3886200" indent="-228600" eaLnBrk="0" fontAlgn="base" hangingPunct="0">
              <a:spcBef>
                <a:spcPct val="0"/>
              </a:spcBef>
              <a:spcAft>
                <a:spcPct val="0"/>
              </a:spcAft>
              <a:defRPr sz="4800" b="1" i="1">
                <a:solidFill>
                  <a:srgbClr val="FFD200"/>
                </a:solidFill>
                <a:latin typeface="Times New Roman" pitchFamily="18" charset="0"/>
              </a:defRPr>
            </a:lvl9pPr>
          </a:lstStyle>
          <a:p>
            <a:pPr defTabSz="914377" eaLnBrk="1" hangingPunct="1">
              <a:defRPr/>
            </a:pPr>
            <a:endParaRPr lang="en-US" altLang="nl-NL" dirty="0"/>
          </a:p>
        </p:txBody>
      </p:sp>
      <p:sp>
        <p:nvSpPr>
          <p:cNvPr id="5" name="Text Box 8"/>
          <p:cNvSpPr txBox="1">
            <a:spLocks noChangeArrowheads="1"/>
          </p:cNvSpPr>
          <p:nvPr/>
        </p:nvSpPr>
        <p:spPr bwMode="auto">
          <a:xfrm rot="-1757202">
            <a:off x="3535877" y="3627493"/>
            <a:ext cx="30448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800" b="1" i="1">
                <a:solidFill>
                  <a:srgbClr val="FFD200"/>
                </a:solidFill>
                <a:latin typeface="Times New Roman" pitchFamily="18" charset="0"/>
              </a:defRPr>
            </a:lvl1pPr>
            <a:lvl2pPr marL="742950" indent="-285750" eaLnBrk="0" hangingPunct="0">
              <a:defRPr sz="4800" b="1" i="1">
                <a:solidFill>
                  <a:srgbClr val="FFD200"/>
                </a:solidFill>
                <a:latin typeface="Times New Roman" pitchFamily="18" charset="0"/>
              </a:defRPr>
            </a:lvl2pPr>
            <a:lvl3pPr marL="1143000" indent="-228600" eaLnBrk="0" hangingPunct="0">
              <a:defRPr sz="4800" b="1" i="1">
                <a:solidFill>
                  <a:srgbClr val="FFD200"/>
                </a:solidFill>
                <a:latin typeface="Times New Roman" pitchFamily="18" charset="0"/>
              </a:defRPr>
            </a:lvl3pPr>
            <a:lvl4pPr marL="1600200" indent="-228600" eaLnBrk="0" hangingPunct="0">
              <a:defRPr sz="4800" b="1" i="1">
                <a:solidFill>
                  <a:srgbClr val="FFD200"/>
                </a:solidFill>
                <a:latin typeface="Times New Roman" pitchFamily="18" charset="0"/>
              </a:defRPr>
            </a:lvl4pPr>
            <a:lvl5pPr marL="2057400" indent="-228600" eaLnBrk="0" hangingPunct="0">
              <a:defRPr sz="4800" b="1" i="1">
                <a:solidFill>
                  <a:srgbClr val="FFD200"/>
                </a:solidFill>
                <a:latin typeface="Times New Roman" pitchFamily="18" charset="0"/>
              </a:defRPr>
            </a:lvl5pPr>
            <a:lvl6pPr marL="2514600" indent="-228600" eaLnBrk="0" fontAlgn="base" hangingPunct="0">
              <a:spcBef>
                <a:spcPct val="0"/>
              </a:spcBef>
              <a:spcAft>
                <a:spcPct val="0"/>
              </a:spcAft>
              <a:defRPr sz="4800" b="1" i="1">
                <a:solidFill>
                  <a:srgbClr val="FFD200"/>
                </a:solidFill>
                <a:latin typeface="Times New Roman" pitchFamily="18" charset="0"/>
              </a:defRPr>
            </a:lvl6pPr>
            <a:lvl7pPr marL="2971800" indent="-228600" eaLnBrk="0" fontAlgn="base" hangingPunct="0">
              <a:spcBef>
                <a:spcPct val="0"/>
              </a:spcBef>
              <a:spcAft>
                <a:spcPct val="0"/>
              </a:spcAft>
              <a:defRPr sz="4800" b="1" i="1">
                <a:solidFill>
                  <a:srgbClr val="FFD200"/>
                </a:solidFill>
                <a:latin typeface="Times New Roman" pitchFamily="18" charset="0"/>
              </a:defRPr>
            </a:lvl7pPr>
            <a:lvl8pPr marL="3429000" indent="-228600" eaLnBrk="0" fontAlgn="base" hangingPunct="0">
              <a:spcBef>
                <a:spcPct val="0"/>
              </a:spcBef>
              <a:spcAft>
                <a:spcPct val="0"/>
              </a:spcAft>
              <a:defRPr sz="4800" b="1" i="1">
                <a:solidFill>
                  <a:srgbClr val="FFD200"/>
                </a:solidFill>
                <a:latin typeface="Times New Roman" pitchFamily="18" charset="0"/>
              </a:defRPr>
            </a:lvl8pPr>
            <a:lvl9pPr marL="3886200" indent="-228600" eaLnBrk="0" fontAlgn="base" hangingPunct="0">
              <a:spcBef>
                <a:spcPct val="0"/>
              </a:spcBef>
              <a:spcAft>
                <a:spcPct val="0"/>
              </a:spcAft>
              <a:defRPr sz="4800" b="1" i="1">
                <a:solidFill>
                  <a:srgbClr val="FFD200"/>
                </a:solidFill>
                <a:latin typeface="Times New Roman" pitchFamily="18" charset="0"/>
              </a:defRPr>
            </a:lvl9pPr>
          </a:lstStyle>
          <a:p>
            <a:pPr defTabSz="914377" eaLnBrk="1" hangingPunct="1">
              <a:spcBef>
                <a:spcPct val="50000"/>
              </a:spcBef>
              <a:defRPr/>
            </a:pPr>
            <a:r>
              <a:rPr lang="nl-NL" altLang="nl-NL" sz="3200" dirty="0">
                <a:solidFill>
                  <a:srgbClr val="FF0000"/>
                </a:solidFill>
                <a:latin typeface="Tahoma" pitchFamily="34" charset="0"/>
              </a:rPr>
              <a:t> INCORRECT</a:t>
            </a:r>
          </a:p>
        </p:txBody>
      </p:sp>
      <p:pic>
        <p:nvPicPr>
          <p:cNvPr id="2" name="Afbeelding 1"/>
          <p:cNvPicPr>
            <a:picLocks noChangeAspect="1"/>
          </p:cNvPicPr>
          <p:nvPr/>
        </p:nvPicPr>
        <p:blipFill>
          <a:blip r:embed="rId3"/>
          <a:stretch>
            <a:fillRect/>
          </a:stretch>
        </p:blipFill>
        <p:spPr>
          <a:xfrm>
            <a:off x="8934257" y="3655571"/>
            <a:ext cx="542591" cy="463336"/>
          </a:xfrm>
          <a:prstGeom prst="rect">
            <a:avLst/>
          </a:prstGeom>
        </p:spPr>
      </p:pic>
    </p:spTree>
    <p:extLst>
      <p:ext uri="{BB962C8B-B14F-4D97-AF65-F5344CB8AC3E}">
        <p14:creationId xmlns:p14="http://schemas.microsoft.com/office/powerpoint/2010/main" val="2316104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34508"/>
                                        </p:tgtEl>
                                        <p:attrNameLst>
                                          <p:attrName>style.visibility</p:attrName>
                                        </p:attrNameLst>
                                      </p:cBhvr>
                                      <p:to>
                                        <p:strVal val="visible"/>
                                      </p:to>
                                    </p:set>
                                    <p:anim calcmode="lin" valueType="num">
                                      <p:cBhvr additive="base">
                                        <p:cTn id="7" dur="500" fill="hold"/>
                                        <p:tgtEl>
                                          <p:spTgt spid="234508"/>
                                        </p:tgtEl>
                                        <p:attrNameLst>
                                          <p:attrName>ppt_x</p:attrName>
                                        </p:attrNameLst>
                                      </p:cBhvr>
                                      <p:tavLst>
                                        <p:tav tm="0">
                                          <p:val>
                                            <p:strVal val="1+#ppt_w/2"/>
                                          </p:val>
                                        </p:tav>
                                        <p:tav tm="100000">
                                          <p:val>
                                            <p:strVal val="#ppt_x"/>
                                          </p:val>
                                        </p:tav>
                                      </p:tavLst>
                                    </p:anim>
                                    <p:anim calcmode="lin" valueType="num">
                                      <p:cBhvr additive="base">
                                        <p:cTn id="8" dur="500" fill="hold"/>
                                        <p:tgtEl>
                                          <p:spTgt spid="23450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8"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C42AE-F744-4B93-BE52-2C642EF4C8D2}"/>
              </a:ext>
            </a:extLst>
          </p:cNvPr>
          <p:cNvSpPr>
            <a:spLocks noGrp="1"/>
          </p:cNvSpPr>
          <p:nvPr>
            <p:ph type="title"/>
          </p:nvPr>
        </p:nvSpPr>
        <p:spPr/>
        <p:txBody>
          <a:bodyPr/>
          <a:lstStyle/>
          <a:p>
            <a:r>
              <a:rPr lang="nl-NL" dirty="0"/>
              <a:t>APA </a:t>
            </a:r>
            <a:r>
              <a:rPr lang="nl-NL" dirty="0" err="1"/>
              <a:t>reference</a:t>
            </a:r>
            <a:r>
              <a:rPr lang="nl-NL" dirty="0"/>
              <a:t> list</a:t>
            </a:r>
          </a:p>
        </p:txBody>
      </p:sp>
      <p:sp>
        <p:nvSpPr>
          <p:cNvPr id="3" name="Content Placeholder 2">
            <a:extLst>
              <a:ext uri="{FF2B5EF4-FFF2-40B4-BE49-F238E27FC236}">
                <a16:creationId xmlns:a16="http://schemas.microsoft.com/office/drawing/2014/main" id="{EB0D5AD0-D4CA-4107-923C-71722473DAE1}"/>
              </a:ext>
            </a:extLst>
          </p:cNvPr>
          <p:cNvSpPr>
            <a:spLocks noGrp="1"/>
          </p:cNvSpPr>
          <p:nvPr>
            <p:ph idx="1"/>
          </p:nvPr>
        </p:nvSpPr>
        <p:spPr/>
        <p:txBody>
          <a:bodyPr/>
          <a:lstStyle/>
          <a:p>
            <a:r>
              <a:rPr lang="en-US" dirty="0"/>
              <a:t>General principle: Who, When, What, Where</a:t>
            </a:r>
          </a:p>
          <a:p>
            <a:r>
              <a:rPr lang="en-US" dirty="0"/>
              <a:t>Different lay-outs depending on type of source (article, book, website </a:t>
            </a:r>
            <a:r>
              <a:rPr lang="en-US" dirty="0" err="1"/>
              <a:t>etc</a:t>
            </a:r>
            <a:r>
              <a:rPr lang="en-US" dirty="0"/>
              <a:t>)</a:t>
            </a:r>
          </a:p>
          <a:p>
            <a:r>
              <a:rPr lang="en-US" dirty="0"/>
              <a:t>Reference list is sorted alphabetically</a:t>
            </a:r>
          </a:p>
          <a:p>
            <a:r>
              <a:rPr lang="en-US" dirty="0"/>
              <a:t>Indentation for second and </a:t>
            </a:r>
            <a:r>
              <a:rPr lang="en-US" dirty="0" err="1"/>
              <a:t>subsequrent</a:t>
            </a:r>
            <a:r>
              <a:rPr lang="en-US" dirty="0"/>
              <a:t> lines of reference</a:t>
            </a:r>
          </a:p>
          <a:p>
            <a:endParaRPr lang="en-US" dirty="0"/>
          </a:p>
          <a:p>
            <a:pPr marL="0" indent="0">
              <a:buNone/>
            </a:pPr>
            <a:r>
              <a:rPr lang="en-US" dirty="0"/>
              <a:t>Example journal article: </a:t>
            </a:r>
          </a:p>
          <a:p>
            <a:pPr marL="0" indent="0">
              <a:buNone/>
            </a:pPr>
            <a:endParaRPr lang="nl-NL" dirty="0"/>
          </a:p>
        </p:txBody>
      </p:sp>
      <p:pic>
        <p:nvPicPr>
          <p:cNvPr id="4" name="Picture 3">
            <a:extLst>
              <a:ext uri="{FF2B5EF4-FFF2-40B4-BE49-F238E27FC236}">
                <a16:creationId xmlns:a16="http://schemas.microsoft.com/office/drawing/2014/main" id="{18474947-C75E-487F-8CAD-FD9EF15C23E1}"/>
              </a:ext>
            </a:extLst>
          </p:cNvPr>
          <p:cNvPicPr>
            <a:picLocks noChangeAspect="1"/>
          </p:cNvPicPr>
          <p:nvPr/>
        </p:nvPicPr>
        <p:blipFill>
          <a:blip r:embed="rId3"/>
          <a:stretch>
            <a:fillRect/>
          </a:stretch>
        </p:blipFill>
        <p:spPr>
          <a:xfrm>
            <a:off x="1187269" y="3701617"/>
            <a:ext cx="9250499" cy="1860982"/>
          </a:xfrm>
          <a:prstGeom prst="rect">
            <a:avLst/>
          </a:prstGeom>
        </p:spPr>
      </p:pic>
    </p:spTree>
    <p:extLst>
      <p:ext uri="{BB962C8B-B14F-4D97-AF65-F5344CB8AC3E}">
        <p14:creationId xmlns:p14="http://schemas.microsoft.com/office/powerpoint/2010/main" val="2903673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defRPr/>
            </a:pPr>
            <a:r>
              <a:rPr lang="nl-NL" dirty="0"/>
              <a:t>Point of attention </a:t>
            </a:r>
            <a:r>
              <a:rPr lang="nl-NL" dirty="0" err="1"/>
              <a:t>reference</a:t>
            </a:r>
            <a:r>
              <a:rPr lang="nl-NL" dirty="0"/>
              <a:t> list</a:t>
            </a:r>
          </a:p>
        </p:txBody>
      </p:sp>
      <p:sp>
        <p:nvSpPr>
          <p:cNvPr id="448518" name="Rectangle 6"/>
          <p:cNvSpPr>
            <a:spLocks noGrp="1" noChangeArrowheads="1"/>
          </p:cNvSpPr>
          <p:nvPr>
            <p:ph idx="1"/>
          </p:nvPr>
        </p:nvSpPr>
        <p:spPr>
          <a:xfrm>
            <a:off x="655366" y="3109426"/>
            <a:ext cx="10944223" cy="2667000"/>
          </a:xfrm>
        </p:spPr>
        <p:txBody>
          <a:bodyPr>
            <a:normAutofit/>
          </a:bodyPr>
          <a:lstStyle/>
          <a:p>
            <a:pPr eaLnBrk="1" hangingPunct="1">
              <a:buFontTx/>
              <a:buNone/>
            </a:pPr>
            <a:endParaRPr lang="nl-NL" altLang="nl-NL" sz="2800" dirty="0"/>
          </a:p>
          <a:p>
            <a:pPr eaLnBrk="1" hangingPunct="1">
              <a:buFontTx/>
              <a:buNone/>
            </a:pPr>
            <a:endParaRPr lang="nl-NL" altLang="nl-NL" sz="2800" dirty="0"/>
          </a:p>
          <a:p>
            <a:pPr eaLnBrk="1" hangingPunct="1">
              <a:buFontTx/>
              <a:buNone/>
            </a:pPr>
            <a:r>
              <a:rPr lang="nl-NL" altLang="nl-NL" sz="2800" dirty="0" err="1"/>
              <a:t>Haidt</a:t>
            </a:r>
            <a:r>
              <a:rPr lang="nl-NL" altLang="nl-NL" sz="2800" dirty="0"/>
              <a:t>, J., Koller, S. H., &amp; Dias, M. G. (1993). Affect, culture, </a:t>
            </a:r>
            <a:r>
              <a:rPr lang="nl-NL" altLang="nl-NL" sz="2800" dirty="0" err="1"/>
              <a:t>and</a:t>
            </a:r>
            <a:r>
              <a:rPr lang="nl-NL" altLang="nl-NL" sz="2800" dirty="0"/>
              <a:t>  </a:t>
            </a:r>
          </a:p>
          <a:p>
            <a:pPr eaLnBrk="1" hangingPunct="1">
              <a:buFontTx/>
              <a:buNone/>
            </a:pPr>
            <a:r>
              <a:rPr lang="nl-NL" altLang="nl-NL" sz="2800" dirty="0"/>
              <a:t> 	</a:t>
            </a:r>
            <a:r>
              <a:rPr lang="nl-NL" altLang="nl-NL" sz="2800" dirty="0" err="1"/>
              <a:t>morality</a:t>
            </a:r>
            <a:r>
              <a:rPr lang="nl-NL" altLang="nl-NL" sz="2800" dirty="0"/>
              <a:t>, or is it wrong to eat your dog?</a:t>
            </a:r>
            <a:r>
              <a:rPr lang="en-GB" altLang="nl-NL" sz="2800" i="1" dirty="0"/>
              <a:t> Journal of Personality and Social Psychology, 65 </a:t>
            </a:r>
            <a:r>
              <a:rPr lang="nl-NL" altLang="nl-NL" sz="2800" dirty="0"/>
              <a:t>(4), 613-628. </a:t>
            </a:r>
            <a:endParaRPr lang="en-GB" altLang="nl-NL" sz="2800" dirty="0"/>
          </a:p>
        </p:txBody>
      </p:sp>
      <p:pic>
        <p:nvPicPr>
          <p:cNvPr id="737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151" y="1728051"/>
            <a:ext cx="85248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3" name="Picture 5"/>
          <p:cNvPicPr>
            <a:picLocks noChangeAspect="1" noChangeArrowheads="1"/>
          </p:cNvPicPr>
          <p:nvPr/>
        </p:nvPicPr>
        <p:blipFill>
          <a:blip r:embed="rId4">
            <a:extLst>
              <a:ext uri="{28A0092B-C50C-407E-A947-70E740481C1C}">
                <a14:useLocalDpi xmlns:a14="http://schemas.microsoft.com/office/drawing/2010/main" val="0"/>
              </a:ext>
            </a:extLst>
          </a:blip>
          <a:srcRect b="12242"/>
          <a:stretch>
            <a:fillRect/>
          </a:stretch>
        </p:blipFill>
        <p:spPr bwMode="auto">
          <a:xfrm>
            <a:off x="592410" y="3109426"/>
            <a:ext cx="8461375" cy="33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8519" name="Oval 7"/>
          <p:cNvSpPr>
            <a:spLocks noChangeArrowheads="1"/>
          </p:cNvSpPr>
          <p:nvPr/>
        </p:nvSpPr>
        <p:spPr bwMode="auto">
          <a:xfrm>
            <a:off x="1470085" y="1723185"/>
            <a:ext cx="583002" cy="47952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800" b="1" i="1">
                <a:solidFill>
                  <a:srgbClr val="FFD200"/>
                </a:solidFill>
                <a:latin typeface="Times New Roman" pitchFamily="18" charset="0"/>
              </a:defRPr>
            </a:lvl1pPr>
            <a:lvl2pPr marL="742950" indent="-285750" eaLnBrk="0" hangingPunct="0">
              <a:defRPr sz="4800" b="1" i="1">
                <a:solidFill>
                  <a:srgbClr val="FFD200"/>
                </a:solidFill>
                <a:latin typeface="Times New Roman" pitchFamily="18" charset="0"/>
              </a:defRPr>
            </a:lvl2pPr>
            <a:lvl3pPr marL="1143000" indent="-228600" eaLnBrk="0" hangingPunct="0">
              <a:defRPr sz="4800" b="1" i="1">
                <a:solidFill>
                  <a:srgbClr val="FFD200"/>
                </a:solidFill>
                <a:latin typeface="Times New Roman" pitchFamily="18" charset="0"/>
              </a:defRPr>
            </a:lvl3pPr>
            <a:lvl4pPr marL="1600200" indent="-228600" eaLnBrk="0" hangingPunct="0">
              <a:defRPr sz="4800" b="1" i="1">
                <a:solidFill>
                  <a:srgbClr val="FFD200"/>
                </a:solidFill>
                <a:latin typeface="Times New Roman" pitchFamily="18" charset="0"/>
              </a:defRPr>
            </a:lvl4pPr>
            <a:lvl5pPr marL="2057400" indent="-228600" eaLnBrk="0" hangingPunct="0">
              <a:defRPr sz="4800" b="1" i="1">
                <a:solidFill>
                  <a:srgbClr val="FFD200"/>
                </a:solidFill>
                <a:latin typeface="Times New Roman" pitchFamily="18" charset="0"/>
              </a:defRPr>
            </a:lvl5pPr>
            <a:lvl6pPr marL="2514600" indent="-228600" eaLnBrk="0" fontAlgn="base" hangingPunct="0">
              <a:spcBef>
                <a:spcPct val="0"/>
              </a:spcBef>
              <a:spcAft>
                <a:spcPct val="0"/>
              </a:spcAft>
              <a:defRPr sz="4800" b="1" i="1">
                <a:solidFill>
                  <a:srgbClr val="FFD200"/>
                </a:solidFill>
                <a:latin typeface="Times New Roman" pitchFamily="18" charset="0"/>
              </a:defRPr>
            </a:lvl6pPr>
            <a:lvl7pPr marL="2971800" indent="-228600" eaLnBrk="0" fontAlgn="base" hangingPunct="0">
              <a:spcBef>
                <a:spcPct val="0"/>
              </a:spcBef>
              <a:spcAft>
                <a:spcPct val="0"/>
              </a:spcAft>
              <a:defRPr sz="4800" b="1" i="1">
                <a:solidFill>
                  <a:srgbClr val="FFD200"/>
                </a:solidFill>
                <a:latin typeface="Times New Roman" pitchFamily="18" charset="0"/>
              </a:defRPr>
            </a:lvl7pPr>
            <a:lvl8pPr marL="3429000" indent="-228600" eaLnBrk="0" fontAlgn="base" hangingPunct="0">
              <a:spcBef>
                <a:spcPct val="0"/>
              </a:spcBef>
              <a:spcAft>
                <a:spcPct val="0"/>
              </a:spcAft>
              <a:defRPr sz="4800" b="1" i="1">
                <a:solidFill>
                  <a:srgbClr val="FFD200"/>
                </a:solidFill>
                <a:latin typeface="Times New Roman" pitchFamily="18" charset="0"/>
              </a:defRPr>
            </a:lvl8pPr>
            <a:lvl9pPr marL="3886200" indent="-228600" eaLnBrk="0" fontAlgn="base" hangingPunct="0">
              <a:spcBef>
                <a:spcPct val="0"/>
              </a:spcBef>
              <a:spcAft>
                <a:spcPct val="0"/>
              </a:spcAft>
              <a:defRPr sz="4800" b="1" i="1">
                <a:solidFill>
                  <a:srgbClr val="FFD200"/>
                </a:solidFill>
                <a:latin typeface="Times New Roman" pitchFamily="18" charset="0"/>
              </a:defRPr>
            </a:lvl9pPr>
          </a:lstStyle>
          <a:p>
            <a:pPr defTabSz="914377" eaLnBrk="1" hangingPunct="1">
              <a:defRPr/>
            </a:pPr>
            <a:endParaRPr lang="en-US" altLang="nl-NL" dirty="0"/>
          </a:p>
        </p:txBody>
      </p:sp>
      <p:sp>
        <p:nvSpPr>
          <p:cNvPr id="448520" name="Oval 8"/>
          <p:cNvSpPr>
            <a:spLocks noChangeArrowheads="1"/>
          </p:cNvSpPr>
          <p:nvPr/>
        </p:nvSpPr>
        <p:spPr bwMode="auto">
          <a:xfrm>
            <a:off x="8719832" y="3815303"/>
            <a:ext cx="564387" cy="530599"/>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800" b="1" i="1">
                <a:solidFill>
                  <a:srgbClr val="FFD200"/>
                </a:solidFill>
                <a:latin typeface="Times New Roman" pitchFamily="18" charset="0"/>
              </a:defRPr>
            </a:lvl1pPr>
            <a:lvl2pPr marL="742950" indent="-285750" eaLnBrk="0" hangingPunct="0">
              <a:defRPr sz="4800" b="1" i="1">
                <a:solidFill>
                  <a:srgbClr val="FFD200"/>
                </a:solidFill>
                <a:latin typeface="Times New Roman" pitchFamily="18" charset="0"/>
              </a:defRPr>
            </a:lvl2pPr>
            <a:lvl3pPr marL="1143000" indent="-228600" eaLnBrk="0" hangingPunct="0">
              <a:defRPr sz="4800" b="1" i="1">
                <a:solidFill>
                  <a:srgbClr val="FFD200"/>
                </a:solidFill>
                <a:latin typeface="Times New Roman" pitchFamily="18" charset="0"/>
              </a:defRPr>
            </a:lvl3pPr>
            <a:lvl4pPr marL="1600200" indent="-228600" eaLnBrk="0" hangingPunct="0">
              <a:defRPr sz="4800" b="1" i="1">
                <a:solidFill>
                  <a:srgbClr val="FFD200"/>
                </a:solidFill>
                <a:latin typeface="Times New Roman" pitchFamily="18" charset="0"/>
              </a:defRPr>
            </a:lvl4pPr>
            <a:lvl5pPr marL="2057400" indent="-228600" eaLnBrk="0" hangingPunct="0">
              <a:defRPr sz="4800" b="1" i="1">
                <a:solidFill>
                  <a:srgbClr val="FFD200"/>
                </a:solidFill>
                <a:latin typeface="Times New Roman" pitchFamily="18" charset="0"/>
              </a:defRPr>
            </a:lvl5pPr>
            <a:lvl6pPr marL="2514600" indent="-228600" eaLnBrk="0" fontAlgn="base" hangingPunct="0">
              <a:spcBef>
                <a:spcPct val="0"/>
              </a:spcBef>
              <a:spcAft>
                <a:spcPct val="0"/>
              </a:spcAft>
              <a:defRPr sz="4800" b="1" i="1">
                <a:solidFill>
                  <a:srgbClr val="FFD200"/>
                </a:solidFill>
                <a:latin typeface="Times New Roman" pitchFamily="18" charset="0"/>
              </a:defRPr>
            </a:lvl6pPr>
            <a:lvl7pPr marL="2971800" indent="-228600" eaLnBrk="0" fontAlgn="base" hangingPunct="0">
              <a:spcBef>
                <a:spcPct val="0"/>
              </a:spcBef>
              <a:spcAft>
                <a:spcPct val="0"/>
              </a:spcAft>
              <a:defRPr sz="4800" b="1" i="1">
                <a:solidFill>
                  <a:srgbClr val="FFD200"/>
                </a:solidFill>
                <a:latin typeface="Times New Roman" pitchFamily="18" charset="0"/>
              </a:defRPr>
            </a:lvl7pPr>
            <a:lvl8pPr marL="3429000" indent="-228600" eaLnBrk="0" fontAlgn="base" hangingPunct="0">
              <a:spcBef>
                <a:spcPct val="0"/>
              </a:spcBef>
              <a:spcAft>
                <a:spcPct val="0"/>
              </a:spcAft>
              <a:defRPr sz="4800" b="1" i="1">
                <a:solidFill>
                  <a:srgbClr val="FFD200"/>
                </a:solidFill>
                <a:latin typeface="Times New Roman" pitchFamily="18" charset="0"/>
              </a:defRPr>
            </a:lvl8pPr>
            <a:lvl9pPr marL="3886200" indent="-228600" eaLnBrk="0" fontAlgn="base" hangingPunct="0">
              <a:spcBef>
                <a:spcPct val="0"/>
              </a:spcBef>
              <a:spcAft>
                <a:spcPct val="0"/>
              </a:spcAft>
              <a:defRPr sz="4800" b="1" i="1">
                <a:solidFill>
                  <a:srgbClr val="FFD200"/>
                </a:solidFill>
                <a:latin typeface="Times New Roman" pitchFamily="18" charset="0"/>
              </a:defRPr>
            </a:lvl9pPr>
          </a:lstStyle>
          <a:p>
            <a:pPr defTabSz="914377" eaLnBrk="1" hangingPunct="1">
              <a:defRPr/>
            </a:pPr>
            <a:endParaRPr lang="en-US" altLang="nl-NL" dirty="0"/>
          </a:p>
        </p:txBody>
      </p:sp>
    </p:spTree>
    <p:extLst>
      <p:ext uri="{BB962C8B-B14F-4D97-AF65-F5344CB8AC3E}">
        <p14:creationId xmlns:p14="http://schemas.microsoft.com/office/powerpoint/2010/main" val="8773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851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3" fill="hold" grpId="0" nodeType="clickEffect">
                                  <p:stCondLst>
                                    <p:cond delay="0"/>
                                  </p:stCondLst>
                                  <p:childTnLst>
                                    <p:set>
                                      <p:cBhvr>
                                        <p:cTn id="14" dur="1" fill="hold">
                                          <p:stCondLst>
                                            <p:cond delay="0"/>
                                          </p:stCondLst>
                                        </p:cTn>
                                        <p:tgtEl>
                                          <p:spTgt spid="448519"/>
                                        </p:tgtEl>
                                        <p:attrNameLst>
                                          <p:attrName>style.visibility</p:attrName>
                                        </p:attrNameLst>
                                      </p:cBhvr>
                                      <p:to>
                                        <p:strVal val="visible"/>
                                      </p:to>
                                    </p:set>
                                    <p:anim calcmode="lin" valueType="num">
                                      <p:cBhvr additive="base">
                                        <p:cTn id="15" dur="500" fill="hold"/>
                                        <p:tgtEl>
                                          <p:spTgt spid="448519"/>
                                        </p:tgtEl>
                                        <p:attrNameLst>
                                          <p:attrName>ppt_x</p:attrName>
                                        </p:attrNameLst>
                                      </p:cBhvr>
                                      <p:tavLst>
                                        <p:tav tm="0">
                                          <p:val>
                                            <p:strVal val="1+#ppt_w/2"/>
                                          </p:val>
                                        </p:tav>
                                        <p:tav tm="100000">
                                          <p:val>
                                            <p:strVal val="#ppt_x"/>
                                          </p:val>
                                        </p:tav>
                                      </p:tavLst>
                                    </p:anim>
                                    <p:anim calcmode="lin" valueType="num">
                                      <p:cBhvr additive="base">
                                        <p:cTn id="16" dur="500" fill="hold"/>
                                        <p:tgtEl>
                                          <p:spTgt spid="448519"/>
                                        </p:tgtEl>
                                        <p:attrNameLst>
                                          <p:attrName>ppt_y</p:attrName>
                                        </p:attrNameLst>
                                      </p:cBhvr>
                                      <p:tavLst>
                                        <p:tav tm="0">
                                          <p:val>
                                            <p:strVal val="0-#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3" fill="hold" grpId="0" nodeType="clickEffect">
                                  <p:stCondLst>
                                    <p:cond delay="0"/>
                                  </p:stCondLst>
                                  <p:childTnLst>
                                    <p:set>
                                      <p:cBhvr>
                                        <p:cTn id="20" dur="1" fill="hold">
                                          <p:stCondLst>
                                            <p:cond delay="0"/>
                                          </p:stCondLst>
                                        </p:cTn>
                                        <p:tgtEl>
                                          <p:spTgt spid="448520"/>
                                        </p:tgtEl>
                                        <p:attrNameLst>
                                          <p:attrName>style.visibility</p:attrName>
                                        </p:attrNameLst>
                                      </p:cBhvr>
                                      <p:to>
                                        <p:strVal val="visible"/>
                                      </p:to>
                                    </p:set>
                                    <p:anim calcmode="lin" valueType="num">
                                      <p:cBhvr additive="base">
                                        <p:cTn id="21" dur="500" fill="hold"/>
                                        <p:tgtEl>
                                          <p:spTgt spid="448520"/>
                                        </p:tgtEl>
                                        <p:attrNameLst>
                                          <p:attrName>ppt_x</p:attrName>
                                        </p:attrNameLst>
                                      </p:cBhvr>
                                      <p:tavLst>
                                        <p:tav tm="0">
                                          <p:val>
                                            <p:strVal val="1+#ppt_w/2"/>
                                          </p:val>
                                        </p:tav>
                                        <p:tav tm="100000">
                                          <p:val>
                                            <p:strVal val="#ppt_x"/>
                                          </p:val>
                                        </p:tav>
                                      </p:tavLst>
                                    </p:anim>
                                    <p:anim calcmode="lin" valueType="num">
                                      <p:cBhvr additive="base">
                                        <p:cTn id="22" dur="500" fill="hold"/>
                                        <p:tgtEl>
                                          <p:spTgt spid="44852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8" grpId="0" build="p"/>
      <p:bldP spid="448519" grpId="0" animBg="1"/>
      <p:bldP spid="4485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a:defRPr/>
            </a:pPr>
            <a:r>
              <a:rPr lang="nl-NL" sz="3600" dirty="0"/>
              <a:t>Point of attention </a:t>
            </a:r>
            <a:r>
              <a:rPr lang="nl-NL" sz="3600" dirty="0" err="1"/>
              <a:t>reference</a:t>
            </a:r>
            <a:r>
              <a:rPr lang="nl-NL" sz="3600" dirty="0"/>
              <a:t> list</a:t>
            </a:r>
          </a:p>
        </p:txBody>
      </p:sp>
      <p:sp>
        <p:nvSpPr>
          <p:cNvPr id="74754" name="Rectangle 5"/>
          <p:cNvSpPr>
            <a:spLocks noGrp="1" noChangeArrowheads="1"/>
          </p:cNvSpPr>
          <p:nvPr>
            <p:ph idx="1"/>
          </p:nvPr>
        </p:nvSpPr>
        <p:spPr>
          <a:xfrm>
            <a:off x="750945" y="3178202"/>
            <a:ext cx="10653176" cy="2667000"/>
          </a:xfrm>
        </p:spPr>
        <p:txBody>
          <a:bodyPr>
            <a:normAutofit/>
          </a:bodyPr>
          <a:lstStyle/>
          <a:p>
            <a:pPr eaLnBrk="1" hangingPunct="1">
              <a:buFontTx/>
              <a:buNone/>
            </a:pPr>
            <a:endParaRPr lang="nl-NL" altLang="nl-NL" sz="2800" dirty="0"/>
          </a:p>
          <a:p>
            <a:pPr eaLnBrk="1" hangingPunct="1">
              <a:buFontTx/>
              <a:buNone/>
            </a:pPr>
            <a:endParaRPr lang="nl-NL" altLang="nl-NL" sz="2800" dirty="0"/>
          </a:p>
          <a:p>
            <a:pPr eaLnBrk="1" hangingPunct="1">
              <a:buFontTx/>
              <a:buNone/>
            </a:pPr>
            <a:r>
              <a:rPr lang="nl-NL" altLang="nl-NL" sz="2800" dirty="0" err="1"/>
              <a:t>Haidt</a:t>
            </a:r>
            <a:r>
              <a:rPr lang="nl-NL" altLang="nl-NL" sz="2800" dirty="0"/>
              <a:t>, J., Koller, S. H., &amp; Dias, M. G. (1993). Affect, culture, and morality, or is it wrong to eat your dog?</a:t>
            </a:r>
            <a:r>
              <a:rPr lang="en-GB" altLang="nl-NL" sz="2800" i="1" dirty="0"/>
              <a:t> Journal of Personality and Social Psychology, 65 </a:t>
            </a:r>
            <a:r>
              <a:rPr lang="nl-NL" altLang="nl-NL" sz="2800" dirty="0"/>
              <a:t>(4), 613-628. </a:t>
            </a:r>
            <a:endParaRPr lang="en-GB" altLang="nl-NL" sz="2800" dirty="0"/>
          </a:p>
        </p:txBody>
      </p:sp>
      <p:pic>
        <p:nvPicPr>
          <p:cNvPr id="7475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909" y="1375165"/>
            <a:ext cx="85248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4"/>
          <p:cNvPicPr>
            <a:picLocks noChangeAspect="1" noChangeArrowheads="1"/>
          </p:cNvPicPr>
          <p:nvPr/>
        </p:nvPicPr>
        <p:blipFill>
          <a:blip r:embed="rId4">
            <a:extLst>
              <a:ext uri="{28A0092B-C50C-407E-A947-70E740481C1C}">
                <a14:useLocalDpi xmlns:a14="http://schemas.microsoft.com/office/drawing/2010/main" val="0"/>
              </a:ext>
            </a:extLst>
          </a:blip>
          <a:srcRect b="12242"/>
          <a:stretch>
            <a:fillRect/>
          </a:stretch>
        </p:blipFill>
        <p:spPr bwMode="auto">
          <a:xfrm>
            <a:off x="655367" y="3235268"/>
            <a:ext cx="8461375" cy="336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9542" name="Oval 6"/>
          <p:cNvSpPr>
            <a:spLocks noChangeArrowheads="1"/>
          </p:cNvSpPr>
          <p:nvPr/>
        </p:nvSpPr>
        <p:spPr bwMode="auto">
          <a:xfrm>
            <a:off x="1786387" y="3228702"/>
            <a:ext cx="613912" cy="581537"/>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800" b="1" i="1">
                <a:solidFill>
                  <a:srgbClr val="FFD200"/>
                </a:solidFill>
                <a:latin typeface="Times New Roman" pitchFamily="18" charset="0"/>
              </a:defRPr>
            </a:lvl1pPr>
            <a:lvl2pPr marL="742950" indent="-285750" eaLnBrk="0" hangingPunct="0">
              <a:defRPr sz="4800" b="1" i="1">
                <a:solidFill>
                  <a:srgbClr val="FFD200"/>
                </a:solidFill>
                <a:latin typeface="Times New Roman" pitchFamily="18" charset="0"/>
              </a:defRPr>
            </a:lvl2pPr>
            <a:lvl3pPr marL="1143000" indent="-228600" eaLnBrk="0" hangingPunct="0">
              <a:defRPr sz="4800" b="1" i="1">
                <a:solidFill>
                  <a:srgbClr val="FFD200"/>
                </a:solidFill>
                <a:latin typeface="Times New Roman" pitchFamily="18" charset="0"/>
              </a:defRPr>
            </a:lvl3pPr>
            <a:lvl4pPr marL="1600200" indent="-228600" eaLnBrk="0" hangingPunct="0">
              <a:defRPr sz="4800" b="1" i="1">
                <a:solidFill>
                  <a:srgbClr val="FFD200"/>
                </a:solidFill>
                <a:latin typeface="Times New Roman" pitchFamily="18" charset="0"/>
              </a:defRPr>
            </a:lvl4pPr>
            <a:lvl5pPr marL="2057400" indent="-228600" eaLnBrk="0" hangingPunct="0">
              <a:defRPr sz="4800" b="1" i="1">
                <a:solidFill>
                  <a:srgbClr val="FFD200"/>
                </a:solidFill>
                <a:latin typeface="Times New Roman" pitchFamily="18" charset="0"/>
              </a:defRPr>
            </a:lvl5pPr>
            <a:lvl6pPr marL="2514600" indent="-228600" eaLnBrk="0" fontAlgn="base" hangingPunct="0">
              <a:spcBef>
                <a:spcPct val="0"/>
              </a:spcBef>
              <a:spcAft>
                <a:spcPct val="0"/>
              </a:spcAft>
              <a:defRPr sz="4800" b="1" i="1">
                <a:solidFill>
                  <a:srgbClr val="FFD200"/>
                </a:solidFill>
                <a:latin typeface="Times New Roman" pitchFamily="18" charset="0"/>
              </a:defRPr>
            </a:lvl6pPr>
            <a:lvl7pPr marL="2971800" indent="-228600" eaLnBrk="0" fontAlgn="base" hangingPunct="0">
              <a:spcBef>
                <a:spcPct val="0"/>
              </a:spcBef>
              <a:spcAft>
                <a:spcPct val="0"/>
              </a:spcAft>
              <a:defRPr sz="4800" b="1" i="1">
                <a:solidFill>
                  <a:srgbClr val="FFD200"/>
                </a:solidFill>
                <a:latin typeface="Times New Roman" pitchFamily="18" charset="0"/>
              </a:defRPr>
            </a:lvl7pPr>
            <a:lvl8pPr marL="3429000" indent="-228600" eaLnBrk="0" fontAlgn="base" hangingPunct="0">
              <a:spcBef>
                <a:spcPct val="0"/>
              </a:spcBef>
              <a:spcAft>
                <a:spcPct val="0"/>
              </a:spcAft>
              <a:defRPr sz="4800" b="1" i="1">
                <a:solidFill>
                  <a:srgbClr val="FFD200"/>
                </a:solidFill>
                <a:latin typeface="Times New Roman" pitchFamily="18" charset="0"/>
              </a:defRPr>
            </a:lvl8pPr>
            <a:lvl9pPr marL="3886200" indent="-228600" eaLnBrk="0" fontAlgn="base" hangingPunct="0">
              <a:spcBef>
                <a:spcPct val="0"/>
              </a:spcBef>
              <a:spcAft>
                <a:spcPct val="0"/>
              </a:spcAft>
              <a:defRPr sz="4800" b="1" i="1">
                <a:solidFill>
                  <a:srgbClr val="FFD200"/>
                </a:solidFill>
                <a:latin typeface="Times New Roman" pitchFamily="18" charset="0"/>
              </a:defRPr>
            </a:lvl9pPr>
          </a:lstStyle>
          <a:p>
            <a:pPr defTabSz="914377" eaLnBrk="1" hangingPunct="1">
              <a:defRPr/>
            </a:pPr>
            <a:endParaRPr lang="en-US" altLang="nl-NL" dirty="0"/>
          </a:p>
        </p:txBody>
      </p:sp>
      <p:sp>
        <p:nvSpPr>
          <p:cNvPr id="449543" name="Oval 7"/>
          <p:cNvSpPr>
            <a:spLocks noChangeArrowheads="1"/>
          </p:cNvSpPr>
          <p:nvPr/>
        </p:nvSpPr>
        <p:spPr bwMode="auto">
          <a:xfrm>
            <a:off x="9367911" y="4135464"/>
            <a:ext cx="351693" cy="75247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800" b="1" i="1">
                <a:solidFill>
                  <a:srgbClr val="FFD200"/>
                </a:solidFill>
                <a:latin typeface="Times New Roman" pitchFamily="18" charset="0"/>
              </a:defRPr>
            </a:lvl1pPr>
            <a:lvl2pPr marL="742950" indent="-285750" eaLnBrk="0" hangingPunct="0">
              <a:defRPr sz="4800" b="1" i="1">
                <a:solidFill>
                  <a:srgbClr val="FFD200"/>
                </a:solidFill>
                <a:latin typeface="Times New Roman" pitchFamily="18" charset="0"/>
              </a:defRPr>
            </a:lvl2pPr>
            <a:lvl3pPr marL="1143000" indent="-228600" eaLnBrk="0" hangingPunct="0">
              <a:defRPr sz="4800" b="1" i="1">
                <a:solidFill>
                  <a:srgbClr val="FFD200"/>
                </a:solidFill>
                <a:latin typeface="Times New Roman" pitchFamily="18" charset="0"/>
              </a:defRPr>
            </a:lvl3pPr>
            <a:lvl4pPr marL="1600200" indent="-228600" eaLnBrk="0" hangingPunct="0">
              <a:defRPr sz="4800" b="1" i="1">
                <a:solidFill>
                  <a:srgbClr val="FFD200"/>
                </a:solidFill>
                <a:latin typeface="Times New Roman" pitchFamily="18" charset="0"/>
              </a:defRPr>
            </a:lvl4pPr>
            <a:lvl5pPr marL="2057400" indent="-228600" eaLnBrk="0" hangingPunct="0">
              <a:defRPr sz="4800" b="1" i="1">
                <a:solidFill>
                  <a:srgbClr val="FFD200"/>
                </a:solidFill>
                <a:latin typeface="Times New Roman" pitchFamily="18" charset="0"/>
              </a:defRPr>
            </a:lvl5pPr>
            <a:lvl6pPr marL="2514600" indent="-228600" eaLnBrk="0" fontAlgn="base" hangingPunct="0">
              <a:spcBef>
                <a:spcPct val="0"/>
              </a:spcBef>
              <a:spcAft>
                <a:spcPct val="0"/>
              </a:spcAft>
              <a:defRPr sz="4800" b="1" i="1">
                <a:solidFill>
                  <a:srgbClr val="FFD200"/>
                </a:solidFill>
                <a:latin typeface="Times New Roman" pitchFamily="18" charset="0"/>
              </a:defRPr>
            </a:lvl6pPr>
            <a:lvl7pPr marL="2971800" indent="-228600" eaLnBrk="0" fontAlgn="base" hangingPunct="0">
              <a:spcBef>
                <a:spcPct val="0"/>
              </a:spcBef>
              <a:spcAft>
                <a:spcPct val="0"/>
              </a:spcAft>
              <a:defRPr sz="4800" b="1" i="1">
                <a:solidFill>
                  <a:srgbClr val="FFD200"/>
                </a:solidFill>
                <a:latin typeface="Times New Roman" pitchFamily="18" charset="0"/>
              </a:defRPr>
            </a:lvl7pPr>
            <a:lvl8pPr marL="3429000" indent="-228600" eaLnBrk="0" fontAlgn="base" hangingPunct="0">
              <a:spcBef>
                <a:spcPct val="0"/>
              </a:spcBef>
              <a:spcAft>
                <a:spcPct val="0"/>
              </a:spcAft>
              <a:defRPr sz="4800" b="1" i="1">
                <a:solidFill>
                  <a:srgbClr val="FFD200"/>
                </a:solidFill>
                <a:latin typeface="Times New Roman" pitchFamily="18" charset="0"/>
              </a:defRPr>
            </a:lvl8pPr>
            <a:lvl9pPr marL="3886200" indent="-228600" eaLnBrk="0" fontAlgn="base" hangingPunct="0">
              <a:spcBef>
                <a:spcPct val="0"/>
              </a:spcBef>
              <a:spcAft>
                <a:spcPct val="0"/>
              </a:spcAft>
              <a:defRPr sz="4800" b="1" i="1">
                <a:solidFill>
                  <a:srgbClr val="FFD200"/>
                </a:solidFill>
                <a:latin typeface="Times New Roman" pitchFamily="18" charset="0"/>
              </a:defRPr>
            </a:lvl9pPr>
          </a:lstStyle>
          <a:p>
            <a:pPr defTabSz="914377" eaLnBrk="1" hangingPunct="1">
              <a:defRPr/>
            </a:pPr>
            <a:endParaRPr lang="en-US" altLang="nl-NL" dirty="0"/>
          </a:p>
        </p:txBody>
      </p:sp>
    </p:spTree>
    <p:extLst>
      <p:ext uri="{BB962C8B-B14F-4D97-AF65-F5344CB8AC3E}">
        <p14:creationId xmlns:p14="http://schemas.microsoft.com/office/powerpoint/2010/main" val="1903770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grpId="0" nodeType="clickEffect">
                                  <p:stCondLst>
                                    <p:cond delay="0"/>
                                  </p:stCondLst>
                                  <p:childTnLst>
                                    <p:set>
                                      <p:cBhvr>
                                        <p:cTn id="6" dur="1" fill="hold">
                                          <p:stCondLst>
                                            <p:cond delay="0"/>
                                          </p:stCondLst>
                                        </p:cTn>
                                        <p:tgtEl>
                                          <p:spTgt spid="449542"/>
                                        </p:tgtEl>
                                        <p:attrNameLst>
                                          <p:attrName>style.visibility</p:attrName>
                                        </p:attrNameLst>
                                      </p:cBhvr>
                                      <p:to>
                                        <p:strVal val="visible"/>
                                      </p:to>
                                    </p:set>
                                    <p:anim calcmode="lin" valueType="num">
                                      <p:cBhvr additive="base">
                                        <p:cTn id="7" dur="500" fill="hold"/>
                                        <p:tgtEl>
                                          <p:spTgt spid="449542"/>
                                        </p:tgtEl>
                                        <p:attrNameLst>
                                          <p:attrName>ppt_x</p:attrName>
                                        </p:attrNameLst>
                                      </p:cBhvr>
                                      <p:tavLst>
                                        <p:tav tm="0">
                                          <p:val>
                                            <p:strVal val="1+#ppt_w/2"/>
                                          </p:val>
                                        </p:tav>
                                        <p:tav tm="100000">
                                          <p:val>
                                            <p:strVal val="#ppt_x"/>
                                          </p:val>
                                        </p:tav>
                                      </p:tavLst>
                                    </p:anim>
                                    <p:anim calcmode="lin" valueType="num">
                                      <p:cBhvr additive="base">
                                        <p:cTn id="8" dur="500" fill="hold"/>
                                        <p:tgtEl>
                                          <p:spTgt spid="44954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449543"/>
                                        </p:tgtEl>
                                        <p:attrNameLst>
                                          <p:attrName>style.visibility</p:attrName>
                                        </p:attrNameLst>
                                      </p:cBhvr>
                                      <p:to>
                                        <p:strVal val="visible"/>
                                      </p:to>
                                    </p:set>
                                    <p:anim calcmode="lin" valueType="num">
                                      <p:cBhvr additive="base">
                                        <p:cTn id="13" dur="500" fill="hold"/>
                                        <p:tgtEl>
                                          <p:spTgt spid="449543"/>
                                        </p:tgtEl>
                                        <p:attrNameLst>
                                          <p:attrName>ppt_x</p:attrName>
                                        </p:attrNameLst>
                                      </p:cBhvr>
                                      <p:tavLst>
                                        <p:tav tm="0">
                                          <p:val>
                                            <p:strVal val="1+#ppt_w/2"/>
                                          </p:val>
                                        </p:tav>
                                        <p:tav tm="100000">
                                          <p:val>
                                            <p:strVal val="#ppt_x"/>
                                          </p:val>
                                        </p:tav>
                                      </p:tavLst>
                                    </p:anim>
                                    <p:anim calcmode="lin" valueType="num">
                                      <p:cBhvr additive="base">
                                        <p:cTn id="14" dur="500" fill="hold"/>
                                        <p:tgtEl>
                                          <p:spTgt spid="4495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2" grpId="0" animBg="1"/>
      <p:bldP spid="44954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BD1DC-2441-4D8A-B198-0EF4FDC25C9D}"/>
              </a:ext>
            </a:extLst>
          </p:cNvPr>
          <p:cNvSpPr>
            <a:spLocks noGrp="1"/>
          </p:cNvSpPr>
          <p:nvPr>
            <p:ph type="title"/>
          </p:nvPr>
        </p:nvSpPr>
        <p:spPr/>
        <p:txBody>
          <a:bodyPr/>
          <a:lstStyle/>
          <a:p>
            <a:r>
              <a:rPr lang="en-GB" dirty="0"/>
              <a:t>How often and where to place a reference?</a:t>
            </a:r>
          </a:p>
        </p:txBody>
      </p:sp>
      <p:sp>
        <p:nvSpPr>
          <p:cNvPr id="3" name="Content Placeholder 2">
            <a:extLst>
              <a:ext uri="{FF2B5EF4-FFF2-40B4-BE49-F238E27FC236}">
                <a16:creationId xmlns:a16="http://schemas.microsoft.com/office/drawing/2014/main" id="{E70BFB23-89A9-42CB-82DE-FEAFF19DB54A}"/>
              </a:ext>
            </a:extLst>
          </p:cNvPr>
          <p:cNvSpPr>
            <a:spLocks noGrp="1"/>
          </p:cNvSpPr>
          <p:nvPr>
            <p:ph idx="1"/>
          </p:nvPr>
        </p:nvSpPr>
        <p:spPr/>
        <p:txBody>
          <a:bodyPr/>
          <a:lstStyle/>
          <a:p>
            <a:pPr>
              <a:lnSpc>
                <a:spcPct val="107000"/>
              </a:lnSpc>
              <a:spcAft>
                <a:spcPts val="800"/>
              </a:spcAft>
            </a:pPr>
            <a:r>
              <a:rPr lang="en-US" sz="2800" dirty="0">
                <a:effectLst/>
                <a:ea typeface="Times New Roman" panose="02020603050405020304" pitchFamily="18" charset="0"/>
                <a:cs typeface="Times New Roman" panose="02020603050405020304" pitchFamily="18" charset="0"/>
              </a:rPr>
              <a:t>It is important to provide correct references for </a:t>
            </a:r>
            <a:r>
              <a:rPr lang="en-US" sz="2800" b="1" dirty="0">
                <a:effectLst/>
                <a:ea typeface="Times New Roman" panose="02020603050405020304" pitchFamily="18" charset="0"/>
                <a:cs typeface="Times New Roman" panose="02020603050405020304" pitchFamily="18" charset="0"/>
              </a:rPr>
              <a:t>any</a:t>
            </a:r>
            <a:r>
              <a:rPr lang="en-US" sz="2800" dirty="0">
                <a:effectLst/>
                <a:ea typeface="Times New Roman" panose="02020603050405020304" pitchFamily="18" charset="0"/>
                <a:cs typeface="Times New Roman" panose="02020603050405020304" pitchFamily="18" charset="0"/>
              </a:rPr>
              <a:t> information coming from another source</a:t>
            </a:r>
          </a:p>
          <a:p>
            <a:pPr>
              <a:lnSpc>
                <a:spcPct val="107000"/>
              </a:lnSpc>
              <a:spcAft>
                <a:spcPts val="800"/>
              </a:spcAft>
            </a:pPr>
            <a:r>
              <a:rPr lang="en-US" sz="2800" dirty="0">
                <a:ea typeface="Times New Roman" panose="02020603050405020304" pitchFamily="18" charset="0"/>
                <a:cs typeface="Times New Roman" panose="02020603050405020304" pitchFamily="18" charset="0"/>
              </a:rPr>
              <a:t>Use references to substantiate ideas/connections/conclusions</a:t>
            </a:r>
            <a:endParaRPr lang="en-US" sz="2800" dirty="0">
              <a:effectLst/>
              <a:ea typeface="Times New Roman" panose="02020603050405020304" pitchFamily="18" charset="0"/>
              <a:cs typeface="Times New Roman" panose="02020603050405020304" pitchFamily="18" charset="0"/>
            </a:endParaRPr>
          </a:p>
          <a:p>
            <a:pPr>
              <a:lnSpc>
                <a:spcPct val="107000"/>
              </a:lnSpc>
              <a:spcAft>
                <a:spcPts val="800"/>
              </a:spcAft>
            </a:pPr>
            <a:r>
              <a:rPr lang="en-US" sz="2800" dirty="0">
                <a:effectLst/>
                <a:ea typeface="Times New Roman" panose="02020603050405020304" pitchFamily="18" charset="0"/>
                <a:cs typeface="Times New Roman" panose="02020603050405020304" pitchFamily="18" charset="0"/>
              </a:rPr>
              <a:t>Cite as early as possible (in first sentence in which it is relevant)</a:t>
            </a:r>
          </a:p>
          <a:p>
            <a:pPr>
              <a:lnSpc>
                <a:spcPct val="107000"/>
              </a:lnSpc>
              <a:spcAft>
                <a:spcPts val="800"/>
              </a:spcAft>
            </a:pPr>
            <a:endParaRPr lang="en-US" sz="2800" dirty="0">
              <a:effectLst/>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n-US" sz="2800" dirty="0">
                <a:ea typeface="Times New Roman" panose="02020603050405020304" pitchFamily="18" charset="0"/>
                <a:cs typeface="Times New Roman" panose="02020603050405020304" pitchFamily="18" charset="0"/>
              </a:rPr>
              <a:t>Note:</a:t>
            </a:r>
          </a:p>
          <a:p>
            <a:pPr marL="0" indent="0">
              <a:lnSpc>
                <a:spcPct val="107000"/>
              </a:lnSpc>
              <a:spcAft>
                <a:spcPts val="800"/>
              </a:spcAft>
              <a:buNone/>
            </a:pPr>
            <a:r>
              <a:rPr lang="en-US" dirty="0">
                <a:effectLst/>
                <a:ea typeface="Times New Roman" panose="02020603050405020304" pitchFamily="18" charset="0"/>
                <a:cs typeface="Times New Roman" panose="02020603050405020304" pitchFamily="18" charset="0"/>
              </a:rPr>
              <a:t>In </a:t>
            </a:r>
            <a:r>
              <a:rPr lang="en-US" b="1" dirty="0">
                <a:effectLst/>
                <a:ea typeface="Times New Roman" panose="02020603050405020304" pitchFamily="18" charset="0"/>
                <a:cs typeface="Times New Roman" panose="02020603050405020304" pitchFamily="18" charset="0"/>
              </a:rPr>
              <a:t>paragraphs</a:t>
            </a:r>
            <a:r>
              <a:rPr lang="en-US" dirty="0">
                <a:effectLst/>
                <a:ea typeface="Times New Roman" panose="02020603050405020304" pitchFamily="18" charset="0"/>
                <a:cs typeface="Times New Roman" panose="02020603050405020304" pitchFamily="18" charset="0"/>
              </a:rPr>
              <a:t> that contain </a:t>
            </a:r>
            <a:r>
              <a:rPr lang="en-US" b="1" dirty="0">
                <a:effectLst/>
                <a:ea typeface="Times New Roman" panose="02020603050405020304" pitchFamily="18" charset="0"/>
                <a:cs typeface="Times New Roman" panose="02020603050405020304" pitchFamily="18" charset="0"/>
              </a:rPr>
              <a:t>one</a:t>
            </a:r>
            <a:r>
              <a:rPr lang="en-US" dirty="0">
                <a:effectLst/>
                <a:ea typeface="Times New Roman" panose="02020603050405020304" pitchFamily="18" charset="0"/>
                <a:cs typeface="Times New Roman" panose="02020603050405020304" pitchFamily="18" charset="0"/>
              </a:rPr>
              <a:t> overall instance of paraphrased information, “</a:t>
            </a:r>
            <a:r>
              <a:rPr lang="en-US" b="1" dirty="0">
                <a:effectLst/>
                <a:ea typeface="Times New Roman" panose="02020603050405020304" pitchFamily="18" charset="0"/>
                <a:cs typeface="Times New Roman" panose="02020603050405020304" pitchFamily="18" charset="0"/>
              </a:rPr>
              <a:t>cite</a:t>
            </a:r>
            <a:r>
              <a:rPr lang="en-US" dirty="0">
                <a:effectLst/>
                <a:ea typeface="Times New Roman" panose="02020603050405020304" pitchFamily="18" charset="0"/>
                <a:cs typeface="Times New Roman" panose="02020603050405020304" pitchFamily="18" charset="0"/>
              </a:rPr>
              <a:t> the </a:t>
            </a:r>
            <a:r>
              <a:rPr lang="en-US" b="1" dirty="0">
                <a:effectLst/>
                <a:ea typeface="Times New Roman" panose="02020603050405020304" pitchFamily="18" charset="0"/>
                <a:cs typeface="Times New Roman" panose="02020603050405020304" pitchFamily="18" charset="0"/>
              </a:rPr>
              <a:t>source</a:t>
            </a:r>
            <a:r>
              <a:rPr lang="en-US" dirty="0">
                <a:effectLst/>
                <a:ea typeface="Times New Roman" panose="02020603050405020304" pitchFamily="18" charset="0"/>
                <a:cs typeface="Times New Roman" panose="02020603050405020304" pitchFamily="18" charset="0"/>
              </a:rPr>
              <a:t> in the </a:t>
            </a:r>
            <a:r>
              <a:rPr lang="en-US" b="1" dirty="0">
                <a:effectLst/>
                <a:ea typeface="Times New Roman" panose="02020603050405020304" pitchFamily="18" charset="0"/>
                <a:cs typeface="Times New Roman" panose="02020603050405020304" pitchFamily="18" charset="0"/>
              </a:rPr>
              <a:t>first sentence </a:t>
            </a:r>
            <a:r>
              <a:rPr lang="en-US" dirty="0">
                <a:effectLst/>
                <a:ea typeface="Times New Roman" panose="02020603050405020304" pitchFamily="18" charset="0"/>
                <a:cs typeface="Times New Roman" panose="02020603050405020304" pitchFamily="18" charset="0"/>
              </a:rPr>
              <a:t>in which it is relevant and </a:t>
            </a:r>
            <a:r>
              <a:rPr lang="en-US" b="1" dirty="0">
                <a:effectLst/>
                <a:ea typeface="Times New Roman" panose="02020603050405020304" pitchFamily="18" charset="0"/>
                <a:cs typeface="Times New Roman" panose="02020603050405020304" pitchFamily="18" charset="0"/>
              </a:rPr>
              <a:t>do not repeat the citation </a:t>
            </a:r>
            <a:r>
              <a:rPr lang="en-US" dirty="0">
                <a:effectLst/>
                <a:ea typeface="Times New Roman" panose="02020603050405020304" pitchFamily="18" charset="0"/>
                <a:cs typeface="Times New Roman" panose="02020603050405020304" pitchFamily="18" charset="0"/>
              </a:rPr>
              <a:t>in subsequent sentences as long as the source remains clear and unchanged” (</a:t>
            </a:r>
            <a:r>
              <a:rPr lang="en-US" b="1" dirty="0">
                <a:effectLst/>
                <a:ea typeface="Times New Roman" panose="02020603050405020304" pitchFamily="18" charset="0"/>
                <a:cs typeface="Times New Roman" panose="02020603050405020304" pitchFamily="18" charset="0"/>
              </a:rPr>
              <a:t>American Psychological Association</a:t>
            </a:r>
            <a:r>
              <a:rPr lang="en-US" dirty="0">
                <a:effectLst/>
                <a:ea typeface="Times New Roman" panose="02020603050405020304" pitchFamily="18" charset="0"/>
                <a:cs typeface="Times New Roman" panose="02020603050405020304" pitchFamily="18" charset="0"/>
              </a:rPr>
              <a:t>, 2020, p. 254).</a:t>
            </a:r>
            <a:endParaRPr lang="nl-NL" dirty="0">
              <a:effectLst/>
              <a:ea typeface="Calibri" panose="020F0502020204030204" pitchFamily="34" charset="0"/>
              <a:cs typeface="Times New Roman" panose="02020603050405020304" pitchFamily="18" charset="0"/>
            </a:endParaRPr>
          </a:p>
          <a:p>
            <a:pPr marL="0" indent="0">
              <a:lnSpc>
                <a:spcPct val="107000"/>
              </a:lnSpc>
              <a:spcAft>
                <a:spcPts val="800"/>
              </a:spcAft>
              <a:buNone/>
            </a:pPr>
            <a:endParaRPr lang="nl-NL"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244345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A4412-0F3F-468D-A210-5EED42525110}"/>
              </a:ext>
            </a:extLst>
          </p:cNvPr>
          <p:cNvSpPr>
            <a:spLocks noGrp="1"/>
          </p:cNvSpPr>
          <p:nvPr>
            <p:ph type="title"/>
          </p:nvPr>
        </p:nvSpPr>
        <p:spPr/>
        <p:txBody>
          <a:bodyPr/>
          <a:lstStyle/>
          <a:p>
            <a:r>
              <a:rPr lang="en-GB" dirty="0"/>
              <a:t>Tips Applying APA-guidelines</a:t>
            </a:r>
          </a:p>
        </p:txBody>
      </p:sp>
      <p:sp>
        <p:nvSpPr>
          <p:cNvPr id="3" name="Content Placeholder 2">
            <a:extLst>
              <a:ext uri="{FF2B5EF4-FFF2-40B4-BE49-F238E27FC236}">
                <a16:creationId xmlns:a16="http://schemas.microsoft.com/office/drawing/2014/main" id="{875619A5-7239-490A-AFAF-2D1C4322320C}"/>
              </a:ext>
            </a:extLst>
          </p:cNvPr>
          <p:cNvSpPr>
            <a:spLocks noGrp="1"/>
          </p:cNvSpPr>
          <p:nvPr>
            <p:ph idx="1"/>
          </p:nvPr>
        </p:nvSpPr>
        <p:spPr/>
        <p:txBody>
          <a:bodyPr/>
          <a:lstStyle/>
          <a:p>
            <a:r>
              <a:rPr lang="en-US" sz="2800" dirty="0">
                <a:effectLst/>
                <a:ea typeface="Times New Roman" panose="02020603050405020304" pitchFamily="18" charset="0"/>
                <a:cs typeface="Times New Roman" panose="02020603050405020304" pitchFamily="18" charset="0"/>
              </a:rPr>
              <a:t>Follow the APA-guidelines by the letter!</a:t>
            </a:r>
          </a:p>
          <a:p>
            <a:r>
              <a:rPr lang="en-US" sz="2800" dirty="0">
                <a:effectLst/>
                <a:ea typeface="Times New Roman" panose="02020603050405020304" pitchFamily="18" charset="0"/>
                <a:cs typeface="Times New Roman" panose="02020603050405020304" pitchFamily="18" charset="0"/>
              </a:rPr>
              <a:t>All </a:t>
            </a:r>
            <a:r>
              <a:rPr lang="en-US" sz="2800" dirty="0">
                <a:ea typeface="Times New Roman" panose="02020603050405020304" pitchFamily="18" charset="0"/>
                <a:cs typeface="Times New Roman" panose="02020603050405020304" pitchFamily="18" charset="0"/>
              </a:rPr>
              <a:t>the information </a:t>
            </a:r>
            <a:r>
              <a:rPr lang="en-US" sz="2800" dirty="0">
                <a:effectLst/>
                <a:ea typeface="Times New Roman" panose="02020603050405020304" pitchFamily="18" charset="0"/>
                <a:cs typeface="Times New Roman" panose="02020603050405020304" pitchFamily="18" charset="0"/>
              </a:rPr>
              <a:t>in your report should be backed</a:t>
            </a:r>
            <a:r>
              <a:rPr lang="en-US" sz="2800" dirty="0">
                <a:ea typeface="Times New Roman" panose="02020603050405020304" pitchFamily="18" charset="0"/>
                <a:cs typeface="Times New Roman" panose="02020603050405020304" pitchFamily="18" charset="0"/>
              </a:rPr>
              <a:t>-</a:t>
            </a:r>
            <a:r>
              <a:rPr lang="en-US" sz="2800" dirty="0">
                <a:effectLst/>
                <a:ea typeface="Times New Roman" panose="02020603050405020304" pitchFamily="18" charset="0"/>
                <a:cs typeface="Times New Roman" panose="02020603050405020304" pitchFamily="18" charset="0"/>
              </a:rPr>
              <a:t>up </a:t>
            </a:r>
            <a:r>
              <a:rPr lang="en-US" sz="2800" dirty="0">
                <a:ea typeface="Times New Roman" panose="02020603050405020304" pitchFamily="18" charset="0"/>
                <a:cs typeface="Times New Roman" panose="02020603050405020304" pitchFamily="18" charset="0"/>
              </a:rPr>
              <a:t>by a reference</a:t>
            </a:r>
            <a:endParaRPr lang="en-US" sz="2800" dirty="0">
              <a:effectLst/>
              <a:ea typeface="Times New Roman" panose="02020603050405020304" pitchFamily="18" charset="0"/>
              <a:cs typeface="Times New Roman" panose="02020603050405020304" pitchFamily="18" charset="0"/>
            </a:endParaRPr>
          </a:p>
          <a:p>
            <a:r>
              <a:rPr lang="en-GB" sz="2800" dirty="0"/>
              <a:t>Mainly use primary sources (empirical articles)</a:t>
            </a:r>
          </a:p>
          <a:p>
            <a:r>
              <a:rPr lang="en-GB" sz="2800" dirty="0"/>
              <a:t>Search for the original source when you come across an interesting point in another source </a:t>
            </a:r>
          </a:p>
          <a:p>
            <a:r>
              <a:rPr lang="en-GB" sz="2800" dirty="0"/>
              <a:t>Format your paper according to APA-7 student paper style (see sample reports on Canvas)</a:t>
            </a:r>
          </a:p>
          <a:p>
            <a:endParaRPr lang="en-GB" sz="2800" dirty="0"/>
          </a:p>
          <a:p>
            <a:r>
              <a:rPr lang="nl-NL" sz="2800" dirty="0"/>
              <a:t>Have a </a:t>
            </a:r>
            <a:r>
              <a:rPr lang="en-US" sz="2800" dirty="0"/>
              <a:t>look at the articles you've read for your report: </a:t>
            </a:r>
          </a:p>
          <a:p>
            <a:pPr marL="0" indent="0">
              <a:buNone/>
            </a:pPr>
            <a:r>
              <a:rPr lang="en-US" sz="2800" dirty="0"/>
              <a:t>	- How often do authors refer to other sources?</a:t>
            </a:r>
          </a:p>
          <a:p>
            <a:pPr marL="0" indent="0">
              <a:buNone/>
            </a:pPr>
            <a:r>
              <a:rPr lang="en-US" sz="2800" dirty="0"/>
              <a:t>	- Where are the references placed?</a:t>
            </a:r>
          </a:p>
        </p:txBody>
      </p:sp>
    </p:spTree>
    <p:extLst>
      <p:ext uri="{BB962C8B-B14F-4D97-AF65-F5344CB8AC3E}">
        <p14:creationId xmlns:p14="http://schemas.microsoft.com/office/powerpoint/2010/main" val="2312046263"/>
      </p:ext>
    </p:extLst>
  </p:cSld>
  <p:clrMapOvr>
    <a:masterClrMapping/>
  </p:clrMapOvr>
</p:sld>
</file>

<file path=ppt/theme/theme1.xml><?xml version="1.0" encoding="utf-8"?>
<a:theme xmlns:a="http://schemas.openxmlformats.org/drawingml/2006/main" name="EUR_Presentatie_c18">
  <a:themeElements>
    <a:clrScheme name="Erasmus_Corporate">
      <a:dk1>
        <a:srgbClr val="002328"/>
      </a:dk1>
      <a:lt1>
        <a:sysClr val="window" lastClr="FFFFFF"/>
      </a:lt1>
      <a:dk2>
        <a:srgbClr val="00B969"/>
      </a:dk2>
      <a:lt2>
        <a:srgbClr val="9C9C9C"/>
      </a:lt2>
      <a:accent1>
        <a:srgbClr val="E3DAD8"/>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8055_Erasmus_ESSB_template_NL_16x9.pptx" id="{3ADC2819-0082-4205-AE01-17D45B78D08B}" vid="{FB905D5A-2361-465A-9AF5-4D716AA81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9A19BEFAF19E48A98499F0DCDB9845" ma:contentTypeVersion="14" ma:contentTypeDescription="Een nieuw document maken." ma:contentTypeScope="" ma:versionID="dffcc917a2dfb5bf427c53bfabe8ad2f">
  <xsd:schema xmlns:xsd="http://www.w3.org/2001/XMLSchema" xmlns:xs="http://www.w3.org/2001/XMLSchema" xmlns:p="http://schemas.microsoft.com/office/2006/metadata/properties" xmlns:ns2="e6184cdb-27b6-4fa9-b428-d3569f95926d" xmlns:ns3="ee5a7209-f4a2-4b85-bc1d-e34763a728ef" targetNamespace="http://schemas.microsoft.com/office/2006/metadata/properties" ma:root="true" ma:fieldsID="4949b5f5b4be31355d1afa7280bf2e3f" ns2:_="" ns3:_="">
    <xsd:import namespace="e6184cdb-27b6-4fa9-b428-d3569f95926d"/>
    <xsd:import namespace="ee5a7209-f4a2-4b85-bc1d-e34763a728e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184cdb-27b6-4fa9-b428-d3569f9592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d5e0f8d3-5d55-42d7-8108-7e842a0d744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5a7209-f4a2-4b85-bc1d-e34763a728ef"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9" nillable="true" ma:displayName="Taxonomy Catch All Column" ma:hidden="true" ma:list="{9f77011e-3075-432b-a5a0-f9ab8acea8dd}" ma:internalName="TaxCatchAll" ma:showField="CatchAllData" ma:web="ee5a7209-f4a2-4b85-bc1d-e34763a728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6184cdb-27b6-4fa9-b428-d3569f95926d">
      <Terms xmlns="http://schemas.microsoft.com/office/infopath/2007/PartnerControls"/>
    </lcf76f155ced4ddcb4097134ff3c332f>
    <TaxCatchAll xmlns="ee5a7209-f4a2-4b85-bc1d-e34763a728ef" xsi:nil="true"/>
  </documentManagement>
</p:properties>
</file>

<file path=customXml/itemProps1.xml><?xml version="1.0" encoding="utf-8"?>
<ds:datastoreItem xmlns:ds="http://schemas.openxmlformats.org/officeDocument/2006/customXml" ds:itemID="{E696E137-F7B3-4F95-9FD7-841617862460}"/>
</file>

<file path=customXml/itemProps2.xml><?xml version="1.0" encoding="utf-8"?>
<ds:datastoreItem xmlns:ds="http://schemas.openxmlformats.org/officeDocument/2006/customXml" ds:itemID="{86278066-2CAC-4CE2-AEEE-8A770370981D}"/>
</file>

<file path=customXml/itemProps3.xml><?xml version="1.0" encoding="utf-8"?>
<ds:datastoreItem xmlns:ds="http://schemas.openxmlformats.org/officeDocument/2006/customXml" ds:itemID="{F710908B-C5AF-4714-8853-4C56607E3016}"/>
</file>

<file path=docProps/app.xml><?xml version="1.0" encoding="utf-8"?>
<Properties xmlns="http://schemas.openxmlformats.org/officeDocument/2006/extended-properties" xmlns:vt="http://schemas.openxmlformats.org/officeDocument/2006/docPropsVTypes">
  <TotalTime>110</TotalTime>
  <Words>910</Words>
  <Application>Microsoft Office PowerPoint</Application>
  <PresentationFormat>Widescreen</PresentationFormat>
  <Paragraphs>96</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Calibri</vt:lpstr>
      <vt:lpstr>Museo Sans 100</vt:lpstr>
      <vt:lpstr>Museo Sans 500</vt:lpstr>
      <vt:lpstr>Museo Sans 700</vt:lpstr>
      <vt:lpstr>Museo Sans 900</vt:lpstr>
      <vt:lpstr>Tahoma</vt:lpstr>
      <vt:lpstr>Times New Roman</vt:lpstr>
      <vt:lpstr>EUR_Presentatie_c18</vt:lpstr>
      <vt:lpstr>APA-Guidelines</vt:lpstr>
      <vt:lpstr>APA-GUIDELINES </vt:lpstr>
      <vt:lpstr>APPLYING APA-GUIDELINES  Assessment criteria Rubric </vt:lpstr>
      <vt:lpstr>Pitfalls APA</vt:lpstr>
      <vt:lpstr>In-text references</vt:lpstr>
      <vt:lpstr>Point of attention in-text references</vt:lpstr>
      <vt:lpstr>APA reference list</vt:lpstr>
      <vt:lpstr>Point of attention reference list</vt:lpstr>
      <vt:lpstr>Point of attention reference list</vt:lpstr>
      <vt:lpstr>How often and where to place a reference?</vt:lpstr>
      <vt:lpstr>Tips Applying APA-guidelines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APA-Guidelines</dc:title>
  <dc:creator>Estella van der Wal</dc:creator>
  <cp:lastModifiedBy>Estella van der Wal</cp:lastModifiedBy>
  <cp:revision>12</cp:revision>
  <dcterms:created xsi:type="dcterms:W3CDTF">2022-03-22T07:44:46Z</dcterms:created>
  <dcterms:modified xsi:type="dcterms:W3CDTF">2022-05-22T08:04:10Z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0x010100FF9A19BEFAF19E48A98499F0DCDB9845</vt:lpwstr>
  </property>
</Properties>
</file>