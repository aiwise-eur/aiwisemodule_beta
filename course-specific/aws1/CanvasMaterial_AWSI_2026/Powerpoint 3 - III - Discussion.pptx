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353" r:id="rId3"/>
    <p:sldId id="354" r:id="rId4"/>
    <p:sldId id="382" r:id="rId5"/>
    <p:sldId id="356" r:id="rId6"/>
    <p:sldId id="357" r:id="rId7"/>
    <p:sldId id="358" r:id="rId8"/>
    <p:sldId id="359" r:id="rId9"/>
    <p:sldId id="360" r:id="rId10"/>
    <p:sldId id="361" r:id="rId11"/>
    <p:sldId id="362" r:id="rId12"/>
    <p:sldId id="363" r:id="rId13"/>
    <p:sldId id="364" r:id="rId14"/>
    <p:sldId id="383" r:id="rId1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6765" autoAdjust="0"/>
  </p:normalViewPr>
  <p:slideViewPr>
    <p:cSldViewPr snapToGrid="0">
      <p:cViewPr varScale="1">
        <p:scale>
          <a:sx n="35" d="100"/>
          <a:sy n="35" d="100"/>
        </p:scale>
        <p:origin x="1413"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A1F947-28FD-4BBB-9140-46722F5421DC}" type="datetimeFigureOut">
              <a:rPr lang="en-GB" smtClean="0"/>
              <a:t>23/05/2022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714F3A-5033-4C18-AFDD-4ED649D6FD05}" type="slidenum">
              <a:rPr lang="en-GB" smtClean="0"/>
              <a:t>‹#›</a:t>
            </a:fld>
            <a:endParaRPr lang="en-GB"/>
          </a:p>
        </p:txBody>
      </p:sp>
    </p:spTree>
    <p:extLst>
      <p:ext uri="{BB962C8B-B14F-4D97-AF65-F5344CB8AC3E}">
        <p14:creationId xmlns:p14="http://schemas.microsoft.com/office/powerpoint/2010/main" val="1213015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8" y="1241425"/>
            <a:ext cx="5954712" cy="33496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4EAC61-8860-449B-8DA7-9B5255F5AA39}"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6438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In the discussion section you give an answer to the central question based on the main findings you described in the main body of your text. This is followed by a critical discussion of the findings (the discussion), which should include your assessment of the connections, shortcomings, obscurities, inconsistencies, and contradictions in the report. The critical discussion should see you make suggestions for follow-up research, indicating where exactly future studies should focus. You should conclude this section by placing the answer to the question in a broader</a:t>
            </a:r>
            <a:r>
              <a:rPr lang="en-US" sz="1600" baseline="0" noProof="0" dirty="0"/>
              <a:t> </a:t>
            </a:r>
            <a:r>
              <a:rPr lang="en-US" sz="1600" noProof="0" dirty="0"/>
              <a:t>context by discussing its implications on theory and practice.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baseline="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baseline="0" noProof="0" dirty="0"/>
              <a:t>The conclusion/discussion section should be shaped like a inverted funnel. Contrary to the introduction, which sees you narrow the subject down the question, here you take the answer and widen its scope. </a:t>
            </a:r>
            <a:endParaRPr lang="en-US" sz="1600" noProof="0" dirty="0"/>
          </a:p>
          <a:p>
            <a:endParaRPr lang="en-US" noProof="0" dirty="0"/>
          </a:p>
          <a:p>
            <a:r>
              <a:rPr lang="en-GB" sz="1200" kern="1200" dirty="0">
                <a:solidFill>
                  <a:schemeClr val="tx1"/>
                </a:solidFill>
                <a:effectLst/>
                <a:latin typeface="+mn-lt"/>
                <a:ea typeface="+mn-ea"/>
                <a:cs typeface="+mn-cs"/>
              </a:rPr>
              <a:t>All issues you raise in the discussion are also featured in the main body, so it shouldn't contain any new information. Then why don't we qualify this as a mere summary? Because it's more than just that. It is a critical appraisal, i.e. you should go deeper into the information presented and discuss what criticism of this might be raised and also highlight the strong points of certain studies. To do this, you'll sometimes need some extra information. Strictly speaking this would qualify as new information (as it is not featured in the main body), but it doesn't add content that answers the question. </a:t>
            </a:r>
          </a:p>
          <a:p>
            <a:r>
              <a:rPr lang="en-GB" sz="1200" kern="1200" dirty="0">
                <a:solidFill>
                  <a:schemeClr val="tx1"/>
                </a:solidFill>
                <a:effectLst/>
                <a:latin typeface="+mn-lt"/>
                <a:ea typeface="+mn-ea"/>
                <a:cs typeface="+mn-cs"/>
              </a:rPr>
              <a:t>In addition, you would obviously also cite your sources here, too. Anything you introduce that you haven't come up with yourself, should be referenced. The fact that this might involve you citing the same source over and over, is irrelevant, as long as the reader knows where the information was sourced.</a:t>
            </a:r>
          </a:p>
          <a:p>
            <a:r>
              <a:rPr lang="en-GB" sz="1200" kern="1200" dirty="0">
                <a:solidFill>
                  <a:schemeClr val="tx1"/>
                </a:solidFill>
                <a:effectLst/>
                <a:latin typeface="+mn-lt"/>
                <a:ea typeface="+mn-ea"/>
                <a:cs typeface="+mn-cs"/>
              </a:rPr>
              <a:t>Discussions can quite easily become blurry. What could help is to stick to the structure you employed in the main body and use it for your discussion. However, your discussion might, for example, focus on several issues of methodology. In that case, you might be discussing problems with measuring methods and the studies affected by this in one paragraph, moving on to the taking of samples that were too small in the next. As long as you maintain clarity for the reader.  So, here too, try and employ structural indicators to help the reader. </a:t>
            </a:r>
          </a:p>
          <a:p>
            <a:endParaRPr lang="en-GB" noProof="0" dirty="0"/>
          </a:p>
          <a:p>
            <a:r>
              <a:rPr lang="en-US" noProof="0" dirty="0"/>
              <a:t>Tip: Read the discussion of the articles</a:t>
            </a:r>
            <a:r>
              <a:rPr lang="en-US" baseline="0" noProof="0" dirty="0"/>
              <a:t> you are using for your report</a:t>
            </a:r>
            <a:r>
              <a:rPr lang="en-US" noProof="0" dirty="0"/>
              <a:t>, here the authors themselves indicate the limitations of their research</a:t>
            </a:r>
            <a:endParaRPr lang="en-GB" noProof="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4EAC61-8860-449B-8DA7-9B5255F5AA39}"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244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noProof="0" dirty="0"/>
              <a:t>The discussion section is one of the hardest components to write. </a:t>
            </a:r>
          </a:p>
          <a:p>
            <a:endParaRPr lang="en-US" sz="1600" baseline="0" noProof="0" dirty="0"/>
          </a:p>
          <a:p>
            <a:r>
              <a:rPr lang="en-US" sz="1600" baseline="0" noProof="0" dirty="0"/>
              <a:t>Students often have trouble substantiating their conclusion, critically discussing the findings, offering suggestions for follow-up research and discussing implications on theory and practice. </a:t>
            </a:r>
          </a:p>
          <a:p>
            <a:pPr marL="285750" indent="-285750">
              <a:buFontTx/>
              <a:buChar char="-"/>
            </a:pPr>
            <a:r>
              <a:rPr lang="en-US" sz="1600" noProof="0" dirty="0"/>
              <a:t>When supporting your conclusion, you'll want to clearly indicate how the main findings you described in the main body</a:t>
            </a:r>
            <a:r>
              <a:rPr lang="en-US" dirty="0"/>
              <a:t> </a:t>
            </a:r>
            <a:r>
              <a:rPr lang="en-US" sz="1600" noProof="0" dirty="0"/>
              <a:t>affect the central question. You'll have to interconnect these findings, i.e. don't just </a:t>
            </a:r>
            <a:r>
              <a:rPr lang="en-US" sz="1600" noProof="0" dirty="0" err="1"/>
              <a:t>summarise</a:t>
            </a:r>
            <a:r>
              <a:rPr lang="en-US" sz="1600" noProof="0" dirty="0"/>
              <a:t> them, but integrate them.</a:t>
            </a:r>
          </a:p>
          <a:p>
            <a:pPr marL="285750" indent="-285750">
              <a:buFontTx/>
              <a:buChar char="-"/>
            </a:pPr>
            <a:r>
              <a:rPr lang="en-US" sz="1600" noProof="0" dirty="0"/>
              <a:t>In the critical discussion section, students are often found to have difficulty in coming up with points of criticism to the information they discussed in the main body. Being aware of what the standard issues are to look out for in the critical appreciation of research can help. You may also find it useful to employ the critical notes the researchers added to their studies (you'll find these in the discussion section of the article). </a:t>
            </a:r>
          </a:p>
          <a:p>
            <a:pPr marL="285750" indent="-285750">
              <a:buFontTx/>
              <a:buChar char="-"/>
            </a:pPr>
            <a:r>
              <a:rPr lang="en-US" sz="1600" baseline="0" noProof="0" dirty="0"/>
              <a:t>When offering suggestions for follow-up research, students have shown a tendency to offer general directions, yet the idea is to make specific suggestions as to where future research should focus. </a:t>
            </a:r>
          </a:p>
          <a:p>
            <a:pPr marL="285750" indent="-285750">
              <a:buFontTx/>
              <a:buChar char="-"/>
            </a:pPr>
            <a:r>
              <a:rPr lang="en-US" sz="1600" baseline="0" noProof="0" dirty="0"/>
              <a:t>Finally, student are often also found to not even discuss the implications on theory and practice. </a:t>
            </a:r>
          </a:p>
          <a:p>
            <a:endParaRPr lang="en-GB" sz="1600" baseline="0" noProof="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4EAC61-8860-449B-8DA7-9B5255F5AA39}"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52631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Here are some examples to illustrate what a good/bad conclusion and discussion looks like.</a:t>
            </a:r>
          </a:p>
          <a:p>
            <a:r>
              <a:rPr lang="nl-NL" sz="1600" baseline="0" dirty="0"/>
              <a:t>What do </a:t>
            </a:r>
            <a:r>
              <a:rPr lang="nl-NL" sz="1600" baseline="0" dirty="0" err="1"/>
              <a:t>you</a:t>
            </a:r>
            <a:r>
              <a:rPr lang="nl-NL" sz="1600" baseline="0" dirty="0"/>
              <a:t> </a:t>
            </a:r>
            <a:r>
              <a:rPr lang="nl-NL" sz="1600" baseline="0" dirty="0" err="1"/>
              <a:t>think</a:t>
            </a:r>
            <a:r>
              <a:rPr lang="nl-NL" sz="1600" baseline="0" dirty="0"/>
              <a:t> about this conclusion? Is this a good or a bad </a:t>
            </a:r>
            <a:r>
              <a:rPr lang="nl-NL" sz="1600" baseline="0" dirty="0" err="1"/>
              <a:t>conclusion</a:t>
            </a:r>
            <a:r>
              <a:rPr lang="nl-NL" sz="1600" baseline="0" dirty="0"/>
              <a:t>/</a:t>
            </a:r>
            <a:r>
              <a:rPr lang="nl-NL" sz="1600" baseline="0" dirty="0" err="1"/>
              <a:t>discussion</a:t>
            </a:r>
            <a:r>
              <a:rPr lang="nl-NL" sz="1600" baseline="0" dirty="0"/>
              <a:t> section?</a:t>
            </a:r>
          </a:p>
          <a:p>
            <a:endParaRPr lang="en-GB" sz="1600" baseline="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5</a:t>
            </a:fld>
            <a:endParaRPr lang="en-GB">
              <a:solidFill>
                <a:prstClr val="black"/>
              </a:solidFill>
            </a:endParaRPr>
          </a:p>
        </p:txBody>
      </p:sp>
    </p:spTree>
    <p:extLst>
      <p:ext uri="{BB962C8B-B14F-4D97-AF65-F5344CB8AC3E}">
        <p14:creationId xmlns:p14="http://schemas.microsoft.com/office/powerpoint/2010/main" val="3210019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This a good example: The question is clearly outlined, with a clear answer and substantiation provided to it. Plus, it doesn't merely summarise the main findings, but integrates these with each other (the interaction between the bias and the subjective desire for drugs is evidenced by two sources). </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6</a:t>
            </a:fld>
            <a:endParaRPr lang="en-GB">
              <a:solidFill>
                <a:prstClr val="black"/>
              </a:solidFill>
            </a:endParaRPr>
          </a:p>
        </p:txBody>
      </p:sp>
    </p:spTree>
    <p:extLst>
      <p:ext uri="{BB962C8B-B14F-4D97-AF65-F5344CB8AC3E}">
        <p14:creationId xmlns:p14="http://schemas.microsoft.com/office/powerpoint/2010/main" val="2362265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Is this a good or a bad example of a discussion?</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18230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noProof="0" dirty="0"/>
              <a:t>This a good example: Connotations are made (perhaps other factors are also involved and differences between men and women have also been found). </a:t>
            </a:r>
          </a:p>
          <a:p>
            <a:r>
              <a:rPr lang="en-US" sz="1200" baseline="0" noProof="0" dirty="0"/>
              <a:t>A downside to this assessment is that it doesn't specify which factors might have an effect. </a:t>
            </a:r>
            <a:endParaRPr lang="en-US" sz="1200" noProof="0" dirty="0"/>
          </a:p>
          <a:p>
            <a:endParaRPr lang="en-GB" dirty="0"/>
          </a:p>
        </p:txBody>
      </p:sp>
      <p:sp>
        <p:nvSpPr>
          <p:cNvPr id="4" name="Tijdelijke aanduiding voor dianummer 3"/>
          <p:cNvSpPr>
            <a:spLocks noGrp="1"/>
          </p:cNvSpPr>
          <p:nvPr>
            <p:ph type="sldNum" sz="quarter" idx="10"/>
          </p:nvPr>
        </p:nvSpPr>
        <p:spPr/>
        <p:txBody>
          <a:bodyPr/>
          <a:lstStyle/>
          <a:p>
            <a:fld id="{044EAC61-8860-449B-8DA7-9B5255F5AA39}" type="slidenum">
              <a:rPr lang="nl-NL"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301543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Is this a good or a bad example of a suggestion for follow-up research?</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1405900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noProof="0" dirty="0"/>
              <a:t>This is a mediocre example of a suggestion for follow-up research. It lacks specificity in indicating where future research should focus on. The author should have specifically mentioned which combination of factors should</a:t>
            </a:r>
            <a:r>
              <a:rPr lang="en-US" sz="1600" baseline="0" noProof="0" dirty="0"/>
              <a:t> </a:t>
            </a:r>
            <a:r>
              <a:rPr lang="en-US" sz="1600" noProof="0" dirty="0"/>
              <a:t>be studied. </a:t>
            </a:r>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1798820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Another example of a suggestion for follow-up research...</a:t>
            </a:r>
          </a:p>
          <a:p>
            <a:r>
              <a:rPr lang="nl-NL" sz="1600" baseline="0" dirty="0"/>
              <a:t>Is this a good or a bad example?</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564032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This a good example: This example includes a tangible proposal for follow-up research. </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12</a:t>
            </a:fld>
            <a:endParaRPr lang="en-GB">
              <a:solidFill>
                <a:prstClr val="black"/>
              </a:solidFill>
            </a:endParaRPr>
          </a:p>
        </p:txBody>
      </p:sp>
    </p:spTree>
    <p:extLst>
      <p:ext uri="{BB962C8B-B14F-4D97-AF65-F5344CB8AC3E}">
        <p14:creationId xmlns:p14="http://schemas.microsoft.com/office/powerpoint/2010/main" val="3998172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an example of how </a:t>
            </a:r>
            <a:r>
              <a:rPr lang="nl-NL" dirty="0" err="1"/>
              <a:t>you</a:t>
            </a:r>
            <a:r>
              <a:rPr dirty="0"/>
              <a:t> could offer an implication to practice. </a:t>
            </a:r>
          </a:p>
          <a:p>
            <a:r>
              <a:rPr dirty="0"/>
              <a:t>The example summarises the main findings and translates these into practical recommendations. </a:t>
            </a:r>
          </a:p>
          <a:p>
            <a:r>
              <a:rPr dirty="0"/>
              <a:t>When you ponder the practical implications of something, you'll want to think of how your conclusions can be transferred into practical solutions. </a:t>
            </a:r>
            <a:endParaRPr lang="en-GB" dirty="0"/>
          </a:p>
          <a:p>
            <a:endParaRPr lang="en-GB"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13</a:t>
            </a:fld>
            <a:endParaRPr lang="en-GB">
              <a:solidFill>
                <a:prstClr val="black"/>
              </a:solidFill>
            </a:endParaRPr>
          </a:p>
        </p:txBody>
      </p:sp>
    </p:spTree>
    <p:extLst>
      <p:ext uri="{BB962C8B-B14F-4D97-AF65-F5344CB8AC3E}">
        <p14:creationId xmlns:p14="http://schemas.microsoft.com/office/powerpoint/2010/main" val="663707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0714F3A-5033-4C18-AFDD-4ED649D6FD05}" type="slidenum">
              <a:rPr lang="en-GB" smtClean="0"/>
              <a:t>14</a:t>
            </a:fld>
            <a:endParaRPr lang="en-GB"/>
          </a:p>
        </p:txBody>
      </p:sp>
    </p:spTree>
    <p:extLst>
      <p:ext uri="{BB962C8B-B14F-4D97-AF65-F5344CB8AC3E}">
        <p14:creationId xmlns:p14="http://schemas.microsoft.com/office/powerpoint/2010/main" val="4911116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1763795"/>
            <a:ext cx="7921367" cy="1968000"/>
          </a:xfrm>
        </p:spPr>
        <p:txBody>
          <a:bodyPr/>
          <a:lstStyle>
            <a:lvl1pPr>
              <a:lnSpc>
                <a:spcPts val="7466"/>
              </a:lnSpc>
              <a:defRPr sz="8533" baseline="0">
                <a:solidFill>
                  <a:schemeClr val="bg1"/>
                </a:solidFill>
              </a:defRPr>
            </a:lvl1pPr>
          </a:lstStyle>
          <a:p>
            <a:r>
              <a:rPr lang="nl-NL" dirty="0"/>
              <a:t>Titel </a:t>
            </a:r>
            <a:br>
              <a:rPr lang="nl-NL" dirty="0"/>
            </a:br>
            <a:r>
              <a:rPr lang="nl-NL" dirty="0"/>
              <a:t>bewerken</a:t>
            </a:r>
          </a:p>
        </p:txBody>
      </p:sp>
      <p:sp>
        <p:nvSpPr>
          <p:cNvPr id="3" name="Subtitel 2"/>
          <p:cNvSpPr>
            <a:spLocks noGrp="1"/>
          </p:cNvSpPr>
          <p:nvPr>
            <p:ph type="subTitle" idx="1" hasCustomPrompt="1"/>
          </p:nvPr>
        </p:nvSpPr>
        <p:spPr>
          <a:xfrm>
            <a:off x="655369" y="3731795"/>
            <a:ext cx="7921367" cy="108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Subtitel bewerken</a:t>
            </a:r>
          </a:p>
        </p:txBody>
      </p:sp>
    </p:spTree>
    <p:extLst>
      <p:ext uri="{BB962C8B-B14F-4D97-AF65-F5344CB8AC3E}">
        <p14:creationId xmlns:p14="http://schemas.microsoft.com/office/powerpoint/2010/main" val="2636780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528000"/>
            <a:ext cx="6498967" cy="1968000"/>
          </a:xfrm>
        </p:spPr>
        <p:txBody>
          <a:bodyPr/>
          <a:lstStyle>
            <a:lvl1pPr>
              <a:lnSpc>
                <a:spcPts val="7466"/>
              </a:lnSpc>
              <a:defRPr sz="8533" baseline="0">
                <a:solidFill>
                  <a:schemeClr val="bg1"/>
                </a:solidFill>
              </a:defRPr>
            </a:lvl1pPr>
          </a:lstStyle>
          <a:p>
            <a:r>
              <a:rPr lang="nl-NL" dirty="0"/>
              <a:t>Titel  bewerken</a:t>
            </a:r>
          </a:p>
        </p:txBody>
      </p:sp>
      <p:sp>
        <p:nvSpPr>
          <p:cNvPr id="3" name="Subtitel 2"/>
          <p:cNvSpPr>
            <a:spLocks noGrp="1"/>
          </p:cNvSpPr>
          <p:nvPr>
            <p:ph type="subTitle" idx="1" hasCustomPrompt="1"/>
          </p:nvPr>
        </p:nvSpPr>
        <p:spPr>
          <a:xfrm>
            <a:off x="655369" y="2496000"/>
            <a:ext cx="6498967" cy="144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Plaats een foto en zet die op de </a:t>
            </a:r>
            <a:br>
              <a:rPr lang="nl-NL" dirty="0"/>
            </a:br>
            <a:r>
              <a:rPr lang="nl-NL" dirty="0"/>
              <a:t>achtergrond met rechtermuisknop</a:t>
            </a:r>
            <a:br>
              <a:rPr lang="nl-NL" dirty="0"/>
            </a:br>
            <a:r>
              <a:rPr lang="nl-NL" dirty="0"/>
              <a:t>&gt; </a:t>
            </a:r>
            <a:r>
              <a:rPr lang="nl-NL" dirty="0" err="1"/>
              <a:t>send</a:t>
            </a:r>
            <a:r>
              <a:rPr lang="nl-NL" dirty="0"/>
              <a:t> to back</a:t>
            </a:r>
          </a:p>
        </p:txBody>
      </p:sp>
    </p:spTree>
    <p:extLst>
      <p:ext uri="{BB962C8B-B14F-4D97-AF65-F5344CB8AC3E}">
        <p14:creationId xmlns:p14="http://schemas.microsoft.com/office/powerpoint/2010/main" val="371971054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7" y="528000"/>
            <a:ext cx="10896000" cy="768000"/>
          </a:xfrm>
        </p:spPr>
        <p:txBody>
          <a:bodyPr/>
          <a:lstStyle>
            <a:lvl1pPr>
              <a:defRPr>
                <a:solidFill>
                  <a:srgbClr val="FF9E00"/>
                </a:solidFill>
              </a:defRPr>
            </a:lvl1pPr>
          </a:lstStyle>
          <a:p>
            <a:r>
              <a:rPr lang="nl-NL" dirty="0"/>
              <a:t>Titel bewerken</a:t>
            </a:r>
            <a:br>
              <a:rPr lang="nl-NL" dirty="0"/>
            </a:br>
            <a:endParaRPr lang="nl-NL" dirty="0"/>
          </a:p>
        </p:txBody>
      </p:sp>
      <p:sp>
        <p:nvSpPr>
          <p:cNvPr id="3" name="Tijdelijke aanduiding voor inhoud 2"/>
          <p:cNvSpPr>
            <a:spLocks noGrp="1"/>
          </p:cNvSpPr>
          <p:nvPr>
            <p:ph idx="1" hasCustomPrompt="1"/>
          </p:nvPr>
        </p:nvSpPr>
        <p:spPr/>
        <p:txBody>
          <a:bodyPr/>
          <a:lstStyle>
            <a:lvl1pPr>
              <a:defRPr baseline="0"/>
            </a:lvl1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23-5-2022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325638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23-5-2022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427847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sz="half" idx="1" hasCustomPrompt="1"/>
          </p:nvPr>
        </p:nvSpPr>
        <p:spPr>
          <a:xfrm>
            <a:off x="657600" y="1296000"/>
            <a:ext cx="5352000"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inhoud 3"/>
          <p:cNvSpPr>
            <a:spLocks noGrp="1"/>
          </p:cNvSpPr>
          <p:nvPr>
            <p:ph sz="half" idx="2" hasCustomPrompt="1"/>
          </p:nvPr>
        </p:nvSpPr>
        <p:spPr>
          <a:xfrm>
            <a:off x="6197602" y="1295999"/>
            <a:ext cx="5353767"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23-5-2022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a:xfrm>
            <a:off x="655367" y="6217571"/>
            <a:ext cx="432000" cy="240380"/>
          </a:xfrm>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02305438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tekst 4"/>
          <p:cNvSpPr>
            <a:spLocks noGrp="1"/>
          </p:cNvSpPr>
          <p:nvPr>
            <p:ph type="body" sz="quarter" idx="3" hasCustomPrompt="1"/>
          </p:nvPr>
        </p:nvSpPr>
        <p:spPr>
          <a:xfrm>
            <a:off x="6193368" y="1296000"/>
            <a:ext cx="5352000"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6" name="Tijdelijke aanduiding voor inhoud 5"/>
          <p:cNvSpPr>
            <a:spLocks noGrp="1"/>
          </p:cNvSpPr>
          <p:nvPr>
            <p:ph sz="quarter" idx="4" hasCustomPrompt="1"/>
          </p:nvPr>
        </p:nvSpPr>
        <p:spPr>
          <a:xfrm>
            <a:off x="6193367" y="1728000"/>
            <a:ext cx="53520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23-5-2022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23951032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23-5-2022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508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1405688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en 2 afbeelding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5365" y="1296000"/>
            <a:ext cx="5332800" cy="432000"/>
          </a:xfrm>
        </p:spPr>
        <p:txBody>
          <a:bodyPr anchor="t" anchorCtr="0"/>
          <a:lstStyle>
            <a:lvl1pPr marL="0" indent="0">
              <a:buNone/>
              <a:defRPr sz="2400" b="0" i="0">
                <a:solidFill>
                  <a:schemeClr val="tx1"/>
                </a:solidFill>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23-5-2022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244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a:p>
            <a:endParaRPr lang="nl-NL"/>
          </a:p>
        </p:txBody>
      </p:sp>
      <p:sp>
        <p:nvSpPr>
          <p:cNvPr id="11" name="Tijdelijke aanduiding voor afbeelding 2"/>
          <p:cNvSpPr>
            <a:spLocks noGrp="1"/>
          </p:cNvSpPr>
          <p:nvPr>
            <p:ph type="pic" idx="14" hasCustomPrompt="1"/>
          </p:nvPr>
        </p:nvSpPr>
        <p:spPr>
          <a:xfrm>
            <a:off x="6191999" y="3168000"/>
            <a:ext cx="5352000" cy="2448000"/>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427270771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23-5-2022</a:t>
            </a:fld>
            <a:endParaRPr lang="nl-NL"/>
          </a:p>
        </p:txBody>
      </p:sp>
      <p:sp>
        <p:nvSpPr>
          <p:cNvPr id="4" name="Tijdelijke aanduiding voor voettekst 3"/>
          <p:cNvSpPr>
            <a:spLocks noGrp="1"/>
          </p:cNvSpPr>
          <p:nvPr>
            <p:ph type="ftr" sz="quarter" idx="11"/>
          </p:nvPr>
        </p:nvSpPr>
        <p:spPr/>
        <p:txBody>
          <a:bodyPr/>
          <a:lstStyle>
            <a:lvl1pPr>
              <a:defRPr>
                <a:solidFill>
                  <a:schemeClr val="accent5"/>
                </a:solidFill>
              </a:defRPr>
            </a:lvl1pPr>
          </a:lstStyle>
          <a:p>
            <a:endParaRPr lang="nl-NL"/>
          </a:p>
        </p:txBody>
      </p:sp>
      <p:sp>
        <p:nvSpPr>
          <p:cNvPr id="5" name="Tijdelijke aanduiding voor dianummer 4"/>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11513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23-5-2022</a:t>
            </a:fld>
            <a:endParaRPr lang="nl-NL"/>
          </a:p>
        </p:txBody>
      </p:sp>
      <p:sp>
        <p:nvSpPr>
          <p:cNvPr id="3" name="Tijdelijke aanduiding voor voettekst 2"/>
          <p:cNvSpPr>
            <a:spLocks noGrp="1"/>
          </p:cNvSpPr>
          <p:nvPr>
            <p:ph type="ftr" sz="quarter" idx="11"/>
          </p:nvPr>
        </p:nvSpPr>
        <p:spPr/>
        <p:txBody>
          <a:bodyPr/>
          <a:lstStyle>
            <a:lvl1pPr>
              <a:defRPr>
                <a:solidFill>
                  <a:schemeClr val="accent5"/>
                </a:solidFill>
              </a:defRPr>
            </a:lvl1pPr>
          </a:lstStyle>
          <a:p>
            <a:endParaRPr lang="nl-NL"/>
          </a:p>
        </p:txBody>
      </p:sp>
      <p:sp>
        <p:nvSpPr>
          <p:cNvPr id="4" name="Tijdelijke aanduiding voor dianummer 3"/>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659030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655367" y="1056001"/>
            <a:ext cx="10896000" cy="4558151"/>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
        <p:nvSpPr>
          <p:cNvPr id="2" name="Titel 1"/>
          <p:cNvSpPr>
            <a:spLocks noGrp="1"/>
          </p:cNvSpPr>
          <p:nvPr>
            <p:ph type="title" hasCustomPrompt="1"/>
          </p:nvPr>
        </p:nvSpPr>
        <p:spPr>
          <a:xfrm>
            <a:off x="655367" y="528000"/>
            <a:ext cx="10896000" cy="528000"/>
          </a:xfrm>
        </p:spPr>
        <p:txBody>
          <a:bodyPr anchor="t" anchorCtr="0"/>
          <a:lstStyle>
            <a:lvl1pPr algn="l">
              <a:lnSpc>
                <a:spcPts val="3333"/>
              </a:lnSpc>
              <a:defRPr sz="2667" b="1">
                <a:solidFill>
                  <a:schemeClr val="tx1"/>
                </a:solidFill>
                <a:latin typeface="+mj-lt"/>
              </a:defRPr>
            </a:lvl1pPr>
          </a:lstStyle>
          <a:p>
            <a:r>
              <a:rPr lang="nl-NL" dirty="0"/>
              <a:t>Titel bewerken</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23-5-2022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16114153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9744000" y="5731201"/>
            <a:ext cx="1910144" cy="768121"/>
          </a:xfrm>
          <a:prstGeom prst="rect">
            <a:avLst/>
          </a:prstGeom>
        </p:spPr>
      </p:pic>
      <p:sp>
        <p:nvSpPr>
          <p:cNvPr id="2" name="Tijdelijke aanduiding voor titel 1"/>
          <p:cNvSpPr>
            <a:spLocks noGrp="1"/>
          </p:cNvSpPr>
          <p:nvPr>
            <p:ph type="title"/>
          </p:nvPr>
        </p:nvSpPr>
        <p:spPr>
          <a:xfrm>
            <a:off x="655367" y="528000"/>
            <a:ext cx="10896000" cy="768000"/>
          </a:xfrm>
          <a:prstGeom prst="rect">
            <a:avLst/>
          </a:prstGeom>
        </p:spPr>
        <p:txBody>
          <a:bodyPr vert="horz" lIns="0" tIns="0" rIns="0" bIns="0" rtlCol="0" anchor="t" anchorCtr="0">
            <a:noAutofit/>
          </a:bodyPr>
          <a:lstStyle/>
          <a:p>
            <a:r>
              <a:rPr lang="nl-NL" dirty="0"/>
              <a:t>Titel bewerken</a:t>
            </a:r>
          </a:p>
        </p:txBody>
      </p:sp>
      <p:sp>
        <p:nvSpPr>
          <p:cNvPr id="3" name="Tijdelijke aanduiding voor tekst 2"/>
          <p:cNvSpPr>
            <a:spLocks noGrp="1"/>
          </p:cNvSpPr>
          <p:nvPr>
            <p:ph type="body" idx="1"/>
          </p:nvPr>
        </p:nvSpPr>
        <p:spPr>
          <a:xfrm>
            <a:off x="655365" y="1295401"/>
            <a:ext cx="10896000" cy="4464000"/>
          </a:xfrm>
          <a:prstGeom prst="rect">
            <a:avLst/>
          </a:prstGeom>
        </p:spPr>
        <p:txBody>
          <a:bodyPr vert="horz" lIns="0" tIns="0" rIns="0" bIns="0" rtlCol="0" anchor="t" anchorCtr="0">
            <a:noAutofit/>
          </a:body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2"/>
          </p:nvPr>
        </p:nvSpPr>
        <p:spPr>
          <a:xfrm>
            <a:off x="1089600" y="6217571"/>
            <a:ext cx="1008000" cy="240380"/>
          </a:xfrm>
          <a:prstGeom prst="rect">
            <a:avLst/>
          </a:prstGeom>
        </p:spPr>
        <p:txBody>
          <a:bodyPr vert="horz" lIns="0" tIns="0" rIns="0" bIns="0" rtlCol="0" anchor="t" anchorCtr="0">
            <a:noAutofit/>
          </a:bodyPr>
          <a:lstStyle>
            <a:lvl1pPr algn="l">
              <a:defRPr sz="1333">
                <a:solidFill>
                  <a:schemeClr val="tx1"/>
                </a:solidFill>
                <a:latin typeface="Museo Sans 100"/>
                <a:cs typeface="Museo Sans 100"/>
              </a:defRPr>
            </a:lvl1pPr>
          </a:lstStyle>
          <a:p>
            <a:fld id="{F10973AC-957D-C346-BA56-D82065FA2AEB}" type="datetimeFigureOut">
              <a:rPr lang="nl-NL" smtClean="0"/>
              <a:pPr/>
              <a:t>23-5-2022</a:t>
            </a:fld>
            <a:endParaRPr lang="nl-NL"/>
          </a:p>
        </p:txBody>
      </p:sp>
      <p:sp>
        <p:nvSpPr>
          <p:cNvPr id="5" name="Tijdelijke aanduiding voor voettekst 4"/>
          <p:cNvSpPr>
            <a:spLocks noGrp="1"/>
          </p:cNvSpPr>
          <p:nvPr>
            <p:ph type="ftr" sz="quarter" idx="3"/>
          </p:nvPr>
        </p:nvSpPr>
        <p:spPr>
          <a:xfrm>
            <a:off x="2097600" y="6217571"/>
            <a:ext cx="6803893"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endParaRPr lang="nl-NL"/>
          </a:p>
        </p:txBody>
      </p:sp>
      <p:sp>
        <p:nvSpPr>
          <p:cNvPr id="6" name="Tijdelijke aanduiding voor dianummer 5"/>
          <p:cNvSpPr>
            <a:spLocks noGrp="1"/>
          </p:cNvSpPr>
          <p:nvPr>
            <p:ph type="sldNum" sz="quarter" idx="4"/>
          </p:nvPr>
        </p:nvSpPr>
        <p:spPr>
          <a:xfrm>
            <a:off x="655367" y="6217571"/>
            <a:ext cx="432000"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728528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09585" rtl="0" eaLnBrk="1" latinLnBrk="0" hangingPunct="1">
        <a:lnSpc>
          <a:spcPts val="4267"/>
        </a:lnSpc>
        <a:spcBef>
          <a:spcPct val="0"/>
        </a:spcBef>
        <a:buNone/>
        <a:defRPr sz="3733" b="0" i="0" kern="1200">
          <a:solidFill>
            <a:schemeClr val="accent5"/>
          </a:solidFill>
          <a:latin typeface="+mj-lt"/>
          <a:ea typeface="+mj-ea"/>
          <a:cs typeface="Museo Sans 700"/>
        </a:defRPr>
      </a:lvl1pPr>
    </p:titleStyle>
    <p:bodyStyle>
      <a:lvl1pPr marL="287993"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sz="5867" dirty="0" err="1"/>
              <a:t>Discussion</a:t>
            </a:r>
            <a:r>
              <a:rPr lang="nl-NL" sz="5867" dirty="0"/>
              <a:t> </a:t>
            </a:r>
          </a:p>
        </p:txBody>
      </p:sp>
      <p:sp>
        <p:nvSpPr>
          <p:cNvPr id="3" name="Subtitel 2"/>
          <p:cNvSpPr>
            <a:spLocks noGrp="1"/>
          </p:cNvSpPr>
          <p:nvPr>
            <p:ph type="subTitle" idx="1"/>
          </p:nvPr>
        </p:nvSpPr>
        <p:spPr>
          <a:xfrm>
            <a:off x="655369" y="3731795"/>
            <a:ext cx="7921367" cy="1818773"/>
          </a:xfrm>
        </p:spPr>
        <p:txBody>
          <a:bodyPr/>
          <a:lstStyle/>
          <a:p>
            <a:endParaRPr lang="nl-NL" sz="3733" dirty="0">
              <a:solidFill>
                <a:schemeClr val="accent6">
                  <a:lumMod val="60000"/>
                  <a:lumOff val="40000"/>
                </a:schemeClr>
              </a:solidFill>
            </a:endParaRPr>
          </a:p>
          <a:p>
            <a:endParaRPr lang="nl-NL" sz="3733" dirty="0">
              <a:solidFill>
                <a:schemeClr val="accent6">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el 1"/>
          <p:cNvSpPr>
            <a:spLocks noGrp="1"/>
          </p:cNvSpPr>
          <p:nvPr>
            <p:ph type="title"/>
          </p:nvPr>
        </p:nvSpPr>
        <p:spPr/>
        <p:txBody>
          <a:bodyPr/>
          <a:lstStyle/>
          <a:p>
            <a:pPr>
              <a:defRPr/>
            </a:pPr>
            <a:r>
              <a:rPr lang="en-US" dirty="0"/>
              <a:t>Discussion</a:t>
            </a:r>
          </a:p>
        </p:txBody>
      </p:sp>
      <p:sp>
        <p:nvSpPr>
          <p:cNvPr id="3" name="Tijdelijke aanduiding voor inhoud 2">
            <a:extLst>
              <a:ext uri="{FF2B5EF4-FFF2-40B4-BE49-F238E27FC236}">
                <a16:creationId xmlns:a16="http://schemas.microsoft.com/office/drawing/2014/main" id="{A9C0B5FD-DD5B-4ED6-ACAA-8B4AA4615187}"/>
              </a:ext>
            </a:extLst>
          </p:cNvPr>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1067" y="894805"/>
            <a:ext cx="4864596" cy="4864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3143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DISCUSSION</a:t>
            </a:r>
            <a:br>
              <a:rPr lang="en-US" dirty="0"/>
            </a:br>
            <a:r>
              <a:rPr lang="en-US" sz="3600" dirty="0"/>
              <a:t>Assessment criteria Rubric</a:t>
            </a:r>
            <a:endParaRPr lang="en-GB" sz="3600" dirty="0"/>
          </a:p>
        </p:txBody>
      </p:sp>
      <p:sp>
        <p:nvSpPr>
          <p:cNvPr id="2" name="Content Placeholder 1"/>
          <p:cNvSpPr>
            <a:spLocks noGrp="1"/>
          </p:cNvSpPr>
          <p:nvPr>
            <p:ph idx="1"/>
          </p:nvPr>
        </p:nvSpPr>
        <p:spPr>
          <a:xfrm>
            <a:off x="655364" y="1295400"/>
            <a:ext cx="11310664" cy="5294586"/>
          </a:xfrm>
        </p:spPr>
        <p:txBody>
          <a:bodyPr>
            <a:normAutofit fontScale="32500" lnSpcReduction="20000"/>
          </a:bodyPr>
          <a:lstStyle/>
          <a:p>
            <a:pPr marL="169195" indent="0">
              <a:buNone/>
            </a:pPr>
            <a:endParaRPr lang="en-US" altLang="nl-NL" sz="7400" dirty="0"/>
          </a:p>
          <a:p>
            <a:pPr marL="169195" indent="0">
              <a:buNone/>
            </a:pPr>
            <a:r>
              <a:rPr lang="en-US" altLang="nl-NL" sz="7400" dirty="0"/>
              <a:t>Structured according to the inverted funnel model (from specific to general)</a:t>
            </a:r>
          </a:p>
          <a:p>
            <a:pPr marL="169195" indent="0">
              <a:buNone/>
            </a:pPr>
            <a:endParaRPr lang="en-US" altLang="nl-NL" sz="4400" dirty="0"/>
          </a:p>
          <a:p>
            <a:pPr marL="626384" indent="-457189">
              <a:buFont typeface="Arial" panose="020B0604020202020204" pitchFamily="34" charset="0"/>
              <a:buChar char="•"/>
            </a:pPr>
            <a:r>
              <a:rPr lang="en-US" altLang="nl-NL" sz="7400" dirty="0"/>
              <a:t>Conclusions relate back to the central question </a:t>
            </a:r>
          </a:p>
          <a:p>
            <a:pPr marL="626384" indent="-457189">
              <a:buFont typeface="Arial" panose="020B0604020202020204" pitchFamily="34" charset="0"/>
              <a:buChar char="•"/>
            </a:pPr>
            <a:r>
              <a:rPr lang="en-US" altLang="nl-NL" sz="7400" dirty="0"/>
              <a:t>Conclusions supported by results/theories presented and linked to theoretical framework presented in introduction</a:t>
            </a:r>
          </a:p>
          <a:p>
            <a:pPr marL="626384" indent="-457189">
              <a:buFont typeface="Arial" panose="020B0604020202020204" pitchFamily="34" charset="0"/>
              <a:buChar char="•"/>
            </a:pPr>
            <a:r>
              <a:rPr lang="en-US" altLang="nl-NL" sz="7400" dirty="0"/>
              <a:t>Interpretation of findings is provided, explaining what findings mean for existing theories and practice (substantiated with references) </a:t>
            </a:r>
          </a:p>
          <a:p>
            <a:pPr marL="626384" indent="-457189">
              <a:buFont typeface="Arial" panose="020B0604020202020204" pitchFamily="34" charset="0"/>
              <a:buChar char="•"/>
            </a:pPr>
            <a:r>
              <a:rPr lang="en-US" altLang="nl-NL" sz="7400" dirty="0"/>
              <a:t>Critical reflection on current literature review (what remains unclear? Limitations of described studies?)</a:t>
            </a:r>
          </a:p>
          <a:p>
            <a:pPr marL="626384" indent="-457189">
              <a:buFont typeface="Arial" panose="020B0604020202020204" pitchFamily="34" charset="0"/>
              <a:buChar char="•"/>
            </a:pPr>
            <a:r>
              <a:rPr lang="en-US" altLang="nl-NL" sz="7400" dirty="0"/>
              <a:t>Critical reflection on limitations of student’s own literature review</a:t>
            </a:r>
          </a:p>
          <a:p>
            <a:pPr marL="626384" indent="-457189">
              <a:buFont typeface="Arial" panose="020B0604020202020204" pitchFamily="34" charset="0"/>
              <a:buChar char="•"/>
            </a:pPr>
            <a:r>
              <a:rPr lang="en-US" altLang="nl-NL" sz="7400" dirty="0"/>
              <a:t>Relevant and substantiated suggestions for follow-up research </a:t>
            </a:r>
          </a:p>
          <a:p>
            <a:pPr marL="626384" indent="-457189">
              <a:buFont typeface="Arial" panose="020B0604020202020204" pitchFamily="34" charset="0"/>
              <a:buChar char="•"/>
            </a:pPr>
            <a:r>
              <a:rPr lang="en-US" altLang="nl-NL" sz="7400" dirty="0"/>
              <a:t>Clear closing message</a:t>
            </a:r>
          </a:p>
          <a:p>
            <a:pPr marL="914377" lvl="1" indent="-457189">
              <a:buFont typeface="Wingdings" panose="05000000000000000000" pitchFamily="2" charset="2"/>
              <a:buChar char="§"/>
            </a:pPr>
            <a:endParaRPr lang="en-US" altLang="nl-NL" sz="2800" dirty="0"/>
          </a:p>
        </p:txBody>
      </p:sp>
    </p:spTree>
    <p:extLst>
      <p:ext uri="{BB962C8B-B14F-4D97-AF65-F5344CB8AC3E}">
        <p14:creationId xmlns:p14="http://schemas.microsoft.com/office/powerpoint/2010/main" val="856244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dirty="0"/>
              <a:t>Pitfalls</a:t>
            </a:r>
            <a:endParaRPr lang="en-GB" dirty="0"/>
          </a:p>
        </p:txBody>
      </p:sp>
      <p:sp>
        <p:nvSpPr>
          <p:cNvPr id="2" name="Content Placeholder 1"/>
          <p:cNvSpPr>
            <a:spLocks noGrp="1"/>
          </p:cNvSpPr>
          <p:nvPr>
            <p:ph idx="1"/>
          </p:nvPr>
        </p:nvSpPr>
        <p:spPr/>
        <p:txBody>
          <a:bodyPr>
            <a:normAutofit/>
          </a:bodyPr>
          <a:lstStyle/>
          <a:p>
            <a:pPr>
              <a:buClrTx/>
              <a:buFont typeface="Arial" panose="020B0604020202020204" pitchFamily="34" charset="0"/>
              <a:buChar char="•"/>
            </a:pPr>
            <a:r>
              <a:rPr lang="nl-NL" sz="2800" dirty="0"/>
              <a:t> Central question is </a:t>
            </a:r>
            <a:r>
              <a:rPr lang="nl-NL" sz="2800" dirty="0" err="1"/>
              <a:t>not</a:t>
            </a:r>
            <a:r>
              <a:rPr lang="nl-NL" sz="2800" dirty="0"/>
              <a:t> </a:t>
            </a:r>
            <a:r>
              <a:rPr lang="nl-NL" sz="2800" dirty="0" err="1"/>
              <a:t>repeated</a:t>
            </a:r>
            <a:endParaRPr lang="nl-NL" sz="2800" dirty="0"/>
          </a:p>
          <a:p>
            <a:pPr>
              <a:buClrTx/>
              <a:buFont typeface="Arial" panose="020B0604020202020204" pitchFamily="34" charset="0"/>
              <a:buChar char="•"/>
            </a:pPr>
            <a:r>
              <a:rPr lang="nl-NL" sz="2800" dirty="0"/>
              <a:t> </a:t>
            </a:r>
            <a:r>
              <a:rPr lang="nl-NL" sz="2800" dirty="0" err="1"/>
              <a:t>Conclusion</a:t>
            </a:r>
            <a:r>
              <a:rPr lang="nl-NL" sz="2800" dirty="0"/>
              <a:t> isn't sufficiently substantiated</a:t>
            </a:r>
          </a:p>
          <a:p>
            <a:pPr>
              <a:buClrTx/>
              <a:buFont typeface="Arial" panose="020B0604020202020204" pitchFamily="34" charset="0"/>
              <a:buChar char="•"/>
            </a:pPr>
            <a:r>
              <a:rPr lang="nl-NL" sz="2800" dirty="0"/>
              <a:t> Critical discussion lacks depth </a:t>
            </a:r>
          </a:p>
          <a:p>
            <a:pPr marL="128013" lvl="1" indent="0">
              <a:buNone/>
            </a:pPr>
            <a:r>
              <a:rPr lang="nl-NL" sz="2800" dirty="0"/>
              <a:t>	- Not enough criticism</a:t>
            </a:r>
          </a:p>
          <a:p>
            <a:pPr marL="128013" lvl="1" indent="0">
              <a:buNone/>
            </a:pPr>
            <a:r>
              <a:rPr lang="nl-NL" sz="2800" dirty="0"/>
              <a:t>	- Irrelevant criticism</a:t>
            </a:r>
          </a:p>
          <a:p>
            <a:pPr>
              <a:buClrTx/>
              <a:buFont typeface="Arial" panose="020B0604020202020204" pitchFamily="34" charset="0"/>
              <a:buChar char="•"/>
            </a:pPr>
            <a:r>
              <a:rPr lang="nl-NL" sz="2800" dirty="0"/>
              <a:t> Suggestions for follow-up research:                          </a:t>
            </a:r>
          </a:p>
          <a:p>
            <a:pPr marL="0" indent="0">
              <a:buNone/>
            </a:pPr>
            <a:r>
              <a:rPr lang="nl-NL" sz="2800" dirty="0"/>
              <a:t>	 - Not </a:t>
            </a:r>
            <a:r>
              <a:rPr lang="nl-NL" sz="2800" dirty="0" err="1"/>
              <a:t>specific</a:t>
            </a:r>
            <a:r>
              <a:rPr lang="nl-NL" sz="2800" dirty="0"/>
              <a:t> </a:t>
            </a:r>
            <a:r>
              <a:rPr lang="nl-NL" sz="2800" dirty="0" err="1"/>
              <a:t>enough</a:t>
            </a:r>
            <a:r>
              <a:rPr lang="nl-NL" sz="2800" dirty="0"/>
              <a:t>, </a:t>
            </a:r>
            <a:r>
              <a:rPr lang="nl-NL" sz="2800" dirty="0" err="1"/>
              <a:t>not</a:t>
            </a:r>
            <a:r>
              <a:rPr lang="nl-NL" sz="2800" dirty="0"/>
              <a:t> relevant   </a:t>
            </a:r>
            <a:endParaRPr lang="en-GB" sz="2800" dirty="0"/>
          </a:p>
          <a:p>
            <a:pPr>
              <a:buClrTx/>
              <a:buFont typeface="Arial" panose="020B0604020202020204" pitchFamily="34" charset="0"/>
              <a:buChar char="•"/>
            </a:pPr>
            <a:r>
              <a:rPr lang="en-US" sz="2800" dirty="0"/>
              <a:t> No implications for theory/practice </a:t>
            </a:r>
          </a:p>
          <a:p>
            <a:pPr marL="128013" lvl="1" indent="0">
              <a:buNone/>
            </a:pPr>
            <a:endParaRPr lang="en-GB" sz="2800" dirty="0"/>
          </a:p>
          <a:p>
            <a:pPr marL="109535" indent="0">
              <a:buNone/>
            </a:pPr>
            <a:endParaRPr lang="en-GB" dirty="0"/>
          </a:p>
          <a:p>
            <a:pPr marL="392104" lvl="1" indent="0">
              <a:buNone/>
            </a:pPr>
            <a:endParaRPr lang="en-GB" dirty="0"/>
          </a:p>
          <a:p>
            <a:pPr marL="392104" lvl="1" indent="0">
              <a:buNone/>
            </a:pPr>
            <a:endParaRPr lang="en-GB" dirty="0"/>
          </a:p>
          <a:p>
            <a:pPr marL="392104" lvl="1" indent="0">
              <a:buNone/>
            </a:pPr>
            <a:endParaRPr lang="en-GB" dirty="0"/>
          </a:p>
          <a:p>
            <a:pPr lvl="1">
              <a:buFont typeface="Wingdings" panose="05000000000000000000" pitchFamily="2" charset="2"/>
              <a:buChar char="§"/>
            </a:pPr>
            <a:endParaRPr lang="en-GB" dirty="0"/>
          </a:p>
        </p:txBody>
      </p:sp>
    </p:spTree>
    <p:extLst>
      <p:ext uri="{BB962C8B-B14F-4D97-AF65-F5344CB8AC3E}">
        <p14:creationId xmlns:p14="http://schemas.microsoft.com/office/powerpoint/2010/main" val="2032722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defRPr/>
            </a:pPr>
            <a:r>
              <a:rPr lang="en-GB" dirty="0"/>
              <a:t>CONCLUSION</a:t>
            </a:r>
            <a:r>
              <a:rPr lang="en-US" dirty="0"/>
              <a:t> - </a:t>
            </a:r>
            <a:r>
              <a:rPr sz="3600" dirty="0"/>
              <a:t>Example</a:t>
            </a:r>
            <a:r>
              <a:rPr lang="en-US" sz="3600" dirty="0"/>
              <a:t> of substantiated answer to the question</a:t>
            </a:r>
            <a:endParaRPr dirty="0"/>
          </a:p>
        </p:txBody>
      </p:sp>
      <p:sp>
        <p:nvSpPr>
          <p:cNvPr id="50178" name="Tijdelijke aanduiding voor inhoud 2"/>
          <p:cNvSpPr>
            <a:spLocks noGrp="1"/>
          </p:cNvSpPr>
          <p:nvPr>
            <p:ph idx="1"/>
          </p:nvPr>
        </p:nvSpPr>
        <p:spPr/>
        <p:txBody>
          <a:bodyPr>
            <a:noAutofit/>
          </a:bodyPr>
          <a:lstStyle/>
          <a:p>
            <a:pPr marL="0" indent="0">
              <a:buNone/>
            </a:pPr>
            <a:endParaRPr lang="en-US" altLang="nl-NL" sz="2800" b="1" dirty="0"/>
          </a:p>
          <a:p>
            <a:pPr marL="0" indent="0">
              <a:buNone/>
            </a:pPr>
            <a:r>
              <a:rPr lang="en-US" altLang="nl-NL" sz="2800" b="1" dirty="0"/>
              <a:t>Relation between attentional bias and addiction</a:t>
            </a:r>
          </a:p>
          <a:p>
            <a:pPr marL="0" indent="0">
              <a:buNone/>
            </a:pPr>
            <a:r>
              <a:rPr lang="nl-NL" altLang="nl-NL" sz="2800" dirty="0"/>
              <a:t>"</a:t>
            </a:r>
            <a:r>
              <a:rPr lang="en-GB" altLang="nl-NL" sz="2800" dirty="0"/>
              <a:t>This report maps the relation between attentional bias and addiction. Literature has shown that the attentional bias can play a role in the maintenance of addictions. It appears that the bias and the subjective desire for drugs interact (Field &amp; Cox, 2008). Whenever an addict is confronted with stimuli related to his addiction, both the craving for drugs as well as the attentional bias increase (Field &amp; Eastwood, 2005). …”</a:t>
            </a:r>
          </a:p>
        </p:txBody>
      </p:sp>
    </p:spTree>
    <p:extLst>
      <p:ext uri="{BB962C8B-B14F-4D97-AF65-F5344CB8AC3E}">
        <p14:creationId xmlns:p14="http://schemas.microsoft.com/office/powerpoint/2010/main" val="90139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defRPr/>
            </a:pPr>
            <a:r>
              <a:rPr lang="en-US" dirty="0"/>
              <a:t>CONCLUSION</a:t>
            </a:r>
            <a:r>
              <a:rPr lang="en-US" sz="3600" dirty="0"/>
              <a:t> - </a:t>
            </a:r>
            <a:r>
              <a:rPr sz="3600" dirty="0"/>
              <a:t>Good Example</a:t>
            </a:r>
          </a:p>
        </p:txBody>
      </p:sp>
      <p:sp>
        <p:nvSpPr>
          <p:cNvPr id="63491" name="Tijdelijke aanduiding voor inhoud 2"/>
          <p:cNvSpPr>
            <a:spLocks noGrp="1"/>
          </p:cNvSpPr>
          <p:nvPr>
            <p:ph idx="1"/>
          </p:nvPr>
        </p:nvSpPr>
        <p:spPr/>
        <p:txBody>
          <a:bodyPr>
            <a:normAutofit fontScale="85000" lnSpcReduction="10000"/>
          </a:bodyPr>
          <a:lstStyle/>
          <a:p>
            <a:pPr marL="0" indent="0">
              <a:buNone/>
            </a:pPr>
            <a:endParaRPr lang="en-US" altLang="nl-NL" sz="2800" b="1" dirty="0"/>
          </a:p>
          <a:p>
            <a:pPr marL="0" indent="0">
              <a:buNone/>
            </a:pPr>
            <a:r>
              <a:rPr lang="en-US" altLang="nl-NL" sz="2800" b="1" dirty="0"/>
              <a:t>Relation between attentional bias and addiction</a:t>
            </a:r>
          </a:p>
          <a:p>
            <a:pPr marL="0" indent="0">
              <a:buNone/>
            </a:pPr>
            <a:r>
              <a:rPr lang="nl-NL" altLang="nl-NL" sz="2800" dirty="0"/>
              <a:t>"</a:t>
            </a:r>
            <a:r>
              <a:rPr lang="en-GB" altLang="nl-NL" sz="2800" dirty="0"/>
              <a:t>This report maps the </a:t>
            </a:r>
            <a:r>
              <a:rPr lang="en-GB" altLang="nl-NL" sz="2800" dirty="0">
                <a:solidFill>
                  <a:srgbClr val="00B050"/>
                </a:solidFill>
              </a:rPr>
              <a:t>relation between attentional bias and addiction.</a:t>
            </a:r>
            <a:r>
              <a:rPr lang="en-GB" altLang="nl-NL" sz="2800" dirty="0"/>
              <a:t> Literature has shown that the </a:t>
            </a:r>
            <a:r>
              <a:rPr lang="en-GB" altLang="nl-NL" sz="2800" dirty="0">
                <a:solidFill>
                  <a:srgbClr val="00B050"/>
                </a:solidFill>
              </a:rPr>
              <a:t>attentional bias can play a role in the maintenance of addictions.</a:t>
            </a:r>
            <a:r>
              <a:rPr lang="en-GB" altLang="nl-NL" sz="2800" dirty="0"/>
              <a:t> It appears that the bias and the subjective desire for drugs interact </a:t>
            </a:r>
            <a:r>
              <a:rPr lang="en-GB" altLang="nl-NL" sz="2800" dirty="0">
                <a:solidFill>
                  <a:srgbClr val="00B050"/>
                </a:solidFill>
              </a:rPr>
              <a:t>(Field &amp; Cox, 2008). </a:t>
            </a:r>
            <a:r>
              <a:rPr lang="en-GB" altLang="nl-NL" sz="2800" dirty="0"/>
              <a:t>Whenever an addict is confronted with stimuli related to his addiction, both the craving for drugs as well as the attentional bias increase </a:t>
            </a:r>
            <a:r>
              <a:rPr lang="en-GB" altLang="nl-NL" sz="2800" dirty="0">
                <a:solidFill>
                  <a:srgbClr val="00B050"/>
                </a:solidFill>
              </a:rPr>
              <a:t>(Field &amp; Eastwood, 2005). </a:t>
            </a:r>
            <a:r>
              <a:rPr lang="en-GB" altLang="nl-NL" sz="2800" dirty="0"/>
              <a:t>…”</a:t>
            </a:r>
          </a:p>
          <a:p>
            <a:pPr marL="0" indent="0">
              <a:buNone/>
              <a:defRPr/>
            </a:pPr>
            <a:endParaRPr lang="en-GB" dirty="0"/>
          </a:p>
          <a:p>
            <a:pPr marL="0" indent="0">
              <a:buNone/>
              <a:defRPr/>
            </a:pPr>
            <a:r>
              <a:rPr lang="nl-NL" sz="2600" dirty="0">
                <a:solidFill>
                  <a:srgbClr val="006600"/>
                </a:solidFill>
              </a:rPr>
              <a:t>It features a clear question, a clear answer and substantiation (incorporating the main findings)</a:t>
            </a:r>
          </a:p>
        </p:txBody>
      </p:sp>
    </p:spTree>
    <p:extLst>
      <p:ext uri="{BB962C8B-B14F-4D97-AF65-F5344CB8AC3E}">
        <p14:creationId xmlns:p14="http://schemas.microsoft.com/office/powerpoint/2010/main" val="2179829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defRPr/>
            </a:pPr>
            <a:r>
              <a:rPr lang="en-GB" dirty="0"/>
              <a:t>DISCUSSION </a:t>
            </a:r>
            <a:r>
              <a:rPr lang="en-US" dirty="0"/>
              <a:t>- </a:t>
            </a:r>
            <a:r>
              <a:rPr sz="3600" dirty="0"/>
              <a:t>Example</a:t>
            </a:r>
            <a:r>
              <a:rPr lang="en-US" sz="3600" dirty="0"/>
              <a:t> limitation</a:t>
            </a:r>
            <a:endParaRPr sz="3600" dirty="0"/>
          </a:p>
        </p:txBody>
      </p:sp>
      <p:sp>
        <p:nvSpPr>
          <p:cNvPr id="52226" name="Tijdelijke aanduiding voor inhoud 2"/>
          <p:cNvSpPr>
            <a:spLocks noGrp="1"/>
          </p:cNvSpPr>
          <p:nvPr>
            <p:ph idx="1"/>
          </p:nvPr>
        </p:nvSpPr>
        <p:spPr/>
        <p:txBody>
          <a:bodyPr>
            <a:normAutofit/>
          </a:bodyPr>
          <a:lstStyle/>
          <a:p>
            <a:pPr marL="0" indent="0">
              <a:buNone/>
            </a:pPr>
            <a:endParaRPr lang="en-GB" altLang="nl-NL" b="1" dirty="0"/>
          </a:p>
          <a:p>
            <a:pPr marL="0" indent="0">
              <a:buNone/>
            </a:pPr>
            <a:r>
              <a:rPr lang="en-GB" altLang="nl-NL" sz="2800" b="1" dirty="0"/>
              <a:t>Effect of laughing on physical health</a:t>
            </a:r>
            <a:endParaRPr lang="en-GB" altLang="nl-NL" sz="2800" dirty="0"/>
          </a:p>
          <a:p>
            <a:pPr marL="0" indent="0">
              <a:buNone/>
            </a:pPr>
            <a:r>
              <a:rPr lang="en-GB" altLang="nl-NL" sz="2800" dirty="0"/>
              <a:t>"…In studies researching the effect of laughing on physical health, the question that remains is whether the effect measured is caused only by laughing, or, perhaps, also by other factors. Furthermore, the difference between men and women should also be taken into account. Blood pressure in men differs from that of women during laughing, for example (Martin, 2001). ..."</a:t>
            </a:r>
          </a:p>
        </p:txBody>
      </p:sp>
    </p:spTree>
    <p:extLst>
      <p:ext uri="{BB962C8B-B14F-4D97-AF65-F5344CB8AC3E}">
        <p14:creationId xmlns:p14="http://schemas.microsoft.com/office/powerpoint/2010/main" val="487677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DISCUSSION - G</a:t>
            </a:r>
            <a:r>
              <a:rPr lang="en-US" sz="3600" dirty="0"/>
              <a:t>ood</a:t>
            </a:r>
            <a:r>
              <a:rPr sz="3600" dirty="0"/>
              <a:t> </a:t>
            </a:r>
            <a:r>
              <a:rPr lang="nl-NL" sz="3600" dirty="0"/>
              <a:t>E</a:t>
            </a:r>
            <a:r>
              <a:rPr sz="3600" dirty="0" err="1"/>
              <a:t>xample</a:t>
            </a:r>
            <a:endParaRPr lang="en-GB" sz="3600" dirty="0"/>
          </a:p>
        </p:txBody>
      </p:sp>
      <p:sp>
        <p:nvSpPr>
          <p:cNvPr id="3" name="Tijdelijke aanduiding voor inhoud 2"/>
          <p:cNvSpPr>
            <a:spLocks noGrp="1"/>
          </p:cNvSpPr>
          <p:nvPr>
            <p:ph idx="1"/>
          </p:nvPr>
        </p:nvSpPr>
        <p:spPr/>
        <p:txBody>
          <a:bodyPr>
            <a:normAutofit/>
          </a:bodyPr>
          <a:lstStyle/>
          <a:p>
            <a:pPr marL="0" indent="0">
              <a:buNone/>
            </a:pPr>
            <a:r>
              <a:rPr lang="en-US" altLang="nl-NL" sz="2800" b="1" dirty="0"/>
              <a:t>Effect of laughing on physical health</a:t>
            </a:r>
          </a:p>
          <a:p>
            <a:pPr marL="0" indent="0">
              <a:buNone/>
            </a:pPr>
            <a:r>
              <a:rPr lang="en-US" altLang="nl-NL" sz="2800" dirty="0"/>
              <a:t>"…In studies researching the effect of laughing on physical health, the question that remains is whether the </a:t>
            </a:r>
            <a:r>
              <a:rPr lang="en-US" altLang="nl-NL" sz="2800" dirty="0">
                <a:solidFill>
                  <a:srgbClr val="006600"/>
                </a:solidFill>
              </a:rPr>
              <a:t>effect measured is caused only by laughing, or, perhaps, also by other factors </a:t>
            </a:r>
            <a:r>
              <a:rPr lang="en-US" altLang="nl-NL" sz="2800" dirty="0"/>
              <a:t>. Furthermore, the </a:t>
            </a:r>
            <a:r>
              <a:rPr lang="en-US" altLang="nl-NL" sz="2800" dirty="0">
                <a:solidFill>
                  <a:srgbClr val="006600"/>
                </a:solidFill>
              </a:rPr>
              <a:t>difference between men and women should also be taken into account</a:t>
            </a:r>
            <a:r>
              <a:rPr lang="en-US" altLang="nl-NL" sz="2800" dirty="0"/>
              <a:t>. Blood pressure in men differs from that of women during laughing, for example  </a:t>
            </a:r>
            <a:r>
              <a:rPr lang="en-US" altLang="nl-NL" sz="2800" dirty="0">
                <a:solidFill>
                  <a:srgbClr val="006600"/>
                </a:solidFill>
              </a:rPr>
              <a:t>(Martin, 2001). </a:t>
            </a:r>
            <a:r>
              <a:rPr lang="en-US" altLang="nl-NL" sz="2800" dirty="0"/>
              <a:t>…”</a:t>
            </a:r>
            <a:endParaRPr lang="en-US" altLang="nl-NL" sz="2800" dirty="0">
              <a:solidFill>
                <a:srgbClr val="006600"/>
              </a:solidFill>
            </a:endParaRPr>
          </a:p>
          <a:p>
            <a:pPr marL="0" indent="0">
              <a:buNone/>
            </a:pPr>
            <a:endParaRPr lang="en-GB" altLang="nl-NL" sz="2800" dirty="0">
              <a:solidFill>
                <a:srgbClr val="006600"/>
              </a:solidFill>
            </a:endParaRPr>
          </a:p>
          <a:p>
            <a:pPr marL="0" indent="0">
              <a:buNone/>
            </a:pPr>
            <a:r>
              <a:rPr lang="nl-NL" altLang="nl-NL" sz="2800" dirty="0">
                <a:solidFill>
                  <a:srgbClr val="006600"/>
                </a:solidFill>
              </a:rPr>
              <a:t>Good connotations and source</a:t>
            </a:r>
          </a:p>
          <a:p>
            <a:pPr marL="0" indent="0">
              <a:buNone/>
            </a:pPr>
            <a:r>
              <a:rPr lang="nl-NL" altLang="nl-NL" sz="2800" dirty="0">
                <a:solidFill>
                  <a:srgbClr val="FF0000"/>
                </a:solidFill>
              </a:rPr>
              <a:t>What other factors could also have an effect? </a:t>
            </a:r>
          </a:p>
          <a:p>
            <a:pPr marL="0" indent="0">
              <a:buNone/>
            </a:pPr>
            <a:endParaRPr lang="en-GB" altLang="nl-NL" dirty="0">
              <a:solidFill>
                <a:srgbClr val="FF0000"/>
              </a:solidFill>
            </a:endParaRPr>
          </a:p>
          <a:p>
            <a:endParaRPr lang="en-GB" dirty="0"/>
          </a:p>
        </p:txBody>
      </p:sp>
    </p:spTree>
    <p:extLst>
      <p:ext uri="{BB962C8B-B14F-4D97-AF65-F5344CB8AC3E}">
        <p14:creationId xmlns:p14="http://schemas.microsoft.com/office/powerpoint/2010/main" val="274407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lang="en-US" dirty="0"/>
              <a:t>DISCUSSION - Example s</a:t>
            </a:r>
            <a:r>
              <a:rPr dirty="0"/>
              <a:t>uggestion for follow-up research</a:t>
            </a:r>
            <a:endParaRPr lang="en-GB" dirty="0"/>
          </a:p>
        </p:txBody>
      </p:sp>
      <p:sp>
        <p:nvSpPr>
          <p:cNvPr id="54274" name="Tijdelijke aanduiding voor inhoud 1"/>
          <p:cNvSpPr>
            <a:spLocks noGrp="1"/>
          </p:cNvSpPr>
          <p:nvPr>
            <p:ph idx="1"/>
          </p:nvPr>
        </p:nvSpPr>
        <p:spPr/>
        <p:txBody>
          <a:bodyPr/>
          <a:lstStyle/>
          <a:p>
            <a:pPr marL="107948" indent="0">
              <a:buNone/>
            </a:pPr>
            <a:endParaRPr lang="nl-NL" altLang="nl-NL" sz="2800" dirty="0"/>
          </a:p>
          <a:p>
            <a:pPr marL="107948" indent="0">
              <a:buNone/>
            </a:pPr>
            <a:r>
              <a:rPr lang="nl-NL" altLang="nl-NL" sz="2800" dirty="0"/>
              <a:t>"This literature study has led to the conclusion that there is no specific cause for the manifestation of eating binges in patients with anorexia nervosa. These are always caused by a multitude of factors. Follow-up research could focus on this combination of factors."</a:t>
            </a:r>
          </a:p>
          <a:p>
            <a:pPr marL="107948" indent="0">
              <a:buNone/>
            </a:pPr>
            <a:endParaRPr lang="en-GB" altLang="nl-NL" dirty="0"/>
          </a:p>
        </p:txBody>
      </p:sp>
    </p:spTree>
    <p:extLst>
      <p:ext uri="{BB962C8B-B14F-4D97-AF65-F5344CB8AC3E}">
        <p14:creationId xmlns:p14="http://schemas.microsoft.com/office/powerpoint/2010/main" val="776684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pPr>
              <a:defRPr/>
            </a:pPr>
            <a:r>
              <a:rPr lang="en-US" dirty="0"/>
              <a:t>DISCUSSION - </a:t>
            </a:r>
            <a:r>
              <a:rPr dirty="0"/>
              <a:t>Mediocre example</a:t>
            </a:r>
            <a:endParaRPr lang="en-GB" dirty="0"/>
          </a:p>
        </p:txBody>
      </p:sp>
      <p:sp>
        <p:nvSpPr>
          <p:cNvPr id="55298" name="Tijdelijke aanduiding voor inhoud 1"/>
          <p:cNvSpPr>
            <a:spLocks noGrp="1"/>
          </p:cNvSpPr>
          <p:nvPr>
            <p:ph idx="1"/>
          </p:nvPr>
        </p:nvSpPr>
        <p:spPr/>
        <p:txBody>
          <a:bodyPr>
            <a:normAutofit/>
          </a:bodyPr>
          <a:lstStyle/>
          <a:p>
            <a:pPr marL="107948" indent="0">
              <a:buNone/>
            </a:pPr>
            <a:endParaRPr lang="nl-NL" altLang="nl-NL" sz="2800" dirty="0"/>
          </a:p>
          <a:p>
            <a:pPr marL="107948" indent="0">
              <a:buNone/>
            </a:pPr>
            <a:r>
              <a:rPr lang="nl-NL" altLang="nl-NL" sz="2800" dirty="0"/>
              <a:t>"This literature study has led to the conclusion that there is no specific cause for the manifestation of eating binges in patients with anorexia nervosa. These are always caused by a multitude of factors. </a:t>
            </a:r>
            <a:r>
              <a:rPr lang="nl-NL" altLang="nl-NL" sz="2800" dirty="0">
                <a:solidFill>
                  <a:srgbClr val="FF0000"/>
                </a:solidFill>
              </a:rPr>
              <a:t>Follow-up research could focus on this combination of factors.</a:t>
            </a:r>
            <a:br>
              <a:rPr sz="2800" dirty="0"/>
            </a:br>
            <a:r>
              <a:rPr lang="nl-NL" altLang="nl-NL" sz="2800" dirty="0">
                <a:solidFill>
                  <a:srgbClr val="FF0000"/>
                </a:solidFill>
              </a:rPr>
              <a:t> </a:t>
            </a:r>
          </a:p>
          <a:p>
            <a:pPr marL="107948" indent="0">
              <a:buNone/>
            </a:pPr>
            <a:endParaRPr lang="en-GB" altLang="nl-NL" sz="2800" dirty="0">
              <a:solidFill>
                <a:srgbClr val="FF0000"/>
              </a:solidFill>
            </a:endParaRPr>
          </a:p>
          <a:p>
            <a:pPr marL="107948" indent="0">
              <a:buNone/>
            </a:pPr>
            <a:r>
              <a:rPr lang="nl-NL" altLang="nl-NL" sz="2800" dirty="0">
                <a:solidFill>
                  <a:srgbClr val="FF0000"/>
                </a:solidFill>
              </a:rPr>
              <a:t>Not specific enough!</a:t>
            </a:r>
          </a:p>
        </p:txBody>
      </p:sp>
    </p:spTree>
    <p:extLst>
      <p:ext uri="{BB962C8B-B14F-4D97-AF65-F5344CB8AC3E}">
        <p14:creationId xmlns:p14="http://schemas.microsoft.com/office/powerpoint/2010/main" val="4076603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lang="en-US" dirty="0">
                <a:solidFill>
                  <a:schemeClr val="accent5"/>
                </a:solidFill>
              </a:rPr>
              <a:t>DISCUSSION - Example suggestion for follow-up research</a:t>
            </a:r>
            <a:endParaRPr lang="en-GB" dirty="0">
              <a:solidFill>
                <a:schemeClr val="accent5"/>
              </a:solidFill>
            </a:endParaRPr>
          </a:p>
        </p:txBody>
      </p:sp>
      <p:sp>
        <p:nvSpPr>
          <p:cNvPr id="56322" name="Tijdelijke aanduiding voor inhoud 1"/>
          <p:cNvSpPr>
            <a:spLocks noGrp="1"/>
          </p:cNvSpPr>
          <p:nvPr>
            <p:ph idx="1"/>
          </p:nvPr>
        </p:nvSpPr>
        <p:spPr/>
        <p:txBody>
          <a:bodyPr/>
          <a:lstStyle/>
          <a:p>
            <a:pPr marL="107948" indent="0">
              <a:buNone/>
            </a:pPr>
            <a:endParaRPr lang="nl-NL" altLang="nl-NL" dirty="0"/>
          </a:p>
          <a:p>
            <a:pPr marL="107948" indent="0">
              <a:buNone/>
            </a:pPr>
            <a:r>
              <a:rPr lang="nl-NL" altLang="nl-NL" dirty="0"/>
              <a:t>"It </a:t>
            </a:r>
            <a:r>
              <a:rPr lang="nl-NL" altLang="nl-NL" sz="2800" dirty="0"/>
              <a:t>could be interesting to investigate whether the intrinsic motivation of students can be enhanced by the use of social media in education." </a:t>
            </a:r>
          </a:p>
        </p:txBody>
      </p:sp>
    </p:spTree>
    <p:extLst>
      <p:ext uri="{BB962C8B-B14F-4D97-AF65-F5344CB8AC3E}">
        <p14:creationId xmlns:p14="http://schemas.microsoft.com/office/powerpoint/2010/main" val="1142591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pPr>
              <a:defRPr/>
            </a:pPr>
            <a:r>
              <a:rPr lang="en-US" dirty="0"/>
              <a:t>DISCUSSION - </a:t>
            </a:r>
            <a:r>
              <a:rPr dirty="0"/>
              <a:t>Good Example</a:t>
            </a:r>
            <a:endParaRPr lang="en-GB" dirty="0"/>
          </a:p>
        </p:txBody>
      </p:sp>
      <p:sp>
        <p:nvSpPr>
          <p:cNvPr id="57346" name="Tijdelijke aanduiding voor inhoud 1"/>
          <p:cNvSpPr>
            <a:spLocks noGrp="1"/>
          </p:cNvSpPr>
          <p:nvPr>
            <p:ph idx="1"/>
          </p:nvPr>
        </p:nvSpPr>
        <p:spPr/>
        <p:txBody>
          <a:bodyPr/>
          <a:lstStyle/>
          <a:p>
            <a:pPr marL="107948" indent="0">
              <a:buNone/>
            </a:pPr>
            <a:endParaRPr lang="en-GB" altLang="nl-NL" dirty="0"/>
          </a:p>
          <a:p>
            <a:pPr marL="107948" indent="0">
              <a:buNone/>
            </a:pPr>
            <a:r>
              <a:rPr lang="nl-NL" altLang="nl-NL" sz="2800" dirty="0"/>
              <a:t>"It could be interesting to investigate whether the </a:t>
            </a:r>
            <a:r>
              <a:rPr lang="nl-NL" altLang="nl-NL" sz="2800" dirty="0">
                <a:solidFill>
                  <a:srgbClr val="006600"/>
                </a:solidFill>
              </a:rPr>
              <a:t>intrinsic motivation </a:t>
            </a:r>
            <a:r>
              <a:rPr lang="nl-NL" altLang="nl-NL" sz="2800" dirty="0"/>
              <a:t>of students can be enhanced by the  </a:t>
            </a:r>
            <a:r>
              <a:rPr lang="nl-NL" altLang="nl-NL" sz="2800" dirty="0">
                <a:solidFill>
                  <a:srgbClr val="006600"/>
                </a:solidFill>
              </a:rPr>
              <a:t>use of social media in education."</a:t>
            </a:r>
          </a:p>
          <a:p>
            <a:pPr marL="107948" indent="0">
              <a:buNone/>
            </a:pPr>
            <a:endParaRPr lang="en-GB" altLang="nl-NL" sz="2800" dirty="0">
              <a:solidFill>
                <a:srgbClr val="006600"/>
              </a:solidFill>
            </a:endParaRPr>
          </a:p>
          <a:p>
            <a:pPr marL="107948" indent="0">
              <a:buNone/>
            </a:pPr>
            <a:r>
              <a:rPr lang="nl-NL" altLang="nl-NL" sz="2800" dirty="0">
                <a:solidFill>
                  <a:srgbClr val="006600"/>
                </a:solidFill>
              </a:rPr>
              <a:t>Sufficiently specific! </a:t>
            </a:r>
          </a:p>
        </p:txBody>
      </p:sp>
    </p:spTree>
    <p:extLst>
      <p:ext uri="{BB962C8B-B14F-4D97-AF65-F5344CB8AC3E}">
        <p14:creationId xmlns:p14="http://schemas.microsoft.com/office/powerpoint/2010/main" val="293823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DISCUSSION - Example i</a:t>
            </a:r>
            <a:r>
              <a:rPr dirty="0"/>
              <a:t>mplications </a:t>
            </a:r>
            <a:r>
              <a:rPr lang="en-US" dirty="0"/>
              <a:t>for </a:t>
            </a:r>
            <a:r>
              <a:rPr dirty="0"/>
              <a:t>practice</a:t>
            </a:r>
          </a:p>
        </p:txBody>
      </p:sp>
      <p:sp>
        <p:nvSpPr>
          <p:cNvPr id="3" name="Content Placeholder 2"/>
          <p:cNvSpPr>
            <a:spLocks noGrp="1"/>
          </p:cNvSpPr>
          <p:nvPr>
            <p:ph idx="1"/>
          </p:nvPr>
        </p:nvSpPr>
        <p:spPr/>
        <p:txBody>
          <a:bodyPr>
            <a:noAutofit/>
          </a:bodyPr>
          <a:lstStyle/>
          <a:p>
            <a:pPr marL="0" indent="0">
              <a:buNone/>
            </a:pPr>
            <a:endParaRPr lang="nl-NL" sz="2800" dirty="0"/>
          </a:p>
          <a:p>
            <a:pPr marL="0" indent="0">
              <a:buNone/>
            </a:pPr>
            <a:r>
              <a:rPr lang="nl-NL" sz="2800" dirty="0"/>
              <a:t>The above findings suggest that the manifestation and sustainment of alcohol abuse is related to the imbalance between the impulsive system and the regulating reflective system. </a:t>
            </a:r>
            <a:r>
              <a:rPr lang="nl-NL" sz="2800" dirty="0">
                <a:solidFill>
                  <a:srgbClr val="00B050"/>
                </a:solidFill>
              </a:rPr>
              <a:t>This theoretical insight offers new possibilities to the practical applications of addiction treatments. </a:t>
            </a:r>
            <a:r>
              <a:rPr lang="nl-NL" sz="2800" dirty="0"/>
              <a:t>Current forms of treatment could be augmented by the interventions aimed at 'restoring' the imbalance between both systems. </a:t>
            </a:r>
          </a:p>
        </p:txBody>
      </p:sp>
    </p:spTree>
    <p:extLst>
      <p:ext uri="{BB962C8B-B14F-4D97-AF65-F5344CB8AC3E}">
        <p14:creationId xmlns:p14="http://schemas.microsoft.com/office/powerpoint/2010/main" val="3558033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34CBE-10E0-421E-8FF0-3B04BF5C8BAA}"/>
              </a:ext>
            </a:extLst>
          </p:cNvPr>
          <p:cNvSpPr>
            <a:spLocks noGrp="1"/>
          </p:cNvSpPr>
          <p:nvPr>
            <p:ph type="title"/>
          </p:nvPr>
        </p:nvSpPr>
        <p:spPr/>
        <p:txBody>
          <a:bodyPr/>
          <a:lstStyle/>
          <a:p>
            <a:r>
              <a:rPr lang="en-GB" dirty="0"/>
              <a:t>Tips Discussion</a:t>
            </a:r>
          </a:p>
        </p:txBody>
      </p:sp>
      <p:sp>
        <p:nvSpPr>
          <p:cNvPr id="3" name="Content Placeholder 2">
            <a:extLst>
              <a:ext uri="{FF2B5EF4-FFF2-40B4-BE49-F238E27FC236}">
                <a16:creationId xmlns:a16="http://schemas.microsoft.com/office/drawing/2014/main" id="{C143E18C-40BB-4F7B-98EC-0C37A603709A}"/>
              </a:ext>
            </a:extLst>
          </p:cNvPr>
          <p:cNvSpPr>
            <a:spLocks noGrp="1"/>
          </p:cNvSpPr>
          <p:nvPr>
            <p:ph idx="1"/>
          </p:nvPr>
        </p:nvSpPr>
        <p:spPr/>
        <p:txBody>
          <a:bodyPr/>
          <a:lstStyle/>
          <a:p>
            <a:r>
              <a:rPr lang="en-US" noProof="0" dirty="0"/>
              <a:t>Read the discussion of the articles</a:t>
            </a:r>
            <a:r>
              <a:rPr lang="en-US" baseline="0" noProof="0" dirty="0"/>
              <a:t> you are using for your report</a:t>
            </a:r>
            <a:r>
              <a:rPr lang="en-US" noProof="0" dirty="0"/>
              <a:t>, here the authors themselves indicate the limitations of their research</a:t>
            </a:r>
            <a:endParaRPr lang="en-GB" noProof="0" dirty="0"/>
          </a:p>
          <a:p>
            <a:endParaRPr lang="en-GB" dirty="0"/>
          </a:p>
          <a:p>
            <a:r>
              <a:rPr lang="en-GB" dirty="0"/>
              <a:t>Have a look at the sample reports on Canvas and other review articles </a:t>
            </a:r>
          </a:p>
          <a:p>
            <a:pPr lvl="1"/>
            <a:r>
              <a:rPr lang="en-GB" dirty="0"/>
              <a:t>How is the discussion structured? </a:t>
            </a:r>
          </a:p>
          <a:p>
            <a:pPr lvl="1"/>
            <a:r>
              <a:rPr lang="en-GB" dirty="0"/>
              <a:t>How does the author link the critical discussion of the findings to the research question and the theoretical framework offered in the introduction? </a:t>
            </a:r>
          </a:p>
        </p:txBody>
      </p:sp>
    </p:spTree>
    <p:extLst>
      <p:ext uri="{BB962C8B-B14F-4D97-AF65-F5344CB8AC3E}">
        <p14:creationId xmlns:p14="http://schemas.microsoft.com/office/powerpoint/2010/main" val="3576536298"/>
      </p:ext>
    </p:extLst>
  </p:cSld>
  <p:clrMapOvr>
    <a:masterClrMapping/>
  </p:clrMapOvr>
</p:sld>
</file>

<file path=ppt/theme/theme1.xml><?xml version="1.0" encoding="utf-8"?>
<a:theme xmlns:a="http://schemas.openxmlformats.org/drawingml/2006/main" name="EUR_Presentatie_c18">
  <a:themeElements>
    <a:clrScheme name="Erasmus_Corporate">
      <a:dk1>
        <a:srgbClr val="002328"/>
      </a:dk1>
      <a:lt1>
        <a:sysClr val="window" lastClr="FFFFFF"/>
      </a:lt1>
      <a:dk2>
        <a:srgbClr val="00B969"/>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8055_Erasmus_ESSB_template_NL_16x9.pptx" id="{3ADC2819-0082-4205-AE01-17D45B78D08B}" vid="{FB905D5A-2361-465A-9AF5-4D716AA81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9A19BEFAF19E48A98499F0DCDB9845" ma:contentTypeVersion="14" ma:contentTypeDescription="Een nieuw document maken." ma:contentTypeScope="" ma:versionID="dffcc917a2dfb5bf427c53bfabe8ad2f">
  <xsd:schema xmlns:xsd="http://www.w3.org/2001/XMLSchema" xmlns:xs="http://www.w3.org/2001/XMLSchema" xmlns:p="http://schemas.microsoft.com/office/2006/metadata/properties" xmlns:ns2="e6184cdb-27b6-4fa9-b428-d3569f95926d" xmlns:ns3="ee5a7209-f4a2-4b85-bc1d-e34763a728ef" targetNamespace="http://schemas.microsoft.com/office/2006/metadata/properties" ma:root="true" ma:fieldsID="4949b5f5b4be31355d1afa7280bf2e3f" ns2:_="" ns3:_="">
    <xsd:import namespace="e6184cdb-27b6-4fa9-b428-d3569f95926d"/>
    <xsd:import namespace="ee5a7209-f4a2-4b85-bc1d-e34763a728e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184cdb-27b6-4fa9-b428-d3569f959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d5e0f8d3-5d55-42d7-8108-7e842a0d744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5a7209-f4a2-4b85-bc1d-e34763a728ef"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9f77011e-3075-432b-a5a0-f9ab8acea8dd}" ma:internalName="TaxCatchAll" ma:showField="CatchAllData" ma:web="ee5a7209-f4a2-4b85-bc1d-e34763a728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6184cdb-27b6-4fa9-b428-d3569f95926d">
      <Terms xmlns="http://schemas.microsoft.com/office/infopath/2007/PartnerControls"/>
    </lcf76f155ced4ddcb4097134ff3c332f>
    <TaxCatchAll xmlns="ee5a7209-f4a2-4b85-bc1d-e34763a728ef" xsi:nil="true"/>
  </documentManagement>
</p:properties>
</file>

<file path=customXml/itemProps1.xml><?xml version="1.0" encoding="utf-8"?>
<ds:datastoreItem xmlns:ds="http://schemas.openxmlformats.org/officeDocument/2006/customXml" ds:itemID="{AE76C45F-A7EB-4960-AC48-B41817FDC8BA}"/>
</file>

<file path=customXml/itemProps2.xml><?xml version="1.0" encoding="utf-8"?>
<ds:datastoreItem xmlns:ds="http://schemas.openxmlformats.org/officeDocument/2006/customXml" ds:itemID="{8F246465-3B08-4CAD-8D77-31BCBA58A711}"/>
</file>

<file path=customXml/itemProps3.xml><?xml version="1.0" encoding="utf-8"?>
<ds:datastoreItem xmlns:ds="http://schemas.openxmlformats.org/officeDocument/2006/customXml" ds:itemID="{6201A43E-2A84-473F-ABF1-DF8098E3AC2E}"/>
</file>

<file path=docProps/app.xml><?xml version="1.0" encoding="utf-8"?>
<Properties xmlns="http://schemas.openxmlformats.org/officeDocument/2006/extended-properties" xmlns:vt="http://schemas.openxmlformats.org/officeDocument/2006/docPropsVTypes">
  <TotalTime>37</TotalTime>
  <Words>1800</Words>
  <Application>Microsoft Office PowerPoint</Application>
  <PresentationFormat>Widescreen</PresentationFormat>
  <Paragraphs>115</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Museo Sans 100</vt:lpstr>
      <vt:lpstr>Museo Sans 500</vt:lpstr>
      <vt:lpstr>Museo Sans 700</vt:lpstr>
      <vt:lpstr>Museo Sans 900</vt:lpstr>
      <vt:lpstr>Wingdings</vt:lpstr>
      <vt:lpstr>EUR_Presentatie_c18</vt:lpstr>
      <vt:lpstr>Discussion </vt:lpstr>
      <vt:lpstr>Discussion</vt:lpstr>
      <vt:lpstr>DISCUSSION Assessment criteria Rubric</vt:lpstr>
      <vt:lpstr>Pitfalls</vt:lpstr>
      <vt:lpstr>CONCLUSION - Example of substantiated answer to the question</vt:lpstr>
      <vt:lpstr>CONCLUSION - Good Example</vt:lpstr>
      <vt:lpstr>DISCUSSION - Example limitation</vt:lpstr>
      <vt:lpstr>DISCUSSION - Good Example</vt:lpstr>
      <vt:lpstr>DISCUSSION - Example suggestion for follow-up research</vt:lpstr>
      <vt:lpstr>DISCUSSION - Mediocre example</vt:lpstr>
      <vt:lpstr>DISCUSSION - Example suggestion for follow-up research</vt:lpstr>
      <vt:lpstr>DISCUSSION - Good Example</vt:lpstr>
      <vt:lpstr>DISCUSSION - Example implications for practice</vt:lpstr>
      <vt:lpstr>Tips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Discussion</dc:title>
  <dc:creator>Estella van der Wal</dc:creator>
  <cp:lastModifiedBy>Estella van der Wal</cp:lastModifiedBy>
  <cp:revision>5</cp:revision>
  <dcterms:created xsi:type="dcterms:W3CDTF">2022-03-22T07:44:25Z</dcterms:created>
  <dcterms:modified xsi:type="dcterms:W3CDTF">2022-05-23T12:11:56Z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0x010100FF9A19BEFAF19E48A98499F0DCDB9845</vt:lpwstr>
  </property>
</Properties>
</file>