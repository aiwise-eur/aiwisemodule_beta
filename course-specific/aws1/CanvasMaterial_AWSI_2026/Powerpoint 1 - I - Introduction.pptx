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7" r:id="rId5"/>
    <p:sldId id="282" r:id="rId6"/>
    <p:sldId id="309" r:id="rId7"/>
    <p:sldId id="317" r:id="rId8"/>
    <p:sldId id="324" r:id="rId9"/>
    <p:sldId id="325" r:id="rId10"/>
    <p:sldId id="326" r:id="rId11"/>
    <p:sldId id="315" r:id="rId12"/>
    <p:sldId id="311" r:id="rId13"/>
    <p:sldId id="312" r:id="rId14"/>
    <p:sldId id="313" r:id="rId15"/>
    <p:sldId id="314" r:id="rId16"/>
    <p:sldId id="305" r:id="rId17"/>
    <p:sldId id="328" r:id="rId18"/>
    <p:sldId id="329" r:id="rId19"/>
    <p:sldId id="330" r:id="rId20"/>
    <p:sldId id="331" r:id="rId21"/>
    <p:sldId id="316" r:id="rId22"/>
    <p:sldId id="310" r:id="rId23"/>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378" autoAdjust="0"/>
  </p:normalViewPr>
  <p:slideViewPr>
    <p:cSldViewPr snapToGrid="0">
      <p:cViewPr varScale="1">
        <p:scale>
          <a:sx n="38" d="100"/>
          <a:sy n="38" d="100"/>
        </p:scale>
        <p:origin x="1299" y="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zbeta Kozdonova" userId="S::63217ako@eur.nl::ba141273-9f2c-4e4c-8b4f-87fb69d17874" providerId="AD" clId="Web-{5C618A4D-BD02-F562-E4AE-BC81AC2962E5}"/>
    <pc:docChg chg="mod">
      <pc:chgData name="Alzbeta Kozdonova" userId="S::63217ako@eur.nl::ba141273-9f2c-4e4c-8b4f-87fb69d17874" providerId="AD" clId="Web-{5C618A4D-BD02-F562-E4AE-BC81AC2962E5}" dt="2026-05-11T08:58:26.431"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2862F9-18D3-45B6-9B3E-5B1FE535F360}" type="datetimeFigureOut">
              <a:rPr lang="en-GB" smtClean="0"/>
              <a:t>11/05/2026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96F2AD-ECB8-4F03-9957-589F65749081}" type="slidenum">
              <a:rPr lang="en-GB" smtClean="0"/>
              <a:t>‹#›</a:t>
            </a:fld>
            <a:endParaRPr lang="en-GB"/>
          </a:p>
        </p:txBody>
      </p:sp>
    </p:spTree>
    <p:extLst>
      <p:ext uri="{BB962C8B-B14F-4D97-AF65-F5344CB8AC3E}">
        <p14:creationId xmlns:p14="http://schemas.microsoft.com/office/powerpoint/2010/main" val="3485871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In this PowerPoint we will discuss the first part of the report that you’ll be completing, the introduction.</a:t>
            </a:r>
          </a:p>
          <a:p>
            <a:r>
              <a:rPr lang="en-US" dirty="0"/>
              <a:t>In the introduction you answer questions such as:</a:t>
            </a:r>
          </a:p>
          <a:p>
            <a:pPr marL="171450" indent="-171450">
              <a:buFont typeface="Arial" panose="020B0604020202020204" pitchFamily="34" charset="0"/>
              <a:buChar char="•"/>
            </a:pPr>
            <a:r>
              <a:rPr lang="en-US" dirty="0"/>
              <a:t>What is the report about?</a:t>
            </a:r>
          </a:p>
          <a:p>
            <a:pPr marL="171450" indent="-171450">
              <a:buFont typeface="Arial" panose="020B0604020202020204" pitchFamily="34" charset="0"/>
              <a:buChar char="•"/>
            </a:pPr>
            <a:r>
              <a:rPr lang="en-US" dirty="0"/>
              <a:t>What is the central question?</a:t>
            </a:r>
          </a:p>
          <a:p>
            <a:pPr marL="171450" indent="-171450">
              <a:buFont typeface="Arial" panose="020B0604020202020204" pitchFamily="34" charset="0"/>
              <a:buChar char="•"/>
            </a:pPr>
            <a:r>
              <a:rPr lang="en-US" dirty="0"/>
              <a:t>Why is it important (problem area + relevance)?</a:t>
            </a:r>
          </a:p>
          <a:p>
            <a:pPr marL="171450" indent="-171450">
              <a:buFont typeface="Arial" panose="020B0604020202020204" pitchFamily="34" charset="0"/>
              <a:buChar char="•"/>
            </a:pPr>
            <a:r>
              <a:rPr lang="en-US" dirty="0"/>
              <a:t>How will you answer the question (structure of the report)?</a:t>
            </a:r>
          </a:p>
          <a:p>
            <a:endParaRPr lang="en-US"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50B3B4-A52A-491D-ADEB-D2C0AD3558FA}"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9892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noProof="0" dirty="0"/>
              <a:t>The central question must logically follow from the introduction of the subject. For this you'll need to indicate the question's relevance. Why is it interesting? Because it happens a lot; because it's a serious issue; because it's relatively unknown...Start out big, narrowing the subject down as you get closer to your question (funnel</a:t>
            </a:r>
            <a:r>
              <a:rPr lang="en-US" baseline="0" noProof="0" dirty="0"/>
              <a:t> model)</a:t>
            </a:r>
            <a:r>
              <a:rPr lang="en-US" noProof="0" dirty="0"/>
              <a:t>. Make sure that the introduction</a:t>
            </a:r>
            <a:r>
              <a:rPr lang="en-US" baseline="0" noProof="0" dirty="0"/>
              <a:t> </a:t>
            </a:r>
            <a:r>
              <a:rPr lang="en-US" noProof="0" dirty="0"/>
              <a:t>actually contains the central question. Not between the lines, but explicitly. Finish with a short description of the</a:t>
            </a:r>
            <a:r>
              <a:rPr lang="en-US" baseline="0" noProof="0" dirty="0"/>
              <a:t> </a:t>
            </a:r>
            <a:r>
              <a:rPr lang="en-US" noProof="0" dirty="0"/>
              <a:t>structure</a:t>
            </a:r>
            <a:r>
              <a:rPr lang="en-US" baseline="0" noProof="0" dirty="0"/>
              <a:t> of the report </a:t>
            </a:r>
            <a:r>
              <a:rPr lang="en-US" noProof="0" dirty="0"/>
              <a:t>so the reader will know what to expect from the rest of the text. </a:t>
            </a:r>
            <a:r>
              <a:rPr lang="en-US" dirty="0"/>
              <a:t>	</a:t>
            </a:r>
          </a:p>
          <a:p>
            <a:endParaRPr lang="en-GB" dirty="0"/>
          </a:p>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50B3B4-A52A-491D-ADEB-D2C0AD3558FA}"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05443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896F2AD-ECB8-4F03-9957-589F65749081}" type="slidenum">
              <a:rPr lang="en-GB" smtClean="0"/>
              <a:t>4</a:t>
            </a:fld>
            <a:endParaRPr lang="en-GB"/>
          </a:p>
        </p:txBody>
      </p:sp>
    </p:spTree>
    <p:extLst>
      <p:ext uri="{BB962C8B-B14F-4D97-AF65-F5344CB8AC3E}">
        <p14:creationId xmlns:p14="http://schemas.microsoft.com/office/powerpoint/2010/main" val="1888964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896F2AD-ECB8-4F03-9957-589F65749081}" type="slidenum">
              <a:rPr lang="en-GB" smtClean="0"/>
              <a:t>5</a:t>
            </a:fld>
            <a:endParaRPr lang="en-GB"/>
          </a:p>
        </p:txBody>
      </p:sp>
    </p:spTree>
    <p:extLst>
      <p:ext uri="{BB962C8B-B14F-4D97-AF65-F5344CB8AC3E}">
        <p14:creationId xmlns:p14="http://schemas.microsoft.com/office/powerpoint/2010/main" val="1147949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896F2AD-ECB8-4F03-9957-589F65749081}" type="slidenum">
              <a:rPr lang="en-GB" smtClean="0"/>
              <a:t>6</a:t>
            </a:fld>
            <a:endParaRPr lang="en-GB"/>
          </a:p>
        </p:txBody>
      </p:sp>
    </p:spTree>
    <p:extLst>
      <p:ext uri="{BB962C8B-B14F-4D97-AF65-F5344CB8AC3E}">
        <p14:creationId xmlns:p14="http://schemas.microsoft.com/office/powerpoint/2010/main" val="3731375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896F2AD-ECB8-4F03-9957-589F65749081}" type="slidenum">
              <a:rPr lang="en-GB" smtClean="0"/>
              <a:t>7</a:t>
            </a:fld>
            <a:endParaRPr lang="en-GB"/>
          </a:p>
        </p:txBody>
      </p:sp>
    </p:spTree>
    <p:extLst>
      <p:ext uri="{BB962C8B-B14F-4D97-AF65-F5344CB8AC3E}">
        <p14:creationId xmlns:p14="http://schemas.microsoft.com/office/powerpoint/2010/main" val="3851722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50B3B4-A52A-491D-ADEB-D2C0AD3558FA}"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08766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a:t>Have a look at </a:t>
            </a:r>
            <a:r>
              <a:rPr dirty="0"/>
              <a:t>this introduction. What do </a:t>
            </a:r>
            <a:r>
              <a:rPr lang="nl-NL" dirty="0" err="1"/>
              <a:t>you</a:t>
            </a:r>
            <a:r>
              <a:rPr lang="nl-NL" dirty="0"/>
              <a:t> </a:t>
            </a:r>
            <a:r>
              <a:rPr dirty="0"/>
              <a:t>think of it? Does the question logically follow from the introduction?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endParaRPr lang="en-GB" dirty="0"/>
          </a:p>
          <a:p>
            <a:endParaRPr lang="en-GB" dirty="0"/>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9</a:t>
            </a:fld>
            <a:endParaRPr lang="en-GB" dirty="0">
              <a:solidFill>
                <a:prstClr val="black"/>
              </a:solidFill>
            </a:endParaRPr>
          </a:p>
        </p:txBody>
      </p:sp>
    </p:spTree>
    <p:extLst>
      <p:ext uri="{BB962C8B-B14F-4D97-AF65-F5344CB8AC3E}">
        <p14:creationId xmlns:p14="http://schemas.microsoft.com/office/powerpoint/2010/main" val="2739957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dirty="0"/>
              <a:t>The introduction to the subject doesn't quite match the question. At first glance it appears to create the impression that the text is about to discuss ways to deal with distractions during studying. Only later does it turn out that the piece is on judgements of learning. The author would have done better if he'd discussed what issues students have in accurately assessing their learning activities. </a:t>
            </a:r>
          </a:p>
          <a:p>
            <a:endParaRPr lang="en-GB" dirty="0"/>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10</a:t>
            </a:fld>
            <a:endParaRPr lang="en-GB" dirty="0">
              <a:solidFill>
                <a:prstClr val="black"/>
              </a:solidFill>
            </a:endParaRPr>
          </a:p>
        </p:txBody>
      </p:sp>
    </p:spTree>
    <p:extLst>
      <p:ext uri="{BB962C8B-B14F-4D97-AF65-F5344CB8AC3E}">
        <p14:creationId xmlns:p14="http://schemas.microsoft.com/office/powerpoint/2010/main" val="1025553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a:t>Have a look at</a:t>
            </a:r>
            <a:r>
              <a:rPr dirty="0"/>
              <a:t> this example. What is the problem area here</a:t>
            </a:r>
            <a:r>
              <a:rPr lang="en-US" noProof="0" dirty="0"/>
              <a:t>? Why is it relevant</a:t>
            </a:r>
            <a:r>
              <a:rPr lang="en-US" baseline="0" noProof="0" dirty="0"/>
              <a:t> to</a:t>
            </a:r>
            <a:r>
              <a:rPr lang="en-US" noProof="0" dirty="0"/>
              <a:t> answer the question?</a:t>
            </a:r>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3952679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dirty="0"/>
              <a:t>The example fails to highlight the problem area</a:t>
            </a:r>
            <a:r>
              <a:rPr lang="nl-NL" dirty="0"/>
              <a:t>,</a:t>
            </a:r>
            <a:r>
              <a:rPr lang="nl-NL" baseline="0" dirty="0"/>
              <a:t> </a:t>
            </a:r>
            <a:r>
              <a:rPr dirty="0"/>
              <a:t>causing the question's relevance to remain </a:t>
            </a:r>
            <a:r>
              <a:rPr lang="en-GB" noProof="0" dirty="0"/>
              <a:t>untouched (also note the </a:t>
            </a:r>
            <a:r>
              <a:rPr lang="en-GB" baseline="0" noProof="0" dirty="0"/>
              <a:t>unscientific language used in the text)</a:t>
            </a:r>
            <a:r>
              <a:rPr lang="en-GB" noProof="0" dirty="0"/>
              <a:t>. </a:t>
            </a:r>
          </a:p>
          <a:p>
            <a:r>
              <a:rPr dirty="0"/>
              <a:t>The author should have indicated in the introduction that, for example, a lot ha</a:t>
            </a:r>
            <a:r>
              <a:rPr lang="en-US" dirty="0"/>
              <a:t>s</a:t>
            </a:r>
            <a:r>
              <a:rPr dirty="0"/>
              <a:t> yet to be explained on the factors that affect the attractiveness of </a:t>
            </a:r>
            <a:r>
              <a:rPr lang="en-US" dirty="0"/>
              <a:t>average </a:t>
            </a:r>
            <a:r>
              <a:rPr dirty="0"/>
              <a:t>face</a:t>
            </a:r>
            <a:r>
              <a:rPr lang="en-US" dirty="0"/>
              <a:t>s</a:t>
            </a:r>
            <a:r>
              <a:rPr dirty="0"/>
              <a:t>. In doing so he could have also briefly discussed some of the contradictory findings contained in the literature. </a:t>
            </a:r>
            <a:endParaRPr lang="en-GB" dirty="0"/>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12</a:t>
            </a:fld>
            <a:endParaRPr lang="en-GB" dirty="0">
              <a:solidFill>
                <a:prstClr val="black"/>
              </a:solidFill>
            </a:endParaRPr>
          </a:p>
        </p:txBody>
      </p:sp>
    </p:spTree>
    <p:extLst>
      <p:ext uri="{BB962C8B-B14F-4D97-AF65-F5344CB8AC3E}">
        <p14:creationId xmlns:p14="http://schemas.microsoft.com/office/powerpoint/2010/main" val="3520457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This example was included to show what is meant by a strong introduction to the subject. </a:t>
            </a:r>
          </a:p>
          <a:p>
            <a:r>
              <a:rPr lang="en-US" dirty="0"/>
              <a:t>We have chosen to select a real article to show that you can also use articles as examples on how to write your report. </a:t>
            </a:r>
          </a:p>
          <a:p>
            <a:endParaRPr lang="en-US" baseline="0" dirty="0"/>
          </a:p>
          <a:p>
            <a:r>
              <a:rPr lang="en-US" dirty="0"/>
              <a:t>Several issues are important in this example:</a:t>
            </a:r>
          </a:p>
          <a:p>
            <a:pPr marL="228600" indent="-228600">
              <a:buAutoNum type="arabicParenR"/>
            </a:pPr>
            <a:r>
              <a:rPr lang="en-US" baseline="0" noProof="0" dirty="0"/>
              <a:t>The opening sentence highlights the report's relevance (adolescence and health risk behaviors).</a:t>
            </a:r>
          </a:p>
          <a:p>
            <a:pPr marL="228600" indent="-228600">
              <a:buAutoNum type="arabicParenR"/>
            </a:pPr>
            <a:r>
              <a:rPr lang="en-US" sz="1200" baseline="0" noProof="0" dirty="0"/>
              <a:t>The authors kick off by mentioning facts indicating the subject's relevance </a:t>
            </a:r>
            <a:r>
              <a:rPr lang="en-US" baseline="0" noProof="0" dirty="0"/>
              <a:t>(risk behaviors have </a:t>
            </a:r>
            <a:r>
              <a:rPr lang="en-US" sz="1200" noProof="0" dirty="0"/>
              <a:t>dangerous and life altering</a:t>
            </a:r>
            <a:r>
              <a:rPr lang="en-US" dirty="0"/>
              <a:t> </a:t>
            </a:r>
            <a:r>
              <a:rPr lang="en-US" sz="1200" noProof="0" dirty="0"/>
              <a:t>consequences)</a:t>
            </a:r>
            <a:r>
              <a:rPr lang="en-US" dirty="0"/>
              <a:t> </a:t>
            </a:r>
          </a:p>
          <a:p>
            <a:pPr marL="228600" indent="-228600">
              <a:buAutoNum type="arabicParenR"/>
            </a:pPr>
            <a:r>
              <a:rPr lang="en-US" sz="1200" baseline="0" noProof="0" dirty="0"/>
              <a:t>The statements are supported by sources.</a:t>
            </a:r>
          </a:p>
          <a:p>
            <a:pPr marL="228600" indent="-228600">
              <a:buAutoNum type="arabicParenR"/>
            </a:pPr>
            <a:r>
              <a:rPr lang="en-US" sz="1200" baseline="0" noProof="0" dirty="0"/>
              <a:t>The subject focusses on one of the factors affecting risk behavior (decision making process). You can clearly see that the author is narrowing down the subject here as he works towards the central question. What also stands out is how it logically moves from broad to narrow (it shows a clear relation between the broad introduction and how it is narrowed down towards a specific question).</a:t>
            </a:r>
          </a:p>
          <a:p>
            <a:endParaRPr lang="nl-NL" dirty="0"/>
          </a:p>
          <a:p>
            <a:r>
              <a:rPr lang="nl-NL" dirty="0"/>
              <a:t>NB: </a:t>
            </a:r>
            <a:r>
              <a:rPr lang="en-US" dirty="0"/>
              <a:t>The outline of the problem area in this example has been shortened (theoretical framework, theoretical concepts and previous research are covered in more detail in the original article)</a:t>
            </a:r>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16283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The following aspects stand out in this second part of the introduction:</a:t>
            </a:r>
          </a:p>
          <a:p>
            <a:pPr marL="228600" indent="-228600">
              <a:buAutoNum type="arabicParenR"/>
            </a:pPr>
            <a:r>
              <a:rPr lang="en-US" dirty="0"/>
              <a:t>The author clearly indicates why it</a:t>
            </a:r>
            <a:r>
              <a:rPr lang="en-US" baseline="0" dirty="0"/>
              <a:t> i</a:t>
            </a:r>
            <a:r>
              <a:rPr lang="en-US" dirty="0"/>
              <a:t>s relevant</a:t>
            </a:r>
            <a:r>
              <a:rPr lang="en-US" baseline="0" dirty="0"/>
              <a:t> to </a:t>
            </a:r>
            <a:r>
              <a:rPr lang="en-US" dirty="0"/>
              <a:t>highlight the link between </a:t>
            </a:r>
            <a:r>
              <a:rPr lang="en-US" i="0" baseline="0" dirty="0"/>
              <a:t>decision making and risk-taking</a:t>
            </a:r>
            <a:r>
              <a:rPr lang="en-US" dirty="0"/>
              <a:t>. This explains the questions relevance (implications for programs and policies / little empirical evidence for the link between decision making and risk behaviors / little known about this relationship). This explains the added value of the research.</a:t>
            </a:r>
          </a:p>
          <a:p>
            <a:pPr marL="228600" indent="-228600">
              <a:buAutoNum type="arabicParenR"/>
            </a:pPr>
            <a:r>
              <a:rPr lang="en-US" dirty="0"/>
              <a:t>The central question is explicitly highlighted ("the main aim is to examine this link").</a:t>
            </a:r>
          </a:p>
          <a:p>
            <a:endParaRPr lang="en-US" baseline="0" dirty="0"/>
          </a:p>
          <a:p>
            <a:r>
              <a:rPr lang="en-US" dirty="0"/>
              <a:t>NB: In this example we see the author begin by highlighting the question's relevance and only then proceed to outline the problem area. You may elect to outline the problem area first, followed by the question, followed by its relevance. The point of the matter is that the introduction is structured logically and that there are no sudden jumps the reader is unable to understand. </a:t>
            </a:r>
          </a:p>
          <a:p>
            <a:endParaRPr lang="nl-NL" baseline="0" dirty="0"/>
          </a:p>
          <a:p>
            <a:r>
              <a:rPr lang="nl-NL" baseline="0" dirty="0"/>
              <a:t>NB: </a:t>
            </a:r>
            <a:r>
              <a:rPr lang="en-US" baseline="0" dirty="0"/>
              <a:t>In this example, the author first indicates why the question is relevant. You can of course also choose to first map out the problem, then introduce the question and discuss the relevance of the question. What matters is that the introduction is structured in a logical way and does not contain sudden transitions that seem to fall out of the blue to the reader.</a:t>
            </a:r>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45902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Here's another example of an introduction from an original article.</a:t>
            </a:r>
            <a:endParaRPr lang="nl-NL" dirty="0"/>
          </a:p>
          <a:p>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20519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33754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2006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01686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816D5-45E8-43E4-99F4-6638CC530E96}"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6700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3024768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154984346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11-5-2026</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659763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11-5-2026</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73417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11-5-2026</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04228973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11-5-2026</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65503472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11-5-2026</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76006955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11-5-2026</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383199193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11-5-2026</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828825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11-5-2026</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0468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11-5-2026</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80828939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11-5-2026</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2595938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err="1"/>
              <a:t>Introduction</a:t>
            </a:r>
            <a:endParaRPr lang="nl-NL" sz="5867" dirty="0"/>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el 1"/>
          <p:cNvSpPr>
            <a:spLocks noGrp="1"/>
          </p:cNvSpPr>
          <p:nvPr>
            <p:ph type="title"/>
          </p:nvPr>
        </p:nvSpPr>
        <p:spPr/>
        <p:txBody>
          <a:bodyPr/>
          <a:lstStyle/>
          <a:p>
            <a:pPr>
              <a:defRPr/>
            </a:pPr>
            <a:r>
              <a:rPr lang="nl-NL" dirty="0" err="1"/>
              <a:t>Introduction</a:t>
            </a:r>
            <a:endParaRPr lang="nl-NL" dirty="0"/>
          </a:p>
        </p:txBody>
      </p:sp>
      <p:pic>
        <p:nvPicPr>
          <p:cNvPr id="4" name="Picture 3"/>
          <p:cNvPicPr>
            <a:picLocks noChangeAspect="1"/>
          </p:cNvPicPr>
          <p:nvPr/>
        </p:nvPicPr>
        <p:blipFill>
          <a:blip r:embed="rId3"/>
          <a:stretch>
            <a:fillRect/>
          </a:stretch>
        </p:blipFill>
        <p:spPr>
          <a:xfrm>
            <a:off x="1149175" y="1566921"/>
            <a:ext cx="7933260" cy="4121577"/>
          </a:xfrm>
          <a:prstGeom prst="rect">
            <a:avLst/>
          </a:prstGeom>
        </p:spPr>
      </p:pic>
      <p:sp>
        <p:nvSpPr>
          <p:cNvPr id="5" name="Content Placeholder 4"/>
          <p:cNvSpPr>
            <a:spLocks noGrp="1"/>
          </p:cNvSpPr>
          <p:nvPr>
            <p:ph idx="1"/>
          </p:nvPr>
        </p:nvSpPr>
        <p:spPr/>
        <p:txBody>
          <a:bodyPr/>
          <a:lstStyle/>
          <a:p>
            <a:endParaRPr lang="nl-NL" dirty="0"/>
          </a:p>
        </p:txBody>
      </p:sp>
    </p:spTree>
    <p:extLst>
      <p:ext uri="{BB962C8B-B14F-4D97-AF65-F5344CB8AC3E}">
        <p14:creationId xmlns:p14="http://schemas.microsoft.com/office/powerpoint/2010/main" val="4174400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a:t>INTRODUCTION</a:t>
            </a:r>
            <a:br>
              <a:rPr lang="en-US" dirty="0"/>
            </a:br>
            <a:r>
              <a:rPr lang="en-US" dirty="0"/>
              <a:t>Assessment criteria Rubric</a:t>
            </a:r>
            <a:endParaRPr lang="en-GB" sz="3600" dirty="0"/>
          </a:p>
        </p:txBody>
      </p:sp>
      <p:sp>
        <p:nvSpPr>
          <p:cNvPr id="2" name="Tijdelijke aanduiding voor inhoud 1"/>
          <p:cNvSpPr>
            <a:spLocks noGrp="1"/>
          </p:cNvSpPr>
          <p:nvPr>
            <p:ph idx="1"/>
          </p:nvPr>
        </p:nvSpPr>
        <p:spPr/>
        <p:txBody>
          <a:bodyPr>
            <a:normAutofit fontScale="92500"/>
          </a:bodyPr>
          <a:lstStyle/>
          <a:p>
            <a:pPr>
              <a:buClrTx/>
              <a:buFont typeface="Wingdings" panose="05000000000000000000" pitchFamily="2" charset="2"/>
              <a:buChar char="§"/>
              <a:defRPr/>
            </a:pPr>
            <a:endParaRPr lang="en-US" sz="2800" dirty="0"/>
          </a:p>
          <a:p>
            <a:pPr marL="0" indent="0">
              <a:buClrTx/>
              <a:buNone/>
              <a:defRPr/>
            </a:pPr>
            <a:r>
              <a:rPr lang="en-US" dirty="0"/>
              <a:t>Funnel model (from general to specific)</a:t>
            </a:r>
          </a:p>
          <a:p>
            <a:pPr marL="0" indent="0">
              <a:buNone/>
              <a:defRPr/>
            </a:pPr>
            <a:r>
              <a:rPr lang="en-US" dirty="0"/>
              <a:t>The following components are properly described in the introduction:</a:t>
            </a:r>
          </a:p>
          <a:p>
            <a:pPr lvl="1">
              <a:buClrTx/>
              <a:buFont typeface="Arial" panose="020B0604020202020204" pitchFamily="34" charset="0"/>
              <a:buChar char="•"/>
              <a:defRPr/>
            </a:pPr>
            <a:r>
              <a:rPr lang="en-US" dirty="0"/>
              <a:t>Introduction of the subject </a:t>
            </a:r>
          </a:p>
          <a:p>
            <a:pPr lvl="1">
              <a:buClrTx/>
              <a:buFont typeface="Arial" panose="020B0604020202020204" pitchFamily="34" charset="0"/>
              <a:buChar char="•"/>
              <a:defRPr/>
            </a:pPr>
            <a:r>
              <a:rPr lang="en-US" dirty="0"/>
              <a:t>A brief outline of the problem area</a:t>
            </a:r>
            <a:r>
              <a:rPr lang="en-US" sz="2400" dirty="0"/>
              <a:t> </a:t>
            </a:r>
          </a:p>
          <a:p>
            <a:pPr lvl="3">
              <a:buFont typeface="Wingdings" panose="05000000000000000000" pitchFamily="2" charset="2"/>
              <a:buChar char="Ø"/>
              <a:defRPr/>
            </a:pPr>
            <a:r>
              <a:rPr lang="en-US" dirty="0"/>
              <a:t>Theoretical framework and/or current problem area</a:t>
            </a:r>
          </a:p>
          <a:p>
            <a:pPr lvl="3">
              <a:buFont typeface="Wingdings" panose="05000000000000000000" pitchFamily="2" charset="2"/>
              <a:buChar char="Ø"/>
              <a:defRPr/>
            </a:pPr>
            <a:r>
              <a:rPr lang="en-US" sz="2400" dirty="0"/>
              <a:t> Relevant theoretical concepts</a:t>
            </a:r>
          </a:p>
          <a:p>
            <a:pPr lvl="3">
              <a:buFont typeface="Wingdings" panose="05000000000000000000" pitchFamily="2" charset="2"/>
              <a:buChar char="Ø"/>
              <a:defRPr/>
            </a:pPr>
            <a:r>
              <a:rPr lang="en-US" sz="2400" dirty="0"/>
              <a:t> </a:t>
            </a:r>
            <a:r>
              <a:rPr lang="en-US" dirty="0"/>
              <a:t>D</a:t>
            </a:r>
            <a:r>
              <a:rPr lang="en-US" sz="2400" dirty="0"/>
              <a:t>escription of prior research</a:t>
            </a:r>
          </a:p>
          <a:p>
            <a:pPr lvl="1">
              <a:buClrTx/>
              <a:buFont typeface="Arial" panose="020B0604020202020204" pitchFamily="34" charset="0"/>
              <a:buChar char="•"/>
              <a:defRPr/>
            </a:pPr>
            <a:r>
              <a:rPr lang="en-US" dirty="0"/>
              <a:t>Central question (clear, unambiguous, follows logically from introduction), incl. substantiation innovative element / added value of the literature review</a:t>
            </a:r>
          </a:p>
          <a:p>
            <a:pPr lvl="1">
              <a:buClrTx/>
              <a:buFont typeface="Arial" panose="020B0604020202020204" pitchFamily="34" charset="0"/>
              <a:buChar char="•"/>
              <a:defRPr/>
            </a:pPr>
            <a:r>
              <a:rPr lang="en-US" dirty="0"/>
              <a:t>Description of article’s structure </a:t>
            </a:r>
          </a:p>
          <a:p>
            <a:pPr marL="128013" lvl="1" indent="0">
              <a:buNone/>
              <a:defRPr/>
            </a:pPr>
            <a:endParaRPr lang="en-US" dirty="0"/>
          </a:p>
          <a:p>
            <a:pPr marL="0" indent="0">
              <a:buNone/>
            </a:pPr>
            <a:endParaRPr lang="en-GB" dirty="0"/>
          </a:p>
        </p:txBody>
      </p:sp>
    </p:spTree>
    <p:extLst>
      <p:ext uri="{BB962C8B-B14F-4D97-AF65-F5344CB8AC3E}">
        <p14:creationId xmlns:p14="http://schemas.microsoft.com/office/powerpoint/2010/main" val="1469459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F00E0-87BC-42CD-9742-4F9924AF33E0}"/>
              </a:ext>
            </a:extLst>
          </p:cNvPr>
          <p:cNvSpPr>
            <a:spLocks noGrp="1"/>
          </p:cNvSpPr>
          <p:nvPr>
            <p:ph type="title"/>
          </p:nvPr>
        </p:nvSpPr>
        <p:spPr/>
        <p:txBody>
          <a:bodyPr/>
          <a:lstStyle/>
          <a:p>
            <a:r>
              <a:rPr lang="en-GB" dirty="0"/>
              <a:t>Introduction of the subject</a:t>
            </a:r>
          </a:p>
        </p:txBody>
      </p:sp>
      <p:sp>
        <p:nvSpPr>
          <p:cNvPr id="3" name="Content Placeholder 2">
            <a:extLst>
              <a:ext uri="{FF2B5EF4-FFF2-40B4-BE49-F238E27FC236}">
                <a16:creationId xmlns:a16="http://schemas.microsoft.com/office/drawing/2014/main" id="{6334B38B-2531-475F-9AA4-53B0A664928C}"/>
              </a:ext>
            </a:extLst>
          </p:cNvPr>
          <p:cNvSpPr>
            <a:spLocks noGrp="1"/>
          </p:cNvSpPr>
          <p:nvPr>
            <p:ph idx="1"/>
          </p:nvPr>
        </p:nvSpPr>
        <p:spPr/>
        <p:txBody>
          <a:bodyPr/>
          <a:lstStyle/>
          <a:p>
            <a:r>
              <a:rPr lang="en-GB" dirty="0"/>
              <a:t>Goal </a:t>
            </a:r>
            <a:r>
              <a:rPr lang="en-GB" dirty="0">
                <a:sym typeface="Wingdings" panose="05000000000000000000" pitchFamily="2" charset="2"/>
              </a:rPr>
              <a:t> Present the topic &amp; generate the interest of the reader</a:t>
            </a:r>
          </a:p>
          <a:p>
            <a:pPr marL="0" indent="0">
              <a:buNone/>
            </a:pPr>
            <a:endParaRPr lang="en-GB" dirty="0">
              <a:sym typeface="Wingdings" panose="05000000000000000000" pitchFamily="2" charset="2"/>
            </a:endParaRPr>
          </a:p>
          <a:p>
            <a:pPr marL="0" indent="0">
              <a:buNone/>
            </a:pPr>
            <a:r>
              <a:rPr lang="en-GB" dirty="0">
                <a:sym typeface="Wingdings" panose="05000000000000000000" pitchFamily="2" charset="2"/>
              </a:rPr>
              <a:t>For example, with:</a:t>
            </a:r>
          </a:p>
          <a:p>
            <a:pPr lvl="1"/>
            <a:r>
              <a:rPr lang="en-GB" dirty="0">
                <a:sym typeface="Wingdings" panose="05000000000000000000" pitchFamily="2" charset="2"/>
              </a:rPr>
              <a:t>Formulation of a remarkable statement</a:t>
            </a:r>
          </a:p>
          <a:p>
            <a:pPr lvl="1"/>
            <a:r>
              <a:rPr lang="en-GB" dirty="0">
                <a:sym typeface="Wingdings" panose="05000000000000000000" pitchFamily="2" charset="2"/>
              </a:rPr>
              <a:t>Description of an interesting phenomenon</a:t>
            </a:r>
          </a:p>
          <a:p>
            <a:pPr lvl="1"/>
            <a:endParaRPr lang="en-GB" dirty="0">
              <a:sym typeface="Wingdings" panose="05000000000000000000" pitchFamily="2" charset="2"/>
            </a:endParaRPr>
          </a:p>
          <a:p>
            <a:pPr marL="0" indent="0">
              <a:buNone/>
            </a:pPr>
            <a:r>
              <a:rPr lang="en-US" b="0" i="0" dirty="0">
                <a:solidFill>
                  <a:srgbClr val="333333"/>
                </a:solidFill>
                <a:effectLst/>
                <a:latin typeface="arial" panose="020B0604020202020204" pitchFamily="34" charset="0"/>
              </a:rPr>
              <a:t>‘Adolescents take more risks than children or adults do, as indicated by statistics on automobile crashes, binge drinking, contraceptive use, and crime. </a:t>
            </a:r>
            <a:r>
              <a:rPr lang="en-US" dirty="0">
                <a:solidFill>
                  <a:srgbClr val="333333"/>
                </a:solidFill>
                <a:latin typeface="arial" panose="020B0604020202020204" pitchFamily="34" charset="0"/>
              </a:rPr>
              <a:t>T</a:t>
            </a:r>
            <a:r>
              <a:rPr lang="en-US" b="0" i="0" dirty="0">
                <a:solidFill>
                  <a:srgbClr val="333333"/>
                </a:solidFill>
                <a:effectLst/>
                <a:latin typeface="arial" panose="020B0604020202020204" pitchFamily="34" charset="0"/>
              </a:rPr>
              <a:t>rying to understand why risk taking is more common during adolescence than during other periods of development has challenged psychologists for decades’</a:t>
            </a:r>
          </a:p>
          <a:p>
            <a:pPr marL="0" indent="0">
              <a:buNone/>
            </a:pPr>
            <a:endParaRPr lang="en-GB" dirty="0"/>
          </a:p>
          <a:p>
            <a:pPr marL="0" indent="0">
              <a:buNone/>
            </a:pPr>
            <a:r>
              <a:rPr lang="en-US" dirty="0">
                <a:latin typeface="Arial" panose="020B0604020202020204" pitchFamily="34" charset="0"/>
                <a:cs typeface="Arial" panose="020B0604020202020204" pitchFamily="34" charset="0"/>
              </a:rPr>
              <a:t>‘Attention-deficit hyperactivity disorder (ADHD) is the most common psychiatric disorder among children and adolescents.’</a:t>
            </a:r>
            <a:endParaRPr lang="nl-NL" i="1" dirty="0">
              <a:latin typeface="Arial" panose="020B0604020202020204" pitchFamily="34" charset="0"/>
              <a:cs typeface="Arial" panose="020B0604020202020204" pitchFamily="34" charset="0"/>
            </a:endParaRPr>
          </a:p>
          <a:p>
            <a:pPr marL="0" indent="0">
              <a:buNone/>
            </a:pPr>
            <a:endParaRPr lang="en-GB" i="1" dirty="0"/>
          </a:p>
        </p:txBody>
      </p:sp>
    </p:spTree>
    <p:extLst>
      <p:ext uri="{BB962C8B-B14F-4D97-AF65-F5344CB8AC3E}">
        <p14:creationId xmlns:p14="http://schemas.microsoft.com/office/powerpoint/2010/main" val="799639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2B30-3B84-47E3-B1A7-6192CD1E89EA}"/>
              </a:ext>
            </a:extLst>
          </p:cNvPr>
          <p:cNvSpPr>
            <a:spLocks noGrp="1"/>
          </p:cNvSpPr>
          <p:nvPr>
            <p:ph type="title"/>
          </p:nvPr>
        </p:nvSpPr>
        <p:spPr/>
        <p:txBody>
          <a:bodyPr/>
          <a:lstStyle/>
          <a:p>
            <a:r>
              <a:rPr lang="en-GB" dirty="0"/>
              <a:t>Outline of the problem area</a:t>
            </a:r>
          </a:p>
        </p:txBody>
      </p:sp>
      <p:sp>
        <p:nvSpPr>
          <p:cNvPr id="3" name="Content Placeholder 2">
            <a:extLst>
              <a:ext uri="{FF2B5EF4-FFF2-40B4-BE49-F238E27FC236}">
                <a16:creationId xmlns:a16="http://schemas.microsoft.com/office/drawing/2014/main" id="{C9ABEBB8-91EB-47D3-8763-09C48CBA4B86}"/>
              </a:ext>
            </a:extLst>
          </p:cNvPr>
          <p:cNvSpPr>
            <a:spLocks noGrp="1"/>
          </p:cNvSpPr>
          <p:nvPr>
            <p:ph idx="1"/>
          </p:nvPr>
        </p:nvSpPr>
        <p:spPr/>
        <p:txBody>
          <a:bodyPr/>
          <a:lstStyle/>
          <a:p>
            <a:pPr marL="170684" lvl="1" indent="0">
              <a:buNone/>
              <a:defRPr/>
            </a:pPr>
            <a:r>
              <a:rPr lang="en-US" sz="2400" b="1" dirty="0"/>
              <a:t>Theoretical framework</a:t>
            </a:r>
          </a:p>
          <a:p>
            <a:pPr marL="170684" lvl="1" indent="0">
              <a:buNone/>
              <a:defRPr/>
            </a:pPr>
            <a:r>
              <a:rPr lang="en-US" sz="2400" dirty="0"/>
              <a:t>Embedding your own literature study in existing research</a:t>
            </a:r>
          </a:p>
          <a:p>
            <a:pPr marL="513584" lvl="1" indent="-342900">
              <a:defRPr/>
            </a:pPr>
            <a:r>
              <a:rPr lang="en-US" sz="2400" dirty="0"/>
              <a:t>What is known (description of previous research)?</a:t>
            </a:r>
          </a:p>
          <a:p>
            <a:pPr marL="513584" lvl="1" indent="-342900">
              <a:defRPr/>
            </a:pPr>
            <a:r>
              <a:rPr lang="en-US" sz="2400" dirty="0"/>
              <a:t>What is not yet known/what is still unclear (gaps)?</a:t>
            </a:r>
          </a:p>
          <a:p>
            <a:pPr marL="513584" lvl="1" indent="-342900">
              <a:defRPr/>
            </a:pPr>
            <a:r>
              <a:rPr lang="en-US" sz="2400" dirty="0"/>
              <a:t>Definition of key concepts and how they relate to one another?</a:t>
            </a:r>
          </a:p>
          <a:p>
            <a:pPr marL="513584" lvl="1" indent="-342900">
              <a:defRPr/>
            </a:pPr>
            <a:endParaRPr lang="en-US" dirty="0"/>
          </a:p>
          <a:p>
            <a:pPr marL="170684" lvl="1" indent="0">
              <a:buNone/>
              <a:defRPr/>
            </a:pPr>
            <a:r>
              <a:rPr lang="en-US" b="1" dirty="0"/>
              <a:t>Current problem area</a:t>
            </a:r>
          </a:p>
          <a:p>
            <a:pPr marL="513584" lvl="1" indent="-342900">
              <a:defRPr/>
            </a:pPr>
            <a:r>
              <a:rPr lang="en-US" dirty="0"/>
              <a:t>What is the scope of the problem?</a:t>
            </a:r>
          </a:p>
          <a:p>
            <a:pPr marL="513584" lvl="1" indent="-342900">
              <a:defRPr/>
            </a:pPr>
            <a:r>
              <a:rPr lang="en-US" dirty="0"/>
              <a:t>Why is this problem relevant?</a:t>
            </a:r>
          </a:p>
          <a:p>
            <a:pPr marL="128013" lvl="1" indent="0">
              <a:buNone/>
              <a:defRPr/>
            </a:pPr>
            <a:endParaRPr lang="en-US" dirty="0"/>
          </a:p>
          <a:p>
            <a:pPr marL="128013" lvl="1" indent="0">
              <a:buNone/>
              <a:defRPr/>
            </a:pPr>
            <a:r>
              <a:rPr lang="en-US" dirty="0"/>
              <a:t>Support your claims with numbers and studies (Cite your sources!)</a:t>
            </a:r>
          </a:p>
          <a:p>
            <a:pPr marL="0" indent="0">
              <a:buNone/>
            </a:pPr>
            <a:endParaRPr lang="en-GB" dirty="0"/>
          </a:p>
        </p:txBody>
      </p:sp>
    </p:spTree>
    <p:extLst>
      <p:ext uri="{BB962C8B-B14F-4D97-AF65-F5344CB8AC3E}">
        <p14:creationId xmlns:p14="http://schemas.microsoft.com/office/powerpoint/2010/main" val="3458425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78E0C-80E5-4FD7-B59A-082A74B1B64A}"/>
              </a:ext>
            </a:extLst>
          </p:cNvPr>
          <p:cNvSpPr>
            <a:spLocks noGrp="1"/>
          </p:cNvSpPr>
          <p:nvPr>
            <p:ph type="title"/>
          </p:nvPr>
        </p:nvSpPr>
        <p:spPr/>
        <p:txBody>
          <a:bodyPr/>
          <a:lstStyle/>
          <a:p>
            <a:r>
              <a:rPr lang="en-GB" dirty="0"/>
              <a:t>Central question</a:t>
            </a:r>
          </a:p>
        </p:txBody>
      </p:sp>
      <p:sp>
        <p:nvSpPr>
          <p:cNvPr id="3" name="Content Placeholder 2">
            <a:extLst>
              <a:ext uri="{FF2B5EF4-FFF2-40B4-BE49-F238E27FC236}">
                <a16:creationId xmlns:a16="http://schemas.microsoft.com/office/drawing/2014/main" id="{39CE638A-8819-40FD-80E4-64EC7F6F83EB}"/>
              </a:ext>
            </a:extLst>
          </p:cNvPr>
          <p:cNvSpPr>
            <a:spLocks noGrp="1"/>
          </p:cNvSpPr>
          <p:nvPr>
            <p:ph idx="1"/>
          </p:nvPr>
        </p:nvSpPr>
        <p:spPr/>
        <p:txBody>
          <a:bodyPr/>
          <a:lstStyle/>
          <a:p>
            <a:pPr lvl="1">
              <a:buFont typeface="Arial" panose="020B0604020202020204" pitchFamily="34" charset="0"/>
              <a:buChar char="•"/>
              <a:defRPr/>
            </a:pPr>
            <a:r>
              <a:rPr lang="en-US" dirty="0"/>
              <a:t>Clear, unambiguous, follows logically from introduction</a:t>
            </a:r>
            <a:endParaRPr lang="en-US" sz="2400" dirty="0"/>
          </a:p>
          <a:p>
            <a:pPr lvl="2">
              <a:buFont typeface="Arial" panose="020B0604020202020204" pitchFamily="34" charset="0"/>
              <a:buChar char="•"/>
              <a:defRPr/>
            </a:pPr>
            <a:r>
              <a:rPr lang="en-US" dirty="0"/>
              <a:t>Clearly identifiable in the text and demarcated (but does not necessarily have to be formulated as a question)</a:t>
            </a:r>
          </a:p>
          <a:p>
            <a:pPr marL="575985" lvl="2" indent="0">
              <a:buNone/>
              <a:defRPr/>
            </a:pPr>
            <a:r>
              <a:rPr lang="en-US" dirty="0"/>
              <a:t>e.g. ‘</a:t>
            </a:r>
            <a:r>
              <a:rPr lang="en-US" dirty="0">
                <a:latin typeface="Arial" panose="020B0604020202020204" pitchFamily="34" charset="0"/>
                <a:cs typeface="Arial" panose="020B0604020202020204" pitchFamily="34" charset="0"/>
              </a:rPr>
              <a:t>The aim of this literature review is to examine the effectiveness of neurofeedback for the treatment of ADHD in children and adolescents</a:t>
            </a:r>
            <a:r>
              <a:rPr lang="en-US" b="0" i="0" dirty="0">
                <a:effectLst/>
                <a:latin typeface="Arial" panose="020B0604020202020204" pitchFamily="34" charset="0"/>
                <a:cs typeface="Arial" panose="020B0604020202020204" pitchFamily="34" charset="0"/>
              </a:rPr>
              <a:t>.</a:t>
            </a:r>
            <a:r>
              <a:rPr lang="en-US" b="0" i="0" dirty="0">
                <a:effectLst/>
                <a:latin typeface="Arial" panose="020B0604020202020204" pitchFamily="34" charset="0"/>
              </a:rPr>
              <a:t>’ </a:t>
            </a:r>
          </a:p>
          <a:p>
            <a:pPr marL="287993" lvl="1" indent="0">
              <a:buNone/>
              <a:defRPr/>
            </a:pPr>
            <a:endParaRPr lang="en-US" sz="2400" dirty="0"/>
          </a:p>
          <a:p>
            <a:pPr lvl="1">
              <a:buFont typeface="Arial" panose="020B0604020202020204" pitchFamily="34" charset="0"/>
              <a:buChar char="•"/>
              <a:defRPr/>
            </a:pPr>
            <a:r>
              <a:rPr lang="en-US" sz="2400" dirty="0"/>
              <a:t>Clear scope (focus): What is included/what is not included and why?</a:t>
            </a:r>
          </a:p>
          <a:p>
            <a:pPr marL="287993" lvl="1" indent="0">
              <a:buNone/>
              <a:defRPr/>
            </a:pPr>
            <a:endParaRPr lang="en-US" sz="2400" dirty="0"/>
          </a:p>
          <a:p>
            <a:pPr lvl="1">
              <a:buFont typeface="Arial" panose="020B0604020202020204" pitchFamily="34" charset="0"/>
              <a:buChar char="•"/>
              <a:defRPr/>
            </a:pPr>
            <a:r>
              <a:rPr lang="en-US" sz="2400" dirty="0"/>
              <a:t>Relevance of the question should be clear</a:t>
            </a:r>
          </a:p>
          <a:p>
            <a:pPr lvl="2">
              <a:buFont typeface="Arial" panose="020B0604020202020204" pitchFamily="34" charset="0"/>
              <a:buChar char="•"/>
              <a:defRPr/>
            </a:pPr>
            <a:r>
              <a:rPr lang="en-US" dirty="0"/>
              <a:t>Innovative element/added value of the literature study</a:t>
            </a:r>
          </a:p>
          <a:p>
            <a:pPr lvl="2">
              <a:buFont typeface="Arial" panose="020B0604020202020204" pitchFamily="34" charset="0"/>
              <a:buChar char="•"/>
              <a:defRPr/>
            </a:pPr>
            <a:r>
              <a:rPr lang="en-US" dirty="0"/>
              <a:t>What does it contribute?</a:t>
            </a:r>
          </a:p>
          <a:p>
            <a:pPr lvl="2">
              <a:buFont typeface="Arial" panose="020B0604020202020204" pitchFamily="34" charset="0"/>
              <a:buChar char="•"/>
              <a:defRPr/>
            </a:pPr>
            <a:endParaRPr lang="nl-NL" dirty="0"/>
          </a:p>
          <a:p>
            <a:pPr lvl="1">
              <a:buFont typeface="Arial" panose="020B0604020202020204" pitchFamily="34" charset="0"/>
              <a:buChar char="•"/>
              <a:defRPr/>
            </a:pPr>
            <a:endParaRPr lang="nl-NL" sz="2400" dirty="0"/>
          </a:p>
        </p:txBody>
      </p:sp>
    </p:spTree>
    <p:extLst>
      <p:ext uri="{BB962C8B-B14F-4D97-AF65-F5344CB8AC3E}">
        <p14:creationId xmlns:p14="http://schemas.microsoft.com/office/powerpoint/2010/main" val="578012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36421-EB29-43CE-B911-DB20BCFD6548}"/>
              </a:ext>
            </a:extLst>
          </p:cNvPr>
          <p:cNvSpPr>
            <a:spLocks noGrp="1"/>
          </p:cNvSpPr>
          <p:nvPr>
            <p:ph type="title"/>
          </p:nvPr>
        </p:nvSpPr>
        <p:spPr/>
        <p:txBody>
          <a:bodyPr/>
          <a:lstStyle/>
          <a:p>
            <a:r>
              <a:rPr lang="en-GB" dirty="0"/>
              <a:t>Description of article’s </a:t>
            </a:r>
            <a:r>
              <a:rPr lang="en-GB" dirty="0" err="1"/>
              <a:t>struture</a:t>
            </a:r>
            <a:endParaRPr lang="en-GB" dirty="0"/>
          </a:p>
        </p:txBody>
      </p:sp>
      <p:sp>
        <p:nvSpPr>
          <p:cNvPr id="3" name="Content Placeholder 2">
            <a:extLst>
              <a:ext uri="{FF2B5EF4-FFF2-40B4-BE49-F238E27FC236}">
                <a16:creationId xmlns:a16="http://schemas.microsoft.com/office/drawing/2014/main" id="{85B59DA8-CE37-4DE7-B608-C8779FA3E704}"/>
              </a:ext>
            </a:extLst>
          </p:cNvPr>
          <p:cNvSpPr>
            <a:spLocks noGrp="1"/>
          </p:cNvSpPr>
          <p:nvPr>
            <p:ph idx="1"/>
          </p:nvPr>
        </p:nvSpPr>
        <p:spPr/>
        <p:txBody>
          <a:bodyPr/>
          <a:lstStyle/>
          <a:p>
            <a:r>
              <a:rPr lang="en-GB" dirty="0"/>
              <a:t>Goal </a:t>
            </a:r>
            <a:r>
              <a:rPr lang="en-GB" dirty="0">
                <a:sym typeface="Wingdings" panose="05000000000000000000" pitchFamily="2" charset="2"/>
              </a:rPr>
              <a:t> Clarify what the reader can expect</a:t>
            </a:r>
          </a:p>
          <a:p>
            <a:pPr lvl="1"/>
            <a:r>
              <a:rPr lang="en-GB" dirty="0">
                <a:sym typeface="Wingdings" panose="05000000000000000000" pitchFamily="2" charset="2"/>
              </a:rPr>
              <a:t>What information will be covered?</a:t>
            </a:r>
          </a:p>
          <a:p>
            <a:pPr lvl="1"/>
            <a:r>
              <a:rPr lang="en-GB" dirty="0">
                <a:sym typeface="Wingdings" panose="05000000000000000000" pitchFamily="2" charset="2"/>
              </a:rPr>
              <a:t>How is the information organized (i.e. sequence)</a:t>
            </a:r>
            <a:endParaRPr lang="en-GB" dirty="0"/>
          </a:p>
        </p:txBody>
      </p:sp>
    </p:spTree>
    <p:extLst>
      <p:ext uri="{BB962C8B-B14F-4D97-AF65-F5344CB8AC3E}">
        <p14:creationId xmlns:p14="http://schemas.microsoft.com/office/powerpoint/2010/main" val="278126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Pitfalls </a:t>
            </a:r>
            <a:r>
              <a:rPr lang="en-US" dirty="0"/>
              <a:t>introduction</a:t>
            </a:r>
            <a:endParaRPr lang="en-GB" dirty="0"/>
          </a:p>
        </p:txBody>
      </p:sp>
      <p:sp>
        <p:nvSpPr>
          <p:cNvPr id="2" name="Tijdelijke aanduiding voor inhoud 1"/>
          <p:cNvSpPr>
            <a:spLocks noGrp="1"/>
          </p:cNvSpPr>
          <p:nvPr>
            <p:ph idx="1"/>
          </p:nvPr>
        </p:nvSpPr>
        <p:spPr/>
        <p:txBody>
          <a:bodyPr>
            <a:normAutofit/>
          </a:bodyPr>
          <a:lstStyle/>
          <a:p>
            <a:r>
              <a:rPr lang="en-US" dirty="0"/>
              <a:t>Introduction to the topic:</a:t>
            </a:r>
          </a:p>
          <a:p>
            <a:pPr marL="287993" lvl="1" indent="0">
              <a:buNone/>
            </a:pPr>
            <a:r>
              <a:rPr lang="en-US" dirty="0"/>
              <a:t>- Insufficiently related to demand</a:t>
            </a:r>
          </a:p>
          <a:p>
            <a:pPr marL="287993" lvl="1" indent="0">
              <a:buNone/>
            </a:pPr>
            <a:r>
              <a:rPr lang="en-US" dirty="0"/>
              <a:t>- No proper link/bridge is made to demand</a:t>
            </a:r>
          </a:p>
          <a:p>
            <a:r>
              <a:rPr lang="en-US" dirty="0"/>
              <a:t>Outline problem area:</a:t>
            </a:r>
          </a:p>
          <a:p>
            <a:pPr marL="287993" lvl="1" indent="0">
              <a:buNone/>
            </a:pPr>
            <a:r>
              <a:rPr lang="en-US" dirty="0"/>
              <a:t>- Unclear what the problem is</a:t>
            </a:r>
          </a:p>
          <a:p>
            <a:pPr marL="287993" lvl="1" indent="0">
              <a:buNone/>
            </a:pPr>
            <a:r>
              <a:rPr lang="en-US" dirty="0"/>
              <a:t>- Theoretical framework is missing</a:t>
            </a:r>
          </a:p>
          <a:p>
            <a:pPr marL="287993" lvl="1" indent="0">
              <a:buNone/>
            </a:pPr>
            <a:r>
              <a:rPr lang="en-US" dirty="0"/>
              <a:t>- Definitions of key concepts are missing</a:t>
            </a:r>
          </a:p>
          <a:p>
            <a:r>
              <a:rPr lang="en-US" dirty="0"/>
              <a:t>Innovative element/added value of the literature review</a:t>
            </a:r>
          </a:p>
          <a:p>
            <a:pPr marL="287993" lvl="1" indent="0">
              <a:buNone/>
            </a:pPr>
            <a:r>
              <a:rPr lang="en-US" dirty="0"/>
              <a:t>- Relevance not clear or insufficiently substantiated</a:t>
            </a:r>
          </a:p>
          <a:p>
            <a:pPr marL="287993" lvl="1" indent="0">
              <a:buNone/>
            </a:pPr>
            <a:r>
              <a:rPr lang="en-US" dirty="0"/>
              <a:t>- Description of the structure of the article is missing</a:t>
            </a:r>
            <a:endParaRPr lang="en-GB" dirty="0"/>
          </a:p>
        </p:txBody>
      </p:sp>
    </p:spTree>
    <p:extLst>
      <p:ext uri="{BB962C8B-B14F-4D97-AF65-F5344CB8AC3E}">
        <p14:creationId xmlns:p14="http://schemas.microsoft.com/office/powerpoint/2010/main" val="400014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sz="3600" dirty="0"/>
              <a:t>Example 1: Factors influencing the accuracy of </a:t>
            </a:r>
            <a:r>
              <a:rPr lang="en-US" sz="3600" dirty="0" err="1"/>
              <a:t>judgements</a:t>
            </a:r>
            <a:r>
              <a:rPr lang="en-US" sz="3600" dirty="0"/>
              <a:t> of learning</a:t>
            </a:r>
          </a:p>
        </p:txBody>
      </p:sp>
      <p:sp>
        <p:nvSpPr>
          <p:cNvPr id="3" name="Tijdelijke aanduiding voor inhoud 2"/>
          <p:cNvSpPr>
            <a:spLocks noGrp="1"/>
          </p:cNvSpPr>
          <p:nvPr>
            <p:ph idx="1"/>
          </p:nvPr>
        </p:nvSpPr>
        <p:spPr/>
        <p:txBody>
          <a:bodyPr>
            <a:normAutofit/>
          </a:bodyPr>
          <a:lstStyle/>
          <a:p>
            <a:pPr marL="0" indent="0">
              <a:buNone/>
            </a:pPr>
            <a:endParaRPr lang="en-US" sz="2800" dirty="0"/>
          </a:p>
          <a:p>
            <a:pPr marL="0" indent="0">
              <a:buNone/>
            </a:pPr>
            <a:r>
              <a:rPr lang="en-US" sz="2800" dirty="0"/>
              <a:t>Nowadays, with all the electronic and social media surrounding us, it's becoming far more difficult for students to maintain the focus during self-directed learning activities. In 2010, 73% of American teenagers used social media websites (</a:t>
            </a:r>
            <a:r>
              <a:rPr lang="en-US" sz="2800" dirty="0" err="1"/>
              <a:t>Lenhart</a:t>
            </a:r>
            <a:r>
              <a:rPr lang="en-US" sz="2800" dirty="0"/>
              <a:t>, </a:t>
            </a:r>
            <a:r>
              <a:rPr lang="en-US" sz="2800" dirty="0" err="1"/>
              <a:t>Purell</a:t>
            </a:r>
            <a:r>
              <a:rPr lang="en-US" sz="2800" dirty="0"/>
              <a:t>, Smith, &amp; </a:t>
            </a:r>
            <a:r>
              <a:rPr lang="en-US" sz="2800" dirty="0" err="1"/>
              <a:t>Zickuhr</a:t>
            </a:r>
            <a:r>
              <a:rPr lang="en-US" sz="2800" dirty="0"/>
              <a:t>, 2010). This distraction has made it harder to study effectively. </a:t>
            </a:r>
            <a:r>
              <a:rPr lang="en-US" sz="2800" dirty="0" err="1"/>
              <a:t>Azevedo</a:t>
            </a:r>
            <a:r>
              <a:rPr lang="en-US" sz="2800" dirty="0"/>
              <a:t> (2010) describes a number of factors influencing the effectiveness of self-directed learning, i.e. knowledge of self-regulating skills, motivation and </a:t>
            </a:r>
            <a:r>
              <a:rPr lang="en-US" sz="2800" dirty="0" err="1"/>
              <a:t>judgements</a:t>
            </a:r>
            <a:r>
              <a:rPr lang="en-US" sz="2800" dirty="0"/>
              <a:t> of learning. This report mainly focusses on one of these factors, namely: </a:t>
            </a:r>
            <a:r>
              <a:rPr lang="en-US" sz="2800" i="1" dirty="0" err="1"/>
              <a:t>judgements</a:t>
            </a:r>
            <a:r>
              <a:rPr lang="en-US" sz="2800" i="1" dirty="0"/>
              <a:t> of learning</a:t>
            </a:r>
            <a:r>
              <a:rPr lang="en-US" sz="2800" dirty="0"/>
              <a:t>. </a:t>
            </a:r>
          </a:p>
          <a:p>
            <a:endParaRPr lang="en-GB" dirty="0"/>
          </a:p>
        </p:txBody>
      </p:sp>
    </p:spTree>
    <p:extLst>
      <p:ext uri="{BB962C8B-B14F-4D97-AF65-F5344CB8AC3E}">
        <p14:creationId xmlns:p14="http://schemas.microsoft.com/office/powerpoint/2010/main" val="2074552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nl-NL" sz="3600" dirty="0">
                <a:solidFill>
                  <a:srgbClr val="FF0000"/>
                </a:solidFill>
              </a:rPr>
              <a:t>Introduction not related to the question</a:t>
            </a:r>
            <a:endParaRPr lang="en-GB" sz="3600" dirty="0">
              <a:solidFill>
                <a:srgbClr val="FF0000"/>
              </a:solidFill>
            </a:endParaRPr>
          </a:p>
        </p:txBody>
      </p:sp>
      <p:sp>
        <p:nvSpPr>
          <p:cNvPr id="3" name="Tijdelijke aanduiding voor inhoud 2"/>
          <p:cNvSpPr>
            <a:spLocks noGrp="1"/>
          </p:cNvSpPr>
          <p:nvPr>
            <p:ph idx="1"/>
          </p:nvPr>
        </p:nvSpPr>
        <p:spPr/>
        <p:txBody>
          <a:bodyPr>
            <a:normAutofit/>
          </a:bodyPr>
          <a:lstStyle/>
          <a:p>
            <a:pPr marL="0" indent="0">
              <a:buNone/>
            </a:pPr>
            <a:r>
              <a:rPr lang="en-US" sz="2800" dirty="0"/>
              <a:t>Nowadays, with all the electronic and social media surrounding us, it's becoming far more difficult for students to maintain the focus during self-directed learning activities. In 2010, 73% of American teenagers used social media websites (</a:t>
            </a:r>
            <a:r>
              <a:rPr lang="en-US" sz="2800" dirty="0" err="1"/>
              <a:t>Lenhart</a:t>
            </a:r>
            <a:r>
              <a:rPr lang="en-US" sz="2800" dirty="0"/>
              <a:t>, </a:t>
            </a:r>
            <a:r>
              <a:rPr lang="en-US" sz="2800" dirty="0" err="1"/>
              <a:t>Purell</a:t>
            </a:r>
            <a:r>
              <a:rPr lang="en-US" sz="2800" dirty="0"/>
              <a:t>, Smith, &amp; </a:t>
            </a:r>
            <a:r>
              <a:rPr lang="en-US" sz="2800" dirty="0" err="1"/>
              <a:t>Zickuhr</a:t>
            </a:r>
            <a:r>
              <a:rPr lang="en-US" sz="2800" dirty="0"/>
              <a:t>, 2010). This distraction has made it harder to study effectively. </a:t>
            </a:r>
            <a:r>
              <a:rPr lang="en-US" sz="2800" dirty="0" err="1"/>
              <a:t>Azevedo</a:t>
            </a:r>
            <a:r>
              <a:rPr lang="en-US" sz="2800" dirty="0"/>
              <a:t> (2010) describes a number of factors influencing the effectiveness of self-directed learning, i.e. knowledge of self-regulating skills, motivation and judgements of learning. This report mainly focusses on one of these factors, namely: </a:t>
            </a:r>
            <a:r>
              <a:rPr lang="en-US" sz="2800" i="1" dirty="0"/>
              <a:t>judgements of learning</a:t>
            </a:r>
            <a:r>
              <a:rPr lang="en-US" sz="2800" dirty="0"/>
              <a:t>. </a:t>
            </a:r>
          </a:p>
          <a:p>
            <a:endParaRPr lang="en-GB" dirty="0"/>
          </a:p>
        </p:txBody>
      </p:sp>
    </p:spTree>
    <p:extLst>
      <p:ext uri="{BB962C8B-B14F-4D97-AF65-F5344CB8AC3E}">
        <p14:creationId xmlns:p14="http://schemas.microsoft.com/office/powerpoint/2010/main" val="1088689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US" sz="3600" dirty="0"/>
              <a:t>Example 2: Factors that affect the attractiveness of average faces</a:t>
            </a:r>
          </a:p>
        </p:txBody>
      </p:sp>
      <p:sp>
        <p:nvSpPr>
          <p:cNvPr id="3" name="Tijdelijke aanduiding voor inhoud 2"/>
          <p:cNvSpPr>
            <a:spLocks noGrp="1"/>
          </p:cNvSpPr>
          <p:nvPr>
            <p:ph idx="1"/>
          </p:nvPr>
        </p:nvSpPr>
        <p:spPr/>
        <p:txBody>
          <a:bodyPr/>
          <a:lstStyle/>
          <a:p>
            <a:pPr marL="0" indent="0">
              <a:buNone/>
            </a:pPr>
            <a:endParaRPr lang="en-US" sz="2800" dirty="0"/>
          </a:p>
          <a:p>
            <a:pPr marL="0" indent="0">
              <a:buNone/>
            </a:pPr>
            <a:r>
              <a:rPr lang="en-US" sz="2800" dirty="0"/>
              <a:t>What makes one face more attractive than the next? Many researchers have tried to answer this question. The averageness hypothesis has become a trend in recent years. Average faces are regarded as more attractive. This literature report discusses what the reasons for this could be and how this has been studied in the past. The question whether averageness plays a role in the attractiveness faces has already been answered positively (Jones &amp; Hill, 1993; </a:t>
            </a:r>
            <a:r>
              <a:rPr lang="en-US" sz="2800" dirty="0" err="1"/>
              <a:t>Langlois</a:t>
            </a:r>
            <a:r>
              <a:rPr lang="en-US" sz="2800" dirty="0"/>
              <a:t> &amp; </a:t>
            </a:r>
            <a:r>
              <a:rPr lang="en-US" sz="2800" dirty="0" err="1"/>
              <a:t>Roggman</a:t>
            </a:r>
            <a:r>
              <a:rPr lang="en-US" sz="2800" dirty="0"/>
              <a:t>, 1990), but what are the specific factors that play a role in rating the attractiveness of average faces? </a:t>
            </a:r>
          </a:p>
          <a:p>
            <a:endParaRPr lang="en-GB" dirty="0"/>
          </a:p>
        </p:txBody>
      </p:sp>
    </p:spTree>
    <p:extLst>
      <p:ext uri="{BB962C8B-B14F-4D97-AF65-F5344CB8AC3E}">
        <p14:creationId xmlns:p14="http://schemas.microsoft.com/office/powerpoint/2010/main" val="134981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nl-NL" sz="3600" dirty="0">
                <a:solidFill>
                  <a:srgbClr val="FF0000"/>
                </a:solidFill>
              </a:rPr>
              <a:t>No problem area or relevance included!</a:t>
            </a:r>
            <a:endParaRPr lang="en-GB" sz="3600" dirty="0">
              <a:solidFill>
                <a:srgbClr val="FF0000"/>
              </a:solidFill>
            </a:endParaRPr>
          </a:p>
        </p:txBody>
      </p:sp>
      <p:sp>
        <p:nvSpPr>
          <p:cNvPr id="3" name="Tijdelijke aanduiding voor inhoud 2"/>
          <p:cNvSpPr>
            <a:spLocks noGrp="1"/>
          </p:cNvSpPr>
          <p:nvPr>
            <p:ph idx="1"/>
          </p:nvPr>
        </p:nvSpPr>
        <p:spPr/>
        <p:txBody>
          <a:bodyPr/>
          <a:lstStyle/>
          <a:p>
            <a:pPr marL="0" indent="0">
              <a:buNone/>
            </a:pPr>
            <a:r>
              <a:rPr lang="en-US" sz="2800" dirty="0"/>
              <a:t>What makes one face more attractive than the next? Many researchers have tried to answer this question. The averageness hypothesis has become a trend in recent years. Average faces are regarded as more attractive. This literature report discusses what the reasons for this could be and how this has been studied in the past. The question whether averageness plays a role in the attractiveness of a face has already been answered positively (Jones &amp; Hill, 1993; </a:t>
            </a:r>
            <a:r>
              <a:rPr lang="en-US" sz="2800" dirty="0" err="1"/>
              <a:t>Langlois</a:t>
            </a:r>
            <a:r>
              <a:rPr lang="en-US" sz="2800" dirty="0"/>
              <a:t> &amp; </a:t>
            </a:r>
            <a:r>
              <a:rPr lang="en-US" sz="2800" dirty="0" err="1"/>
              <a:t>Roggman</a:t>
            </a:r>
            <a:r>
              <a:rPr lang="en-US" sz="2800" dirty="0"/>
              <a:t>, 1990), but what are the specific factors that play a role in rating the attractiveness of average faces? </a:t>
            </a:r>
          </a:p>
          <a:p>
            <a:endParaRPr lang="en-GB" dirty="0"/>
          </a:p>
        </p:txBody>
      </p:sp>
    </p:spTree>
    <p:extLst>
      <p:ext uri="{BB962C8B-B14F-4D97-AF65-F5344CB8AC3E}">
        <p14:creationId xmlns:p14="http://schemas.microsoft.com/office/powerpoint/2010/main" val="2774260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40633" y="568927"/>
            <a:ext cx="10896000" cy="768000"/>
          </a:xfrm>
        </p:spPr>
        <p:txBody>
          <a:bodyPr>
            <a:normAutofit/>
          </a:bodyPr>
          <a:lstStyle/>
          <a:p>
            <a:r>
              <a:rPr lang="nl-NL" sz="2600" dirty="0" err="1">
                <a:solidFill>
                  <a:schemeClr val="accent3"/>
                </a:solidFill>
              </a:rPr>
              <a:t>Example</a:t>
            </a:r>
            <a:r>
              <a:rPr lang="nl-NL" sz="2600" dirty="0">
                <a:solidFill>
                  <a:schemeClr val="accent3"/>
                </a:solidFill>
              </a:rPr>
              <a:t> 3: </a:t>
            </a:r>
            <a:r>
              <a:rPr lang="nl-NL" sz="2600" dirty="0" err="1">
                <a:solidFill>
                  <a:schemeClr val="accent3"/>
                </a:solidFill>
              </a:rPr>
              <a:t>Decision</a:t>
            </a:r>
            <a:r>
              <a:rPr lang="nl-NL" sz="2600" dirty="0">
                <a:solidFill>
                  <a:schemeClr val="accent3"/>
                </a:solidFill>
              </a:rPr>
              <a:t> making </a:t>
            </a:r>
            <a:r>
              <a:rPr lang="nl-NL" sz="2600" dirty="0" err="1">
                <a:solidFill>
                  <a:schemeClr val="accent3"/>
                </a:solidFill>
              </a:rPr>
              <a:t>process</a:t>
            </a:r>
            <a:r>
              <a:rPr lang="nl-NL" sz="2600" dirty="0">
                <a:solidFill>
                  <a:schemeClr val="accent3"/>
                </a:solidFill>
              </a:rPr>
              <a:t> </a:t>
            </a:r>
            <a:r>
              <a:rPr lang="nl-NL" sz="2600" dirty="0" err="1">
                <a:solidFill>
                  <a:schemeClr val="accent3"/>
                </a:solidFill>
              </a:rPr>
              <a:t>and</a:t>
            </a:r>
            <a:r>
              <a:rPr lang="nl-NL" sz="2600" dirty="0">
                <a:solidFill>
                  <a:schemeClr val="accent3"/>
                </a:solidFill>
              </a:rPr>
              <a:t> adolescent risk </a:t>
            </a:r>
            <a:r>
              <a:rPr lang="nl-NL" sz="2600" dirty="0" err="1">
                <a:solidFill>
                  <a:schemeClr val="accent3"/>
                </a:solidFill>
              </a:rPr>
              <a:t>behavior</a:t>
            </a:r>
            <a:r>
              <a:rPr lang="nl-NL" sz="2600" dirty="0">
                <a:solidFill>
                  <a:schemeClr val="accent3"/>
                </a:solidFill>
              </a:rPr>
              <a:t> </a:t>
            </a:r>
          </a:p>
        </p:txBody>
      </p:sp>
      <p:sp>
        <p:nvSpPr>
          <p:cNvPr id="3" name="Tijdelijke aanduiding voor inhoud 2"/>
          <p:cNvSpPr>
            <a:spLocks noGrp="1"/>
          </p:cNvSpPr>
          <p:nvPr>
            <p:ph idx="1"/>
          </p:nvPr>
        </p:nvSpPr>
        <p:spPr>
          <a:xfrm>
            <a:off x="655367" y="1171073"/>
            <a:ext cx="6338993" cy="5470358"/>
          </a:xfrm>
        </p:spPr>
        <p:txBody>
          <a:bodyPr>
            <a:normAutofit lnSpcReduction="10000"/>
          </a:bodyPr>
          <a:lstStyle/>
          <a:p>
            <a:pPr marL="0" indent="0">
              <a:lnSpc>
                <a:spcPct val="120000"/>
              </a:lnSpc>
              <a:buNone/>
            </a:pPr>
            <a:r>
              <a:rPr lang="en-US" u="sng" dirty="0"/>
              <a:t>Adolescence</a:t>
            </a:r>
            <a:r>
              <a:rPr lang="en-US" dirty="0"/>
              <a:t> is a life stage in which individuals are more likely to participate in </a:t>
            </a:r>
            <a:r>
              <a:rPr lang="en-US" u="sng" dirty="0"/>
              <a:t>health risk behaviors </a:t>
            </a:r>
            <a:r>
              <a:rPr lang="en-US" dirty="0"/>
              <a:t>than at other life stages. This has potentially dangerous and life altering consequences. For example, in the United States, the </a:t>
            </a:r>
            <a:r>
              <a:rPr lang="en-US" u="sng" dirty="0"/>
              <a:t>majority of all deaths </a:t>
            </a:r>
            <a:r>
              <a:rPr lang="en-US" dirty="0"/>
              <a:t>among adolescents and young adults aged 10–24 </a:t>
            </a:r>
            <a:r>
              <a:rPr lang="en-US" u="sng" dirty="0"/>
              <a:t>result from unnatural causes </a:t>
            </a:r>
            <a:r>
              <a:rPr lang="en-US" dirty="0"/>
              <a:t>(CDC 2010). […] A potentially critical factor contributing to adolescent risk behavior is the </a:t>
            </a:r>
            <a:r>
              <a:rPr lang="en-US" u="sng" dirty="0"/>
              <a:t>decision making process </a:t>
            </a:r>
            <a:r>
              <a:rPr lang="en-US" dirty="0"/>
              <a:t>that adolescents engage in when opportunities for risky behavior arise (Steinberg 2004). </a:t>
            </a:r>
            <a:endParaRPr lang="nl-NL" dirty="0"/>
          </a:p>
        </p:txBody>
      </p:sp>
      <p:sp>
        <p:nvSpPr>
          <p:cNvPr id="4" name="Tijdelijke aanduiding voor inhoud 2">
            <a:extLst>
              <a:ext uri="{FF2B5EF4-FFF2-40B4-BE49-F238E27FC236}">
                <a16:creationId xmlns:a16="http://schemas.microsoft.com/office/drawing/2014/main" id="{895AD688-7FB2-4C60-8BF0-1AFB92A0F0C4}"/>
              </a:ext>
            </a:extLst>
          </p:cNvPr>
          <p:cNvSpPr txBox="1">
            <a:spLocks/>
          </p:cNvSpPr>
          <p:nvPr/>
        </p:nvSpPr>
        <p:spPr>
          <a:xfrm>
            <a:off x="7620000" y="1344126"/>
            <a:ext cx="4138863" cy="4700338"/>
          </a:xfrm>
          <a:prstGeom prst="rect">
            <a:avLst/>
          </a:prstGeom>
        </p:spPr>
        <p:txBody>
          <a:bodyPr vert="horz" lIns="0" tIns="0" rIns="0" bIns="0" rtlCol="0" anchor="t" anchorCtr="0">
            <a:normAutofit fontScale="32500" lnSpcReduction="20000"/>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endParaRPr lang="en-US" dirty="0"/>
          </a:p>
          <a:p>
            <a:pPr marL="0" indent="0" algn="ctr">
              <a:lnSpc>
                <a:spcPct val="120000"/>
              </a:lnSpc>
              <a:buNone/>
            </a:pPr>
            <a:r>
              <a:rPr lang="en-US" sz="7400" dirty="0"/>
              <a:t>Topic becomes clear in first sentence</a:t>
            </a:r>
          </a:p>
          <a:p>
            <a:pPr marL="0" indent="0" algn="ctr">
              <a:lnSpc>
                <a:spcPct val="120000"/>
              </a:lnSpc>
              <a:buNone/>
            </a:pPr>
            <a:endParaRPr lang="en-US" sz="6000" dirty="0"/>
          </a:p>
          <a:p>
            <a:pPr marL="0" indent="0" algn="ctr">
              <a:lnSpc>
                <a:spcPct val="120000"/>
              </a:lnSpc>
              <a:buNone/>
            </a:pPr>
            <a:endParaRPr lang="en-US" sz="6000" dirty="0"/>
          </a:p>
          <a:p>
            <a:pPr marL="0" indent="0" algn="ctr">
              <a:lnSpc>
                <a:spcPct val="120000"/>
              </a:lnSpc>
              <a:buNone/>
            </a:pPr>
            <a:endParaRPr lang="en-US" sz="6000" dirty="0"/>
          </a:p>
          <a:p>
            <a:pPr marL="0" indent="0" algn="ctr">
              <a:lnSpc>
                <a:spcPct val="120000"/>
              </a:lnSpc>
              <a:buNone/>
            </a:pPr>
            <a:r>
              <a:rPr lang="en-US" sz="7400" dirty="0"/>
              <a:t>Outline problem area</a:t>
            </a:r>
          </a:p>
          <a:p>
            <a:pPr marL="0" indent="0" algn="ctr">
              <a:lnSpc>
                <a:spcPct val="120000"/>
              </a:lnSpc>
              <a:buNone/>
            </a:pPr>
            <a:endParaRPr lang="en-US" sz="6000" dirty="0"/>
          </a:p>
          <a:p>
            <a:pPr marL="0" indent="0" algn="ctr">
              <a:lnSpc>
                <a:spcPct val="120000"/>
              </a:lnSpc>
              <a:buNone/>
            </a:pPr>
            <a:endParaRPr lang="en-US" sz="6000" dirty="0"/>
          </a:p>
          <a:p>
            <a:pPr marL="0" indent="0" algn="ctr">
              <a:lnSpc>
                <a:spcPct val="120000"/>
              </a:lnSpc>
              <a:buNone/>
            </a:pPr>
            <a:endParaRPr lang="en-US" sz="6000" dirty="0"/>
          </a:p>
          <a:p>
            <a:pPr marL="0" indent="0" algn="ctr">
              <a:lnSpc>
                <a:spcPct val="120000"/>
              </a:lnSpc>
              <a:buNone/>
            </a:pPr>
            <a:endParaRPr lang="en-US" sz="6000" dirty="0"/>
          </a:p>
          <a:p>
            <a:pPr marL="0" indent="0" algn="ctr">
              <a:lnSpc>
                <a:spcPct val="120000"/>
              </a:lnSpc>
              <a:buNone/>
            </a:pPr>
            <a:endParaRPr lang="en-US" sz="7400" dirty="0"/>
          </a:p>
          <a:p>
            <a:pPr marL="0" indent="0" algn="ctr">
              <a:lnSpc>
                <a:spcPct val="120000"/>
              </a:lnSpc>
              <a:buNone/>
            </a:pPr>
            <a:r>
              <a:rPr lang="en-US" sz="7400" dirty="0"/>
              <a:t>Information from broad to specific</a:t>
            </a:r>
            <a:endParaRPr lang="nl-NL" sz="7400" dirty="0"/>
          </a:p>
        </p:txBody>
      </p:sp>
      <p:sp>
        <p:nvSpPr>
          <p:cNvPr id="5" name="Right Brace 4">
            <a:extLst>
              <a:ext uri="{FF2B5EF4-FFF2-40B4-BE49-F238E27FC236}">
                <a16:creationId xmlns:a16="http://schemas.microsoft.com/office/drawing/2014/main" id="{5F683B5D-53A3-4685-AEA3-EA3E76B7DA1C}"/>
              </a:ext>
            </a:extLst>
          </p:cNvPr>
          <p:cNvSpPr/>
          <p:nvPr/>
        </p:nvSpPr>
        <p:spPr>
          <a:xfrm>
            <a:off x="6710516" y="1339515"/>
            <a:ext cx="752168" cy="975980"/>
          </a:xfrm>
          <a:prstGeom prst="righ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GB"/>
          </a:p>
        </p:txBody>
      </p:sp>
      <p:sp>
        <p:nvSpPr>
          <p:cNvPr id="7" name="Right Brace 6">
            <a:extLst>
              <a:ext uri="{FF2B5EF4-FFF2-40B4-BE49-F238E27FC236}">
                <a16:creationId xmlns:a16="http://schemas.microsoft.com/office/drawing/2014/main" id="{5C035F93-8219-45D5-B1CB-368BAFD8D50F}"/>
              </a:ext>
            </a:extLst>
          </p:cNvPr>
          <p:cNvSpPr/>
          <p:nvPr/>
        </p:nvSpPr>
        <p:spPr>
          <a:xfrm>
            <a:off x="6710516" y="2625213"/>
            <a:ext cx="752168" cy="1917293"/>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9D44926D-3043-42DB-A0C0-A6916325BE37}"/>
              </a:ext>
            </a:extLst>
          </p:cNvPr>
          <p:cNvSpPr/>
          <p:nvPr/>
        </p:nvSpPr>
        <p:spPr>
          <a:xfrm>
            <a:off x="6710517" y="4940710"/>
            <a:ext cx="752168" cy="1519084"/>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405498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5367" y="528000"/>
            <a:ext cx="10896000" cy="578906"/>
          </a:xfrm>
        </p:spPr>
        <p:txBody>
          <a:bodyPr>
            <a:normAutofit/>
          </a:bodyPr>
          <a:lstStyle/>
          <a:p>
            <a:r>
              <a:rPr lang="nl-NL" sz="2600" dirty="0" err="1">
                <a:solidFill>
                  <a:schemeClr val="accent3"/>
                </a:solidFill>
              </a:rPr>
              <a:t>Example</a:t>
            </a:r>
            <a:r>
              <a:rPr lang="nl-NL" sz="2600" dirty="0">
                <a:solidFill>
                  <a:schemeClr val="accent3"/>
                </a:solidFill>
              </a:rPr>
              <a:t> 3: </a:t>
            </a:r>
            <a:r>
              <a:rPr lang="nl-NL" sz="2600" dirty="0" err="1">
                <a:solidFill>
                  <a:schemeClr val="accent3"/>
                </a:solidFill>
              </a:rPr>
              <a:t>Decision</a:t>
            </a:r>
            <a:r>
              <a:rPr lang="nl-NL" sz="2600" dirty="0">
                <a:solidFill>
                  <a:schemeClr val="accent3"/>
                </a:solidFill>
              </a:rPr>
              <a:t> making </a:t>
            </a:r>
            <a:r>
              <a:rPr lang="nl-NL" sz="2600" dirty="0" err="1">
                <a:solidFill>
                  <a:schemeClr val="accent3"/>
                </a:solidFill>
              </a:rPr>
              <a:t>process</a:t>
            </a:r>
            <a:r>
              <a:rPr lang="nl-NL" sz="2600" dirty="0">
                <a:solidFill>
                  <a:schemeClr val="accent3"/>
                </a:solidFill>
              </a:rPr>
              <a:t> </a:t>
            </a:r>
            <a:r>
              <a:rPr lang="nl-NL" sz="2600" dirty="0" err="1">
                <a:solidFill>
                  <a:schemeClr val="accent3"/>
                </a:solidFill>
              </a:rPr>
              <a:t>and</a:t>
            </a:r>
            <a:r>
              <a:rPr lang="nl-NL" sz="2600" dirty="0">
                <a:solidFill>
                  <a:schemeClr val="accent3"/>
                </a:solidFill>
              </a:rPr>
              <a:t> adolescent risk </a:t>
            </a:r>
            <a:r>
              <a:rPr lang="nl-NL" sz="2600" dirty="0" err="1">
                <a:solidFill>
                  <a:schemeClr val="accent3"/>
                </a:solidFill>
              </a:rPr>
              <a:t>behavior</a:t>
            </a:r>
            <a:r>
              <a:rPr lang="nl-NL" sz="2600" dirty="0">
                <a:solidFill>
                  <a:schemeClr val="accent3"/>
                </a:solidFill>
              </a:rPr>
              <a:t> </a:t>
            </a:r>
          </a:p>
        </p:txBody>
      </p:sp>
      <p:sp>
        <p:nvSpPr>
          <p:cNvPr id="3" name="Tijdelijke aanduiding voor inhoud 2"/>
          <p:cNvSpPr>
            <a:spLocks noGrp="1"/>
          </p:cNvSpPr>
          <p:nvPr>
            <p:ph idx="1"/>
          </p:nvPr>
        </p:nvSpPr>
        <p:spPr>
          <a:xfrm>
            <a:off x="640632" y="1106906"/>
            <a:ext cx="6417894" cy="5358062"/>
          </a:xfrm>
        </p:spPr>
        <p:txBody>
          <a:bodyPr>
            <a:noAutofit/>
          </a:bodyPr>
          <a:lstStyle/>
          <a:p>
            <a:pPr marL="0" indent="0">
              <a:buNone/>
            </a:pPr>
            <a:r>
              <a:rPr lang="en-US" sz="2100" dirty="0"/>
              <a:t>Understanding the linkage between decision making and risk-taking </a:t>
            </a:r>
            <a:r>
              <a:rPr lang="en-US" sz="2100" u="sng" dirty="0"/>
              <a:t>could illuminate the processes</a:t>
            </a:r>
            <a:r>
              <a:rPr lang="en-US" sz="2100" dirty="0"/>
              <a:t> leading to adolescent risk behavior and would have im</a:t>
            </a:r>
            <a:r>
              <a:rPr lang="en-US" sz="2100" u="sng" dirty="0"/>
              <a:t>plications for programs and social policies</a:t>
            </a:r>
            <a:r>
              <a:rPr lang="en-US" sz="2100" dirty="0"/>
              <a:t> designed to reduce risky behavior and improve adolescent health. Despite the logical connection between decision making processes and risk behavior, </a:t>
            </a:r>
            <a:r>
              <a:rPr lang="en-US" sz="2100" u="sng" dirty="0"/>
              <a:t>relatively little research </a:t>
            </a:r>
            <a:r>
              <a:rPr lang="en-US" sz="2100" dirty="0"/>
              <a:t>has addressed this link. Thus, </a:t>
            </a:r>
            <a:r>
              <a:rPr lang="en-US" sz="2100" u="sng" dirty="0"/>
              <a:t>we know surprisingly little </a:t>
            </a:r>
            <a:r>
              <a:rPr lang="en-US" sz="2100" dirty="0"/>
              <a:t>about the relationship between decision making proclivities and adolescents’ participation in typical risk behaviors (e.g., engaging in drug use or unprotected sex). The m</a:t>
            </a:r>
            <a:r>
              <a:rPr lang="en-US" sz="2100" u="sng" dirty="0"/>
              <a:t>ain aim of the present study</a:t>
            </a:r>
            <a:r>
              <a:rPr lang="en-US" sz="2100" dirty="0"/>
              <a:t> was to examine this link. </a:t>
            </a:r>
            <a:endParaRPr lang="nl-NL" sz="2100" dirty="0"/>
          </a:p>
          <a:p>
            <a:endParaRPr lang="nl-NL" sz="2100" dirty="0"/>
          </a:p>
        </p:txBody>
      </p:sp>
      <p:sp>
        <p:nvSpPr>
          <p:cNvPr id="4" name="Tijdelijke aanduiding voor inhoud 2">
            <a:extLst>
              <a:ext uri="{FF2B5EF4-FFF2-40B4-BE49-F238E27FC236}">
                <a16:creationId xmlns:a16="http://schemas.microsoft.com/office/drawing/2014/main" id="{03AEDB64-70E8-468D-9B6C-B37E3554A165}"/>
              </a:ext>
            </a:extLst>
          </p:cNvPr>
          <p:cNvSpPr txBox="1">
            <a:spLocks/>
          </p:cNvSpPr>
          <p:nvPr/>
        </p:nvSpPr>
        <p:spPr>
          <a:xfrm>
            <a:off x="8037094" y="1344126"/>
            <a:ext cx="3882189" cy="5120842"/>
          </a:xfrm>
          <a:prstGeom prst="rect">
            <a:avLst/>
          </a:prstGeom>
        </p:spPr>
        <p:txBody>
          <a:bodyPr vert="horz" lIns="0" tIns="0" rIns="0" bIns="0" rtlCol="0" anchor="t" anchorCtr="0">
            <a:normAutofit/>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endParaRPr lang="en-US" sz="2600" dirty="0"/>
          </a:p>
          <a:p>
            <a:pPr marL="0" indent="0" algn="ctr">
              <a:lnSpc>
                <a:spcPct val="120000"/>
              </a:lnSpc>
              <a:buNone/>
            </a:pPr>
            <a:endParaRPr lang="en-US" sz="2600" dirty="0"/>
          </a:p>
          <a:p>
            <a:pPr marL="0" indent="0" algn="ctr">
              <a:lnSpc>
                <a:spcPct val="120000"/>
              </a:lnSpc>
              <a:buNone/>
            </a:pPr>
            <a:endParaRPr lang="en-US" sz="2600" dirty="0"/>
          </a:p>
          <a:p>
            <a:pPr marL="0" indent="0" algn="ctr">
              <a:lnSpc>
                <a:spcPct val="120000"/>
              </a:lnSpc>
              <a:buNone/>
            </a:pPr>
            <a:endParaRPr lang="en-US" sz="2600" dirty="0"/>
          </a:p>
          <a:p>
            <a:pPr marL="0" indent="0" algn="ctr">
              <a:lnSpc>
                <a:spcPct val="120000"/>
              </a:lnSpc>
              <a:buNone/>
            </a:pPr>
            <a:r>
              <a:rPr lang="en-US" dirty="0"/>
              <a:t>Added value /Innovative element</a:t>
            </a:r>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r>
              <a:rPr lang="en-US" dirty="0"/>
              <a:t>Central question</a:t>
            </a:r>
            <a:endParaRPr lang="nl-NL" dirty="0"/>
          </a:p>
        </p:txBody>
      </p:sp>
      <p:sp>
        <p:nvSpPr>
          <p:cNvPr id="8" name="Right Brace 7">
            <a:extLst>
              <a:ext uri="{FF2B5EF4-FFF2-40B4-BE49-F238E27FC236}">
                <a16:creationId xmlns:a16="http://schemas.microsoft.com/office/drawing/2014/main" id="{9162AA32-B14C-454C-A2C1-A888968206C6}"/>
              </a:ext>
            </a:extLst>
          </p:cNvPr>
          <p:cNvSpPr/>
          <p:nvPr/>
        </p:nvSpPr>
        <p:spPr>
          <a:xfrm>
            <a:off x="7086600" y="1296000"/>
            <a:ext cx="752168" cy="4116658"/>
          </a:xfrm>
          <a:prstGeom prst="righ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GB"/>
          </a:p>
        </p:txBody>
      </p:sp>
      <p:sp>
        <p:nvSpPr>
          <p:cNvPr id="10" name="Right Brace 9">
            <a:extLst>
              <a:ext uri="{FF2B5EF4-FFF2-40B4-BE49-F238E27FC236}">
                <a16:creationId xmlns:a16="http://schemas.microsoft.com/office/drawing/2014/main" id="{58987A81-2213-446E-B451-F82CD4F06086}"/>
              </a:ext>
            </a:extLst>
          </p:cNvPr>
          <p:cNvSpPr/>
          <p:nvPr/>
        </p:nvSpPr>
        <p:spPr>
          <a:xfrm>
            <a:off x="7171726" y="5719009"/>
            <a:ext cx="752168" cy="721897"/>
          </a:xfrm>
          <a:prstGeom prst="rightBrace">
            <a:avLst/>
          </a:prstGeom>
        </p:spPr>
        <p:style>
          <a:lnRef idx="2">
            <a:schemeClr val="accent5"/>
          </a:lnRef>
          <a:fillRef idx="0">
            <a:schemeClr val="accent5"/>
          </a:fillRef>
          <a:effectRef idx="1">
            <a:schemeClr val="accent5"/>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661736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nl-NL" sz="2800" dirty="0" err="1">
                <a:solidFill>
                  <a:schemeClr val="accent3"/>
                </a:solidFill>
              </a:rPr>
              <a:t>Example</a:t>
            </a:r>
            <a:r>
              <a:rPr lang="nl-NL" sz="2800" dirty="0">
                <a:solidFill>
                  <a:schemeClr val="accent3"/>
                </a:solidFill>
              </a:rPr>
              <a:t> 4: </a:t>
            </a:r>
            <a:r>
              <a:rPr lang="nl-NL" sz="2800" dirty="0" err="1">
                <a:solidFill>
                  <a:schemeClr val="accent3"/>
                </a:solidFill>
              </a:rPr>
              <a:t>Social</a:t>
            </a:r>
            <a:r>
              <a:rPr lang="nl-NL" sz="2800" dirty="0">
                <a:solidFill>
                  <a:schemeClr val="accent3"/>
                </a:solidFill>
              </a:rPr>
              <a:t> </a:t>
            </a:r>
            <a:r>
              <a:rPr lang="nl-NL" sz="2800" dirty="0" err="1">
                <a:solidFill>
                  <a:schemeClr val="accent3"/>
                </a:solidFill>
              </a:rPr>
              <a:t>comparison</a:t>
            </a:r>
            <a:r>
              <a:rPr lang="nl-NL" sz="2800" dirty="0">
                <a:solidFill>
                  <a:schemeClr val="accent3"/>
                </a:solidFill>
              </a:rPr>
              <a:t> </a:t>
            </a:r>
            <a:r>
              <a:rPr lang="nl-NL" sz="2800" dirty="0" err="1">
                <a:solidFill>
                  <a:schemeClr val="accent3"/>
                </a:solidFill>
              </a:rPr>
              <a:t>and</a:t>
            </a:r>
            <a:r>
              <a:rPr lang="nl-NL" sz="2800" dirty="0">
                <a:solidFill>
                  <a:schemeClr val="accent3"/>
                </a:solidFill>
              </a:rPr>
              <a:t> </a:t>
            </a:r>
            <a:r>
              <a:rPr lang="nl-NL" sz="2800" dirty="0" err="1">
                <a:solidFill>
                  <a:schemeClr val="accent3"/>
                </a:solidFill>
              </a:rPr>
              <a:t>envy</a:t>
            </a:r>
            <a:r>
              <a:rPr lang="nl-NL" sz="2800" dirty="0">
                <a:solidFill>
                  <a:schemeClr val="accent3"/>
                </a:solidFill>
              </a:rPr>
              <a:t> on </a:t>
            </a:r>
            <a:r>
              <a:rPr lang="nl-NL" sz="2800" dirty="0" err="1">
                <a:solidFill>
                  <a:schemeClr val="accent3"/>
                </a:solidFill>
              </a:rPr>
              <a:t>social</a:t>
            </a:r>
            <a:r>
              <a:rPr lang="nl-NL" sz="2800" dirty="0">
                <a:solidFill>
                  <a:schemeClr val="accent3"/>
                </a:solidFill>
              </a:rPr>
              <a:t> media</a:t>
            </a:r>
          </a:p>
        </p:txBody>
      </p:sp>
      <p:sp>
        <p:nvSpPr>
          <p:cNvPr id="3" name="Tijdelijke aanduiding voor inhoud 2"/>
          <p:cNvSpPr>
            <a:spLocks noGrp="1"/>
          </p:cNvSpPr>
          <p:nvPr>
            <p:ph idx="1"/>
          </p:nvPr>
        </p:nvSpPr>
        <p:spPr>
          <a:xfrm>
            <a:off x="655367" y="1171073"/>
            <a:ext cx="6338993" cy="5470358"/>
          </a:xfrm>
        </p:spPr>
        <p:txBody>
          <a:bodyPr>
            <a:normAutofit fontScale="92500" lnSpcReduction="10000"/>
          </a:bodyPr>
          <a:lstStyle/>
          <a:p>
            <a:pPr marL="0" indent="0">
              <a:lnSpc>
                <a:spcPct val="120000"/>
              </a:lnSpc>
              <a:buNone/>
            </a:pPr>
            <a:r>
              <a:rPr lang="en-US" u="sng" dirty="0"/>
              <a:t>Social med</a:t>
            </a:r>
            <a:r>
              <a:rPr lang="en-US" dirty="0"/>
              <a:t>ia (SM) such as Facebook, Instagram, and </a:t>
            </a:r>
            <a:r>
              <a:rPr lang="en-US" dirty="0" err="1"/>
              <a:t>TikTok</a:t>
            </a:r>
            <a:r>
              <a:rPr lang="en-US" dirty="0"/>
              <a:t> continue to attract billions worldwide while concerns about their </a:t>
            </a:r>
            <a:r>
              <a:rPr lang="en-US" u="sng" dirty="0"/>
              <a:t>impact on users’ well-being</a:t>
            </a:r>
            <a:r>
              <a:rPr lang="en-US" dirty="0"/>
              <a:t> are unabated [1]. </a:t>
            </a:r>
            <a:r>
              <a:rPr lang="en-US" u="sng" dirty="0"/>
              <a:t>Recent overviews [2e4] of meta-analyses on this issue find </a:t>
            </a:r>
            <a:r>
              <a:rPr lang="en-US" dirty="0"/>
              <a:t>overall small negative associations between social media use (SMU) and some, but not all, well-being indicators among adolescents [4] and young adults [2,3]. Yet associations are heterogeneous and likely depend on numerous boundary conditions and mechanisms [3,4]. Several reviews [5e7], plus Facebook’s own research [8,9], point to social comparison and envy as key mechanisms.</a:t>
            </a:r>
          </a:p>
        </p:txBody>
      </p:sp>
      <p:sp>
        <p:nvSpPr>
          <p:cNvPr id="4" name="Tijdelijke aanduiding voor inhoud 2">
            <a:extLst>
              <a:ext uri="{FF2B5EF4-FFF2-40B4-BE49-F238E27FC236}">
                <a16:creationId xmlns:a16="http://schemas.microsoft.com/office/drawing/2014/main" id="{895AD688-7FB2-4C60-8BF0-1AFB92A0F0C4}"/>
              </a:ext>
            </a:extLst>
          </p:cNvPr>
          <p:cNvSpPr txBox="1">
            <a:spLocks/>
          </p:cNvSpPr>
          <p:nvPr/>
        </p:nvSpPr>
        <p:spPr>
          <a:xfrm>
            <a:off x="7547884" y="1306804"/>
            <a:ext cx="4138863" cy="4700338"/>
          </a:xfrm>
          <a:prstGeom prst="rect">
            <a:avLst/>
          </a:prstGeom>
        </p:spPr>
        <p:txBody>
          <a:bodyPr vert="horz" lIns="0" tIns="0" rIns="0" bIns="0" rtlCol="0" anchor="t" anchorCtr="0">
            <a:normAutofit/>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r>
              <a:rPr lang="en-US" dirty="0"/>
              <a:t>Introduction of the subject</a:t>
            </a:r>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r>
              <a:rPr lang="en-US" dirty="0"/>
              <a:t>Description prior research</a:t>
            </a:r>
          </a:p>
        </p:txBody>
      </p:sp>
      <p:sp>
        <p:nvSpPr>
          <p:cNvPr id="12" name="Right Brace 11">
            <a:extLst>
              <a:ext uri="{FF2B5EF4-FFF2-40B4-BE49-F238E27FC236}">
                <a16:creationId xmlns:a16="http://schemas.microsoft.com/office/drawing/2014/main" id="{29F9E8D3-9B98-47A3-A173-52F2DC6C95F5}"/>
              </a:ext>
            </a:extLst>
          </p:cNvPr>
          <p:cNvSpPr/>
          <p:nvPr/>
        </p:nvSpPr>
        <p:spPr>
          <a:xfrm>
            <a:off x="6931096" y="1296001"/>
            <a:ext cx="752168" cy="1004748"/>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id="{394B12A5-84A0-4C37-AF69-EFF6B0470770}"/>
              </a:ext>
            </a:extLst>
          </p:cNvPr>
          <p:cNvSpPr/>
          <p:nvPr/>
        </p:nvSpPr>
        <p:spPr>
          <a:xfrm>
            <a:off x="6931096" y="2470353"/>
            <a:ext cx="752168" cy="3859647"/>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2003333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kumimoji="0" lang="nl-NL" sz="2800" b="0" i="0" u="none" strike="noStrike" kern="1200" cap="none" spc="0" normalizeH="0" baseline="0" noProof="0" dirty="0" err="1">
                <a:ln>
                  <a:noFill/>
                </a:ln>
                <a:solidFill>
                  <a:srgbClr val="00A22E"/>
                </a:solidFill>
                <a:effectLst/>
                <a:uLnTx/>
                <a:uFillTx/>
                <a:latin typeface="Museo Sans 700"/>
                <a:ea typeface="+mj-ea"/>
              </a:rPr>
              <a:t>Example</a:t>
            </a:r>
            <a:r>
              <a:rPr kumimoji="0" lang="nl-NL" sz="2800" b="0" i="0" u="none" strike="noStrike" kern="1200" cap="none" spc="0" normalizeH="0" baseline="0" noProof="0" dirty="0">
                <a:ln>
                  <a:noFill/>
                </a:ln>
                <a:solidFill>
                  <a:srgbClr val="00A22E"/>
                </a:solidFill>
                <a:effectLst/>
                <a:uLnTx/>
                <a:uFillTx/>
                <a:latin typeface="Museo Sans 700"/>
                <a:ea typeface="+mj-ea"/>
              </a:rPr>
              <a:t> 4: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comparison</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and</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envy</a:t>
            </a:r>
            <a:r>
              <a:rPr kumimoji="0" lang="nl-NL" sz="2800" b="0" i="0" u="none" strike="noStrike" kern="1200" cap="none" spc="0" normalizeH="0" baseline="0" noProof="0" dirty="0">
                <a:ln>
                  <a:noFill/>
                </a:ln>
                <a:solidFill>
                  <a:srgbClr val="00A22E"/>
                </a:solidFill>
                <a:effectLst/>
                <a:uLnTx/>
                <a:uFillTx/>
                <a:latin typeface="Museo Sans 700"/>
                <a:ea typeface="+mj-ea"/>
              </a:rPr>
              <a:t> on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media</a:t>
            </a:r>
            <a:endParaRPr lang="nl-NL" sz="3600" dirty="0">
              <a:solidFill>
                <a:schemeClr val="accent3"/>
              </a:solidFill>
            </a:endParaRPr>
          </a:p>
        </p:txBody>
      </p:sp>
      <p:sp>
        <p:nvSpPr>
          <p:cNvPr id="3" name="Tijdelijke aanduiding voor inhoud 2"/>
          <p:cNvSpPr>
            <a:spLocks noGrp="1"/>
          </p:cNvSpPr>
          <p:nvPr>
            <p:ph idx="1"/>
          </p:nvPr>
        </p:nvSpPr>
        <p:spPr>
          <a:xfrm>
            <a:off x="640632" y="1106906"/>
            <a:ext cx="6836800" cy="5358062"/>
          </a:xfrm>
        </p:spPr>
        <p:txBody>
          <a:bodyPr>
            <a:noAutofit/>
          </a:bodyPr>
          <a:lstStyle/>
          <a:p>
            <a:pPr marL="0" indent="0">
              <a:buNone/>
            </a:pPr>
            <a:r>
              <a:rPr lang="en-US" sz="2000" u="sng" dirty="0"/>
              <a:t>Social comparison is </a:t>
            </a:r>
            <a:r>
              <a:rPr lang="en-US" sz="2000" dirty="0"/>
              <a:t>the process of thinking about information about one or more other people in relation to the self [10]. Comparisons represent a fundamental human cognition [11] occurring across cultures [12], helping humans navigate social groups by providing them with information about their own relative standing [13]. Despite these benefits, upward comparisons with those who do better than oneself have been identified as potentially problematic [14], especially on SM [7]. As</a:t>
            </a:r>
          </a:p>
          <a:p>
            <a:pPr marL="0" indent="0">
              <a:buNone/>
            </a:pPr>
            <a:r>
              <a:rPr lang="en-US" sz="2000" dirty="0"/>
              <a:t>users present a positively-biased version of themselves online [15], upward comparisons are assumed to be more frequent and harmful on SM [7]. They may particularly elicit envy, the pain caused by the good fortune of others, which can impair well-being [16,17].</a:t>
            </a:r>
            <a:endParaRPr lang="nl-NL" sz="2000" dirty="0"/>
          </a:p>
        </p:txBody>
      </p:sp>
      <p:sp>
        <p:nvSpPr>
          <p:cNvPr id="4" name="Tijdelijke aanduiding voor inhoud 2">
            <a:extLst>
              <a:ext uri="{FF2B5EF4-FFF2-40B4-BE49-F238E27FC236}">
                <a16:creationId xmlns:a16="http://schemas.microsoft.com/office/drawing/2014/main" id="{03AEDB64-70E8-468D-9B6C-B37E3554A165}"/>
              </a:ext>
            </a:extLst>
          </p:cNvPr>
          <p:cNvSpPr txBox="1">
            <a:spLocks/>
          </p:cNvSpPr>
          <p:nvPr/>
        </p:nvSpPr>
        <p:spPr>
          <a:xfrm>
            <a:off x="8037094" y="1344126"/>
            <a:ext cx="3882189" cy="4735832"/>
          </a:xfrm>
          <a:prstGeom prst="rect">
            <a:avLst/>
          </a:prstGeom>
        </p:spPr>
        <p:txBody>
          <a:bodyPr vert="horz" lIns="0" tIns="0" rIns="0" bIns="0" rtlCol="0" anchor="t" anchorCtr="0">
            <a:normAutofit/>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endParaRPr lang="en-US" dirty="0"/>
          </a:p>
          <a:p>
            <a:pPr marL="0" indent="0" algn="ctr">
              <a:lnSpc>
                <a:spcPct val="120000"/>
              </a:lnSpc>
              <a:buNone/>
            </a:pPr>
            <a:r>
              <a:rPr lang="en-US" dirty="0"/>
              <a:t>Definition theoretical concepts</a:t>
            </a:r>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r>
              <a:rPr lang="en-US" dirty="0"/>
              <a:t>Current problem area</a:t>
            </a:r>
          </a:p>
          <a:p>
            <a:pPr marL="0" indent="0" algn="ctr">
              <a:lnSpc>
                <a:spcPct val="120000"/>
              </a:lnSpc>
              <a:buNone/>
            </a:pPr>
            <a:endParaRPr lang="en-US" dirty="0"/>
          </a:p>
        </p:txBody>
      </p:sp>
      <p:sp>
        <p:nvSpPr>
          <p:cNvPr id="8" name="Right Brace 7">
            <a:extLst>
              <a:ext uri="{FF2B5EF4-FFF2-40B4-BE49-F238E27FC236}">
                <a16:creationId xmlns:a16="http://schemas.microsoft.com/office/drawing/2014/main" id="{3B6E4DD8-A570-451D-A44A-31F67C42486F}"/>
              </a:ext>
            </a:extLst>
          </p:cNvPr>
          <p:cNvSpPr/>
          <p:nvPr/>
        </p:nvSpPr>
        <p:spPr>
          <a:xfrm>
            <a:off x="7477432" y="1295999"/>
            <a:ext cx="752168" cy="2133001"/>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9" name="Right Brace 8">
            <a:extLst>
              <a:ext uri="{FF2B5EF4-FFF2-40B4-BE49-F238E27FC236}">
                <a16:creationId xmlns:a16="http://schemas.microsoft.com/office/drawing/2014/main" id="{520D1A4F-9552-434C-B756-2350D50DEBEA}"/>
              </a:ext>
            </a:extLst>
          </p:cNvPr>
          <p:cNvSpPr/>
          <p:nvPr/>
        </p:nvSpPr>
        <p:spPr>
          <a:xfrm>
            <a:off x="7477432" y="3687978"/>
            <a:ext cx="752168" cy="2642022"/>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6548679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kumimoji="0" lang="nl-NL" sz="2800" b="0" i="0" u="none" strike="noStrike" kern="1200" cap="none" spc="0" normalizeH="0" baseline="0" noProof="0" dirty="0" err="1">
                <a:ln>
                  <a:noFill/>
                </a:ln>
                <a:solidFill>
                  <a:srgbClr val="00A22E"/>
                </a:solidFill>
                <a:effectLst/>
                <a:uLnTx/>
                <a:uFillTx/>
                <a:latin typeface="Museo Sans 700"/>
                <a:ea typeface="+mj-ea"/>
              </a:rPr>
              <a:t>Example</a:t>
            </a:r>
            <a:r>
              <a:rPr kumimoji="0" lang="nl-NL" sz="2800" b="0" i="0" u="none" strike="noStrike" kern="1200" cap="none" spc="0" normalizeH="0" baseline="0" noProof="0" dirty="0">
                <a:ln>
                  <a:noFill/>
                </a:ln>
                <a:solidFill>
                  <a:srgbClr val="00A22E"/>
                </a:solidFill>
                <a:effectLst/>
                <a:uLnTx/>
                <a:uFillTx/>
                <a:latin typeface="Museo Sans 700"/>
                <a:ea typeface="+mj-ea"/>
              </a:rPr>
              <a:t> 4: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comparison</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and</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envy</a:t>
            </a:r>
            <a:r>
              <a:rPr kumimoji="0" lang="nl-NL" sz="2800" b="0" i="0" u="none" strike="noStrike" kern="1200" cap="none" spc="0" normalizeH="0" baseline="0" noProof="0" dirty="0">
                <a:ln>
                  <a:noFill/>
                </a:ln>
                <a:solidFill>
                  <a:srgbClr val="00A22E"/>
                </a:solidFill>
                <a:effectLst/>
                <a:uLnTx/>
                <a:uFillTx/>
                <a:latin typeface="Museo Sans 700"/>
                <a:ea typeface="+mj-ea"/>
              </a:rPr>
              <a:t> on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media</a:t>
            </a:r>
            <a:endParaRPr lang="nl-NL" sz="3600" dirty="0">
              <a:solidFill>
                <a:schemeClr val="accent3"/>
              </a:solidFill>
            </a:endParaRPr>
          </a:p>
        </p:txBody>
      </p:sp>
      <p:sp>
        <p:nvSpPr>
          <p:cNvPr id="3" name="Tijdelijke aanduiding voor inhoud 2"/>
          <p:cNvSpPr>
            <a:spLocks noGrp="1"/>
          </p:cNvSpPr>
          <p:nvPr>
            <p:ph idx="1"/>
          </p:nvPr>
        </p:nvSpPr>
        <p:spPr>
          <a:xfrm>
            <a:off x="640632" y="1106906"/>
            <a:ext cx="6417894" cy="5358062"/>
          </a:xfrm>
        </p:spPr>
        <p:txBody>
          <a:bodyPr>
            <a:noAutofit/>
          </a:bodyPr>
          <a:lstStyle/>
          <a:p>
            <a:pPr marL="0" indent="0">
              <a:buNone/>
            </a:pPr>
            <a:r>
              <a:rPr lang="en-US" sz="2000" dirty="0"/>
              <a:t>Whereas this negative view dominated research on SM</a:t>
            </a:r>
          </a:p>
          <a:p>
            <a:pPr marL="0" indent="0">
              <a:buNone/>
            </a:pPr>
            <a:r>
              <a:rPr lang="en-US" sz="2000" dirty="0"/>
              <a:t>upward comparison and envy in the 2010s, recent studies also point to positive outcomes such as inspiration [18e20]. More generally, authors [18,20e23] including original proponents [6,24] have begun to question whether the effects of passive SMU (i.e., just browsing SM without interacting) are as detrimental as previously assumed and whether “active” versus “passive” use is a useful dichotomy to explain well-being effects.</a:t>
            </a:r>
            <a:endParaRPr lang="nl-NL" sz="2000" dirty="0"/>
          </a:p>
        </p:txBody>
      </p:sp>
      <p:sp>
        <p:nvSpPr>
          <p:cNvPr id="4" name="Tijdelijke aanduiding voor inhoud 2">
            <a:extLst>
              <a:ext uri="{FF2B5EF4-FFF2-40B4-BE49-F238E27FC236}">
                <a16:creationId xmlns:a16="http://schemas.microsoft.com/office/drawing/2014/main" id="{03AEDB64-70E8-468D-9B6C-B37E3554A165}"/>
              </a:ext>
            </a:extLst>
          </p:cNvPr>
          <p:cNvSpPr txBox="1">
            <a:spLocks/>
          </p:cNvSpPr>
          <p:nvPr/>
        </p:nvSpPr>
        <p:spPr>
          <a:xfrm>
            <a:off x="8037094" y="1344126"/>
            <a:ext cx="3882189" cy="4735832"/>
          </a:xfrm>
          <a:prstGeom prst="rect">
            <a:avLst/>
          </a:prstGeom>
        </p:spPr>
        <p:txBody>
          <a:bodyPr vert="horz" lIns="0" tIns="0" rIns="0" bIns="0" rtlCol="0" anchor="t" anchorCtr="0">
            <a:normAutofit/>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r>
              <a:rPr lang="en-US" dirty="0"/>
              <a:t>Gaps in prior research</a:t>
            </a:r>
          </a:p>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endParaRPr lang="en-US" dirty="0"/>
          </a:p>
        </p:txBody>
      </p:sp>
      <p:sp>
        <p:nvSpPr>
          <p:cNvPr id="8" name="Right Brace 7">
            <a:extLst>
              <a:ext uri="{FF2B5EF4-FFF2-40B4-BE49-F238E27FC236}">
                <a16:creationId xmlns:a16="http://schemas.microsoft.com/office/drawing/2014/main" id="{55A6D7DA-9F74-4664-A7C5-616C2D122169}"/>
              </a:ext>
            </a:extLst>
          </p:cNvPr>
          <p:cNvSpPr/>
          <p:nvPr/>
        </p:nvSpPr>
        <p:spPr>
          <a:xfrm>
            <a:off x="7284926" y="1344126"/>
            <a:ext cx="752168" cy="3452982"/>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242600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kumimoji="0" lang="nl-NL" sz="2800" b="0" i="0" u="none" strike="noStrike" kern="1200" cap="none" spc="0" normalizeH="0" baseline="0" noProof="0" dirty="0" err="1">
                <a:ln>
                  <a:noFill/>
                </a:ln>
                <a:solidFill>
                  <a:srgbClr val="00A22E"/>
                </a:solidFill>
                <a:effectLst/>
                <a:uLnTx/>
                <a:uFillTx/>
                <a:latin typeface="Museo Sans 700"/>
                <a:ea typeface="+mj-ea"/>
              </a:rPr>
              <a:t>Example</a:t>
            </a:r>
            <a:r>
              <a:rPr kumimoji="0" lang="nl-NL" sz="2800" b="0" i="0" u="none" strike="noStrike" kern="1200" cap="none" spc="0" normalizeH="0" baseline="0" noProof="0" dirty="0">
                <a:ln>
                  <a:noFill/>
                </a:ln>
                <a:solidFill>
                  <a:srgbClr val="00A22E"/>
                </a:solidFill>
                <a:effectLst/>
                <a:uLnTx/>
                <a:uFillTx/>
                <a:latin typeface="Museo Sans 700"/>
                <a:ea typeface="+mj-ea"/>
              </a:rPr>
              <a:t> 4: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comparison</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and</a:t>
            </a:r>
            <a:r>
              <a:rPr kumimoji="0" lang="nl-NL" sz="2800" b="0" i="0" u="none" strike="noStrike" kern="1200" cap="none" spc="0" normalizeH="0" baseline="0" noProof="0" dirty="0">
                <a:ln>
                  <a:noFill/>
                </a:ln>
                <a:solidFill>
                  <a:srgbClr val="00A22E"/>
                </a:solidFill>
                <a:effectLst/>
                <a:uLnTx/>
                <a:uFillTx/>
                <a:latin typeface="Museo Sans 700"/>
                <a:ea typeface="+mj-ea"/>
              </a:rPr>
              <a:t> </a:t>
            </a:r>
            <a:r>
              <a:rPr kumimoji="0" lang="nl-NL" sz="2800" b="0" i="0" u="none" strike="noStrike" kern="1200" cap="none" spc="0" normalizeH="0" baseline="0" noProof="0" dirty="0" err="1">
                <a:ln>
                  <a:noFill/>
                </a:ln>
                <a:solidFill>
                  <a:srgbClr val="00A22E"/>
                </a:solidFill>
                <a:effectLst/>
                <a:uLnTx/>
                <a:uFillTx/>
                <a:latin typeface="Museo Sans 700"/>
                <a:ea typeface="+mj-ea"/>
              </a:rPr>
              <a:t>envy</a:t>
            </a:r>
            <a:r>
              <a:rPr kumimoji="0" lang="nl-NL" sz="2800" b="0" i="0" u="none" strike="noStrike" kern="1200" cap="none" spc="0" normalizeH="0" baseline="0" noProof="0" dirty="0">
                <a:ln>
                  <a:noFill/>
                </a:ln>
                <a:solidFill>
                  <a:srgbClr val="00A22E"/>
                </a:solidFill>
                <a:effectLst/>
                <a:uLnTx/>
                <a:uFillTx/>
                <a:latin typeface="Museo Sans 700"/>
                <a:ea typeface="+mj-ea"/>
              </a:rPr>
              <a:t> on </a:t>
            </a:r>
            <a:r>
              <a:rPr kumimoji="0" lang="nl-NL" sz="2800" b="0" i="0" u="none" strike="noStrike" kern="1200" cap="none" spc="0" normalizeH="0" baseline="0" noProof="0" dirty="0" err="1">
                <a:ln>
                  <a:noFill/>
                </a:ln>
                <a:solidFill>
                  <a:srgbClr val="00A22E"/>
                </a:solidFill>
                <a:effectLst/>
                <a:uLnTx/>
                <a:uFillTx/>
                <a:latin typeface="Museo Sans 700"/>
                <a:ea typeface="+mj-ea"/>
              </a:rPr>
              <a:t>social</a:t>
            </a:r>
            <a:r>
              <a:rPr kumimoji="0" lang="nl-NL" sz="2800" b="0" i="0" u="none" strike="noStrike" kern="1200" cap="none" spc="0" normalizeH="0" baseline="0" noProof="0" dirty="0">
                <a:ln>
                  <a:noFill/>
                </a:ln>
                <a:solidFill>
                  <a:srgbClr val="00A22E"/>
                </a:solidFill>
                <a:effectLst/>
                <a:uLnTx/>
                <a:uFillTx/>
                <a:latin typeface="Museo Sans 700"/>
                <a:ea typeface="+mj-ea"/>
              </a:rPr>
              <a:t> media</a:t>
            </a:r>
            <a:endParaRPr lang="nl-NL" sz="3600" dirty="0">
              <a:solidFill>
                <a:schemeClr val="accent3"/>
              </a:solidFill>
            </a:endParaRPr>
          </a:p>
        </p:txBody>
      </p:sp>
      <p:sp>
        <p:nvSpPr>
          <p:cNvPr id="3" name="Tijdelijke aanduiding voor inhoud 2"/>
          <p:cNvSpPr>
            <a:spLocks noGrp="1"/>
          </p:cNvSpPr>
          <p:nvPr>
            <p:ph idx="1"/>
          </p:nvPr>
        </p:nvSpPr>
        <p:spPr>
          <a:xfrm>
            <a:off x="640632" y="1106906"/>
            <a:ext cx="6704065" cy="5358062"/>
          </a:xfrm>
        </p:spPr>
        <p:txBody>
          <a:bodyPr>
            <a:noAutofit/>
          </a:bodyPr>
          <a:lstStyle/>
          <a:p>
            <a:pPr marL="0" indent="0">
              <a:buNone/>
            </a:pPr>
            <a:r>
              <a:rPr lang="en-US" sz="1800" dirty="0"/>
              <a:t>Our review seeks to advance this debate, first, with a synthesis of prior reviews and recent key studies. The goal is to provide both a comprehensive update and critical appraisal of the most relevant evidence. Note that we exclude studies solely investigating appearance comparison or body image because an up-to-date review of this literature appears in this special issue [25]. Instead, our review includes studies measuring all non-specific social comparisons and envy, which may be elicited by various self-presentations of people’s work, leisure, travel, health, or appearance, among others. Second, and building on this evidence synthesis, we identify and critically discuss four major limitations of the literature, which point to crucial questions for future research.</a:t>
            </a:r>
            <a:endParaRPr lang="nl-NL" sz="1800" dirty="0"/>
          </a:p>
        </p:txBody>
      </p:sp>
      <p:sp>
        <p:nvSpPr>
          <p:cNvPr id="4" name="Tijdelijke aanduiding voor inhoud 2">
            <a:extLst>
              <a:ext uri="{FF2B5EF4-FFF2-40B4-BE49-F238E27FC236}">
                <a16:creationId xmlns:a16="http://schemas.microsoft.com/office/drawing/2014/main" id="{03AEDB64-70E8-468D-9B6C-B37E3554A165}"/>
              </a:ext>
            </a:extLst>
          </p:cNvPr>
          <p:cNvSpPr txBox="1">
            <a:spLocks/>
          </p:cNvSpPr>
          <p:nvPr/>
        </p:nvSpPr>
        <p:spPr>
          <a:xfrm>
            <a:off x="8037094" y="1344126"/>
            <a:ext cx="3882189" cy="4735832"/>
          </a:xfrm>
          <a:prstGeom prst="rect">
            <a:avLst/>
          </a:prstGeom>
        </p:spPr>
        <p:txBody>
          <a:bodyPr vert="horz" lIns="0" tIns="0" rIns="0" bIns="0" rtlCol="0" anchor="t" anchorCtr="0">
            <a:normAutofit/>
          </a:bodyPr>
          <a:lstStyle>
            <a:lvl1pPr marL="287993" indent="-287993" algn="l" defTabSz="609585" rtl="0" eaLnBrk="1" latinLnBrk="0" hangingPunct="1">
              <a:lnSpc>
                <a:spcPts val="3067"/>
              </a:lnSpc>
              <a:spcBef>
                <a:spcPts val="0"/>
              </a:spcBef>
              <a:buSzPct val="130000"/>
              <a:buFont typeface="Arial"/>
              <a:buChar char="•"/>
              <a:defRPr sz="2400" b="0" i="0" kern="1200" baseline="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lnSpc>
                <a:spcPct val="120000"/>
              </a:lnSpc>
              <a:buNone/>
            </a:pPr>
            <a:endParaRPr lang="en-US" dirty="0"/>
          </a:p>
          <a:p>
            <a:pPr marL="0" indent="0" algn="ctr">
              <a:lnSpc>
                <a:spcPct val="120000"/>
              </a:lnSpc>
              <a:buNone/>
            </a:pPr>
            <a:endParaRPr lang="en-US" dirty="0"/>
          </a:p>
          <a:p>
            <a:pPr marL="0" indent="0" algn="ctr">
              <a:lnSpc>
                <a:spcPct val="120000"/>
              </a:lnSpc>
              <a:buNone/>
            </a:pPr>
            <a:r>
              <a:rPr lang="en-US" dirty="0"/>
              <a:t>Added value </a:t>
            </a:r>
          </a:p>
          <a:p>
            <a:pPr marL="0" indent="0" algn="ctr">
              <a:lnSpc>
                <a:spcPct val="120000"/>
              </a:lnSpc>
              <a:buNone/>
            </a:pPr>
            <a:r>
              <a:rPr lang="en-US" dirty="0"/>
              <a:t>+</a:t>
            </a:r>
          </a:p>
          <a:p>
            <a:pPr marL="0" indent="0" algn="ctr">
              <a:lnSpc>
                <a:spcPct val="120000"/>
              </a:lnSpc>
              <a:buNone/>
            </a:pPr>
            <a:r>
              <a:rPr lang="en-US" dirty="0"/>
              <a:t>Description article’s </a:t>
            </a:r>
            <a:r>
              <a:rPr lang="en-US" dirty="0" err="1"/>
              <a:t>strcuture</a:t>
            </a:r>
            <a:endParaRPr lang="en-US" dirty="0"/>
          </a:p>
          <a:p>
            <a:pPr marL="0" indent="0" algn="ctr">
              <a:lnSpc>
                <a:spcPct val="120000"/>
              </a:lnSpc>
              <a:buNone/>
            </a:pPr>
            <a:endParaRPr lang="en-US" dirty="0"/>
          </a:p>
          <a:p>
            <a:pPr marL="0" indent="0" algn="ctr">
              <a:lnSpc>
                <a:spcPct val="120000"/>
              </a:lnSpc>
              <a:buNone/>
            </a:pPr>
            <a:endParaRPr lang="en-US" dirty="0"/>
          </a:p>
        </p:txBody>
      </p:sp>
      <p:sp>
        <p:nvSpPr>
          <p:cNvPr id="8" name="Right Brace 7">
            <a:extLst>
              <a:ext uri="{FF2B5EF4-FFF2-40B4-BE49-F238E27FC236}">
                <a16:creationId xmlns:a16="http://schemas.microsoft.com/office/drawing/2014/main" id="{A2FE6726-245B-471F-8403-C5C77F0A76AE}"/>
              </a:ext>
            </a:extLst>
          </p:cNvPr>
          <p:cNvSpPr/>
          <p:nvPr/>
        </p:nvSpPr>
        <p:spPr>
          <a:xfrm>
            <a:off x="7477432" y="1295999"/>
            <a:ext cx="752168" cy="4735832"/>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1804020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dirty="0"/>
              <a:t>INTRODUCTION </a:t>
            </a:r>
            <a:br>
              <a:rPr lang="en-US" dirty="0"/>
            </a:br>
            <a:r>
              <a:rPr sz="3600" dirty="0"/>
              <a:t>Tip</a:t>
            </a:r>
            <a:endParaRPr lang="en-GB" sz="3600" dirty="0"/>
          </a:p>
        </p:txBody>
      </p:sp>
      <p:sp>
        <p:nvSpPr>
          <p:cNvPr id="2" name="Tijdelijke aanduiding voor inhoud 1"/>
          <p:cNvSpPr>
            <a:spLocks noGrp="1"/>
          </p:cNvSpPr>
          <p:nvPr>
            <p:ph idx="1"/>
          </p:nvPr>
        </p:nvSpPr>
        <p:spPr/>
        <p:txBody>
          <a:bodyPr/>
          <a:lstStyle/>
          <a:p>
            <a:endParaRPr lang="nl-NL" dirty="0"/>
          </a:p>
          <a:p>
            <a:endParaRPr lang="nl-NL" dirty="0"/>
          </a:p>
          <a:p>
            <a:r>
              <a:rPr lang="nl-NL" dirty="0"/>
              <a:t>Be inspired by the articles you've read for this report: </a:t>
            </a:r>
          </a:p>
          <a:p>
            <a:pPr marL="0" indent="0">
              <a:buNone/>
            </a:pPr>
            <a:r>
              <a:rPr lang="nl-NL" dirty="0"/>
              <a:t>	- How do the authors open their article? </a:t>
            </a:r>
          </a:p>
          <a:p>
            <a:pPr marL="0" indent="0">
              <a:buNone/>
            </a:pPr>
            <a:r>
              <a:rPr lang="nl-NL" dirty="0"/>
              <a:t>	- How do they structure their introduction?</a:t>
            </a:r>
          </a:p>
          <a:p>
            <a:endParaRPr lang="en-GB" dirty="0"/>
          </a:p>
        </p:txBody>
      </p:sp>
    </p:spTree>
    <p:extLst>
      <p:ext uri="{BB962C8B-B14F-4D97-AF65-F5344CB8AC3E}">
        <p14:creationId xmlns:p14="http://schemas.microsoft.com/office/powerpoint/2010/main" val="1293109853"/>
      </p:ext>
    </p:extLst>
  </p:cSld>
  <p:clrMapOvr>
    <a:masterClrMapping/>
  </p:clrMapOvr>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Create a new document." ma:contentTypeScope="" ma:versionID="c9abba0b320c596e3d5fcb33a2196ba1">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c1bec6ec24318f41e4504b00309ddf43"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76498C-46EC-476F-A701-6406D09A6767}">
  <ds:schemaRefs>
    <ds:schemaRef ds:uri="http://schemas.microsoft.com/office/2006/metadata/properties"/>
    <ds:schemaRef ds:uri="http://schemas.microsoft.com/office/infopath/2007/PartnerControls"/>
    <ds:schemaRef ds:uri="e6184cdb-27b6-4fa9-b428-d3569f95926d"/>
    <ds:schemaRef ds:uri="ee5a7209-f4a2-4b85-bc1d-e34763a728ef"/>
  </ds:schemaRefs>
</ds:datastoreItem>
</file>

<file path=customXml/itemProps2.xml><?xml version="1.0" encoding="utf-8"?>
<ds:datastoreItem xmlns:ds="http://schemas.openxmlformats.org/officeDocument/2006/customXml" ds:itemID="{43A06317-DD1C-4470-ABDC-6E8739F36B57}">
  <ds:schemaRefs>
    <ds:schemaRef ds:uri="http://schemas.microsoft.com/sharepoint/v3/contenttype/forms"/>
  </ds:schemaRefs>
</ds:datastoreItem>
</file>

<file path=customXml/itemProps3.xml><?xml version="1.0" encoding="utf-8"?>
<ds:datastoreItem xmlns:ds="http://schemas.openxmlformats.org/officeDocument/2006/customXml" ds:itemID="{9D8E4D9E-407E-4E05-B827-A6BAFFF5FF38}"/>
</file>

<file path=docProps/app.xml><?xml version="1.0" encoding="utf-8"?>
<Properties xmlns="http://schemas.openxmlformats.org/officeDocument/2006/extended-properties" xmlns:vt="http://schemas.openxmlformats.org/officeDocument/2006/docPropsVTypes">
  <TotalTime>870</TotalTime>
  <Words>2540</Words>
  <Application>Microsoft Office PowerPoint</Application>
  <PresentationFormat>Widescreen</PresentationFormat>
  <Paragraphs>186</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EUR_Presentatie_c18</vt:lpstr>
      <vt:lpstr>Introduction</vt:lpstr>
      <vt:lpstr>Introduction</vt:lpstr>
      <vt:lpstr>INTRODUCTION Assessment criteria Rubric</vt:lpstr>
      <vt:lpstr>Introduction of the subject</vt:lpstr>
      <vt:lpstr>Outline of the problem area</vt:lpstr>
      <vt:lpstr>Central question</vt:lpstr>
      <vt:lpstr>Description of article’s struture</vt:lpstr>
      <vt:lpstr>Pitfalls introduction</vt:lpstr>
      <vt:lpstr>Example 1: Factors influencing the accuracy of judgements of learning</vt:lpstr>
      <vt:lpstr>Introduction not related to the question</vt:lpstr>
      <vt:lpstr>Example 2: Factors that affect the attractiveness of average faces</vt:lpstr>
      <vt:lpstr>No problem area or relevance included!</vt:lpstr>
      <vt:lpstr>Example 3: Decision making process and adolescent risk behavior </vt:lpstr>
      <vt:lpstr>Example 3: Decision making process and adolescent risk behavior </vt:lpstr>
      <vt:lpstr>Example 4: Social comparison and envy on social media</vt:lpstr>
      <vt:lpstr>Example 4: Social comparison and envy on social media</vt:lpstr>
      <vt:lpstr>Example 4: Social comparison and envy on social media</vt:lpstr>
      <vt:lpstr>Example 4: Social comparison and envy on social media</vt:lpstr>
      <vt:lpstr>INTRODUCTION  Tip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Estella van der Wal</dc:creator>
  <cp:lastModifiedBy>Estella van der Wal</cp:lastModifiedBy>
  <cp:revision>16</cp:revision>
  <dcterms:created xsi:type="dcterms:W3CDTF">2022-03-22T07:43:05Z</dcterms:created>
  <dcterms:modified xsi:type="dcterms:W3CDTF">2026-05-11T08:58:27Z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y fmtid="{D5CDD505-2E9C-101B-9397-08002B2CF9AE}" pid="3" name="MSIP_Label_8772ba27-cab8-4042-a351-a31f6e4eacdc_Enabled">
    <vt:lpwstr>true</vt:lpwstr>
  </property>
  <property fmtid="{D5CDD505-2E9C-101B-9397-08002B2CF9AE}" pid="4" name="MSIP_Label_8772ba27-cab8-4042-a351-a31f6e4eacdc_SetDate">
    <vt:lpwstr>2026-05-11T08:58:26Z</vt:lpwstr>
  </property>
  <property fmtid="{D5CDD505-2E9C-101B-9397-08002B2CF9AE}" pid="5" name="MSIP_Label_8772ba27-cab8-4042-a351-a31f6e4eacdc_Method">
    <vt:lpwstr>Standard</vt:lpwstr>
  </property>
  <property fmtid="{D5CDD505-2E9C-101B-9397-08002B2CF9AE}" pid="6" name="MSIP_Label_8772ba27-cab8-4042-a351-a31f6e4eacdc_Name">
    <vt:lpwstr>Internal</vt:lpwstr>
  </property>
  <property fmtid="{D5CDD505-2E9C-101B-9397-08002B2CF9AE}" pid="7" name="MSIP_Label_8772ba27-cab8-4042-a351-a31f6e4eacdc_SiteId">
    <vt:lpwstr>715902d6-f63e-4b8d-929b-4bb170bad492</vt:lpwstr>
  </property>
  <property fmtid="{D5CDD505-2E9C-101B-9397-08002B2CF9AE}" pid="8" name="MSIP_Label_8772ba27-cab8-4042-a351-a31f6e4eacdc_ActionId">
    <vt:lpwstr>1fb13240-6070-4ac6-af15-3c7031176c34</vt:lpwstr>
  </property>
  <property fmtid="{D5CDD505-2E9C-101B-9397-08002B2CF9AE}" pid="9" name="MSIP_Label_8772ba27-cab8-4042-a351-a31f6e4eacdc_ContentBits">
    <vt:lpwstr>0</vt:lpwstr>
  </property>
  <property fmtid="{D5CDD505-2E9C-101B-9397-08002B2CF9AE}" pid="10" name="MSIP_Label_8772ba27-cab8-4042-a351-a31f6e4eacdc_Tag">
    <vt:lpwstr>10, 3, 0, 2</vt:lpwstr>
  </property>
  <property fmtid="{D5CDD505-2E9C-101B-9397-08002B2CF9AE}" pid="11" name="MediaServiceImageTags">
    <vt:lpwstr/>
  </property>
</Properties>
</file>