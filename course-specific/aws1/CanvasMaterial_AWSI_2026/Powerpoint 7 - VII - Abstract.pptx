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7" r:id="rId2"/>
    <p:sldId id="386" r:id="rId3"/>
    <p:sldId id="387" r:id="rId4"/>
    <p:sldId id="383" r:id="rId5"/>
    <p:sldId id="368" r:id="rId6"/>
    <p:sldId id="369" r:id="rId7"/>
    <p:sldId id="370" r:id="rId8"/>
    <p:sldId id="371" r:id="rId9"/>
    <p:sldId id="367" r:id="rId10"/>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0857" autoAdjust="0"/>
  </p:normalViewPr>
  <p:slideViewPr>
    <p:cSldViewPr snapToGrid="0">
      <p:cViewPr varScale="1">
        <p:scale>
          <a:sx n="32" d="100"/>
          <a:sy n="32" d="100"/>
        </p:scale>
        <p:origin x="1526"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5EAA1-4D94-4909-8D13-C95D993D0C3A}" type="datetimeFigureOut">
              <a:rPr lang="en-GB" smtClean="0"/>
              <a:t>05/06/2022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7FCA66-38BA-45DA-B70F-90627370B99E}" type="slidenum">
              <a:rPr lang="en-GB" smtClean="0"/>
              <a:t>‹#›</a:t>
            </a:fld>
            <a:endParaRPr lang="en-GB"/>
          </a:p>
        </p:txBody>
      </p:sp>
    </p:spTree>
    <p:extLst>
      <p:ext uri="{BB962C8B-B14F-4D97-AF65-F5344CB8AC3E}">
        <p14:creationId xmlns:p14="http://schemas.microsoft.com/office/powerpoint/2010/main" val="1724491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57188" y="1241425"/>
            <a:ext cx="5954712" cy="334962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82BB00A-71ED-40C6-A1CF-164C43AE5CE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10395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dirty="0"/>
              <a:t>The summary should briefly list the content of your report.  </a:t>
            </a:r>
            <a:endParaRPr lang="en-GB"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44EAC61-8860-449B-8DA7-9B5255F5AA39}"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43168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44EAC61-8860-449B-8DA7-9B5255F5AA39}"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48320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44EAC61-8860-449B-8DA7-9B5255F5AA39}"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67223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600" dirty="0"/>
              <a:t>This is an example of a part of a summary. Could this summary be shortened? If so, how? </a:t>
            </a:r>
            <a:endParaRPr lang="en-GB" sz="1600" dirty="0"/>
          </a:p>
        </p:txBody>
      </p:sp>
      <p:sp>
        <p:nvSpPr>
          <p:cNvPr id="4" name="Tijdelijke aanduiding voor dianummer 3"/>
          <p:cNvSpPr>
            <a:spLocks noGrp="1"/>
          </p:cNvSpPr>
          <p:nvPr>
            <p:ph type="sldNum" sz="quarter" idx="10"/>
          </p:nvPr>
        </p:nvSpPr>
        <p:spPr/>
        <p:txBody>
          <a:bodyPr/>
          <a:lstStyle/>
          <a:p>
            <a:fld id="{044EAC61-8860-449B-8DA7-9B5255F5AA39}" type="slidenum">
              <a:rPr lang="nl-NL" smtClean="0">
                <a:solidFill>
                  <a:prstClr val="black"/>
                </a:solidFill>
              </a:rPr>
              <a:pPr/>
              <a:t>5</a:t>
            </a:fld>
            <a:endParaRPr lang="en-GB">
              <a:solidFill>
                <a:prstClr val="black"/>
              </a:solidFill>
            </a:endParaRPr>
          </a:p>
        </p:txBody>
      </p:sp>
    </p:spTree>
    <p:extLst>
      <p:ext uri="{BB962C8B-B14F-4D97-AF65-F5344CB8AC3E}">
        <p14:creationId xmlns:p14="http://schemas.microsoft.com/office/powerpoint/2010/main" val="4173782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600" dirty="0"/>
              <a:t>This is an example of how to shorten a summary. Some of the superfluous words and terminology have been left out and some of the sentences have been rephrased. This now leaves 47 words instead of the original 68, without affecting content. </a:t>
            </a:r>
          </a:p>
          <a:p>
            <a:endParaRPr lang="en-GB" sz="1600" baseline="0" dirty="0"/>
          </a:p>
          <a:p>
            <a:r>
              <a:rPr lang="nl-NL" sz="1600" baseline="0" dirty="0" err="1"/>
              <a:t>This</a:t>
            </a:r>
            <a:r>
              <a:rPr lang="nl-NL" sz="1600" baseline="0" dirty="0"/>
              <a:t> example clearly outlines the subject (i.e. internet addiction and social behaviour), the question (the effect of internet addiction on social behaviour), the conclusion/main findings (internet addiction has a negative affect on social behaviour, shown e.g. by the detrimental effect on existing relations).</a:t>
            </a:r>
            <a:endParaRPr lang="en-GB" sz="1600" dirty="0"/>
          </a:p>
        </p:txBody>
      </p:sp>
      <p:sp>
        <p:nvSpPr>
          <p:cNvPr id="4" name="Tijdelijke aanduiding voor dianummer 3"/>
          <p:cNvSpPr>
            <a:spLocks noGrp="1"/>
          </p:cNvSpPr>
          <p:nvPr>
            <p:ph type="sldNum" sz="quarter" idx="10"/>
          </p:nvPr>
        </p:nvSpPr>
        <p:spPr/>
        <p:txBody>
          <a:bodyPr/>
          <a:lstStyle/>
          <a:p>
            <a:fld id="{044EAC61-8860-449B-8DA7-9B5255F5AA39}" type="slidenum">
              <a:rPr lang="nl-NL" smtClean="0">
                <a:solidFill>
                  <a:prstClr val="black"/>
                </a:solidFill>
              </a:rPr>
              <a:pPr/>
              <a:t>6</a:t>
            </a:fld>
            <a:endParaRPr lang="en-GB">
              <a:solidFill>
                <a:prstClr val="black"/>
              </a:solidFill>
            </a:endParaRPr>
          </a:p>
        </p:txBody>
      </p:sp>
    </p:spTree>
    <p:extLst>
      <p:ext uri="{BB962C8B-B14F-4D97-AF65-F5344CB8AC3E}">
        <p14:creationId xmlns:p14="http://schemas.microsoft.com/office/powerpoint/2010/main" val="19416201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Have a look at</a:t>
            </a:r>
            <a:r>
              <a:rPr dirty="0"/>
              <a:t> this example. What is wrong with it? </a:t>
            </a:r>
            <a:endParaRPr lang="en-GB" dirty="0"/>
          </a:p>
        </p:txBody>
      </p:sp>
      <p:sp>
        <p:nvSpPr>
          <p:cNvPr id="4" name="Slide Number Placeholder 3"/>
          <p:cNvSpPr>
            <a:spLocks noGrp="1"/>
          </p:cNvSpPr>
          <p:nvPr>
            <p:ph type="sldNum" sz="quarter" idx="10"/>
          </p:nvPr>
        </p:nvSpPr>
        <p:spPr/>
        <p:txBody>
          <a:bodyPr/>
          <a:lstStyle/>
          <a:p>
            <a:fld id="{044EAC61-8860-449B-8DA7-9B5255F5AA39}" type="slidenum">
              <a:rPr lang="nl-NL"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2020155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044EAC61-8860-449B-8DA7-9B5255F5AA39}" type="slidenum">
              <a:rPr lang="nl-NL"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1981704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lvl1pPr defTabSz="920750" eaLnBrk="0" hangingPunct="0">
              <a:defRPr sz="4800" b="1" i="1">
                <a:solidFill>
                  <a:srgbClr val="FFD200"/>
                </a:solidFill>
                <a:latin typeface="Times New Roman" pitchFamily="18" charset="0"/>
              </a:defRPr>
            </a:lvl1pPr>
            <a:lvl2pPr marL="742950" indent="-285750" defTabSz="920750" eaLnBrk="0" hangingPunct="0">
              <a:defRPr sz="4800" b="1" i="1">
                <a:solidFill>
                  <a:srgbClr val="FFD200"/>
                </a:solidFill>
                <a:latin typeface="Times New Roman" pitchFamily="18" charset="0"/>
              </a:defRPr>
            </a:lvl2pPr>
            <a:lvl3pPr marL="1143000" indent="-228600" defTabSz="920750" eaLnBrk="0" hangingPunct="0">
              <a:defRPr sz="4800" b="1" i="1">
                <a:solidFill>
                  <a:srgbClr val="FFD200"/>
                </a:solidFill>
                <a:latin typeface="Times New Roman" pitchFamily="18" charset="0"/>
              </a:defRPr>
            </a:lvl3pPr>
            <a:lvl4pPr marL="1600200" indent="-228600" defTabSz="920750" eaLnBrk="0" hangingPunct="0">
              <a:defRPr sz="4800" b="1" i="1">
                <a:solidFill>
                  <a:srgbClr val="FFD200"/>
                </a:solidFill>
                <a:latin typeface="Times New Roman" pitchFamily="18" charset="0"/>
              </a:defRPr>
            </a:lvl4pPr>
            <a:lvl5pPr marL="2057400" indent="-228600" defTabSz="920750" eaLnBrk="0" hangingPunct="0">
              <a:defRPr sz="4800" b="1" i="1">
                <a:solidFill>
                  <a:srgbClr val="FFD200"/>
                </a:solidFill>
                <a:latin typeface="Times New Roman" pitchFamily="18" charset="0"/>
              </a:defRPr>
            </a:lvl5pPr>
            <a:lvl6pPr marL="2514600" indent="-228600" defTabSz="920750" eaLnBrk="0" fontAlgn="base" hangingPunct="0">
              <a:spcBef>
                <a:spcPct val="0"/>
              </a:spcBef>
              <a:spcAft>
                <a:spcPct val="0"/>
              </a:spcAft>
              <a:defRPr sz="4800" b="1" i="1">
                <a:solidFill>
                  <a:srgbClr val="FFD200"/>
                </a:solidFill>
                <a:latin typeface="Times New Roman" pitchFamily="18" charset="0"/>
              </a:defRPr>
            </a:lvl6pPr>
            <a:lvl7pPr marL="2971800" indent="-228600" defTabSz="920750" eaLnBrk="0" fontAlgn="base" hangingPunct="0">
              <a:spcBef>
                <a:spcPct val="0"/>
              </a:spcBef>
              <a:spcAft>
                <a:spcPct val="0"/>
              </a:spcAft>
              <a:defRPr sz="4800" b="1" i="1">
                <a:solidFill>
                  <a:srgbClr val="FFD200"/>
                </a:solidFill>
                <a:latin typeface="Times New Roman" pitchFamily="18" charset="0"/>
              </a:defRPr>
            </a:lvl7pPr>
            <a:lvl8pPr marL="3429000" indent="-228600" defTabSz="920750" eaLnBrk="0" fontAlgn="base" hangingPunct="0">
              <a:spcBef>
                <a:spcPct val="0"/>
              </a:spcBef>
              <a:spcAft>
                <a:spcPct val="0"/>
              </a:spcAft>
              <a:defRPr sz="4800" b="1" i="1">
                <a:solidFill>
                  <a:srgbClr val="FFD200"/>
                </a:solidFill>
                <a:latin typeface="Times New Roman" pitchFamily="18" charset="0"/>
              </a:defRPr>
            </a:lvl8pPr>
            <a:lvl9pPr marL="3886200" indent="-228600" defTabSz="920750" eaLnBrk="0" fontAlgn="base" hangingPunct="0">
              <a:spcBef>
                <a:spcPct val="0"/>
              </a:spcBef>
              <a:spcAft>
                <a:spcPct val="0"/>
              </a:spcAft>
              <a:defRPr sz="4800" b="1" i="1">
                <a:solidFill>
                  <a:srgbClr val="FFD200"/>
                </a:solidFill>
                <a:latin typeface="Times New Roman" pitchFamily="18" charset="0"/>
              </a:defRPr>
            </a:lvl9pPr>
          </a:lstStyle>
          <a:p>
            <a:pPr marL="0" marR="0" lvl="0" indent="0" algn="r" defTabSz="920750" rtl="0" eaLnBrk="1" fontAlgn="auto" latinLnBrk="0" hangingPunct="1">
              <a:lnSpc>
                <a:spcPct val="100000"/>
              </a:lnSpc>
              <a:spcBef>
                <a:spcPts val="0"/>
              </a:spcBef>
              <a:spcAft>
                <a:spcPts val="0"/>
              </a:spcAft>
              <a:buClrTx/>
              <a:buSzTx/>
              <a:buFontTx/>
              <a:buNone/>
              <a:tabLst/>
              <a:defRPr/>
            </a:pPr>
            <a:fld id="{D709AB19-C70B-461D-B7DF-8B419B09FE6D}" type="slidenum">
              <a:rPr kumimoji="0" lang="nl-NL" altLang="nl-NL" sz="1200" b="0" i="0" u="none" strike="noStrike" kern="1200" cap="none" spc="0" normalizeH="0" baseline="0" noProof="0">
                <a:ln>
                  <a:noFill/>
                </a:ln>
                <a:solidFill>
                  <a:prstClr val="black"/>
                </a:solidFill>
                <a:effectLst/>
                <a:uLnTx/>
                <a:uFillTx/>
                <a:latin typeface="Times New Roman" pitchFamily="18" charset="0"/>
                <a:ea typeface="+mn-ea"/>
                <a:cs typeface="+mn-cs"/>
              </a:rPr>
              <a:pPr marL="0" marR="0" lvl="0" indent="0" algn="r" defTabSz="920750" rtl="0" eaLnBrk="1" fontAlgn="auto" latinLnBrk="0" hangingPunct="1">
                <a:lnSpc>
                  <a:spcPct val="100000"/>
                </a:lnSpc>
                <a:spcBef>
                  <a:spcPts val="0"/>
                </a:spcBef>
                <a:spcAft>
                  <a:spcPts val="0"/>
                </a:spcAft>
                <a:buClrTx/>
                <a:buSzTx/>
                <a:buFontTx/>
                <a:buNone/>
                <a:tabLst/>
                <a:defRPr/>
              </a:pPr>
              <a:t>9</a:t>
            </a:fld>
            <a:endParaRPr kumimoji="0" lang="en-GB" altLang="nl-NL"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p:spPr>
        <p:txBody>
          <a:bodyPr/>
          <a:lstStyle/>
          <a:p>
            <a:pPr eaLnBrk="1" hangingPunct="1"/>
            <a:endParaRPr lang="nl-NL" altLang="nl-NL" dirty="0"/>
          </a:p>
        </p:txBody>
      </p:sp>
    </p:spTree>
    <p:extLst>
      <p:ext uri="{BB962C8B-B14F-4D97-AF65-F5344CB8AC3E}">
        <p14:creationId xmlns:p14="http://schemas.microsoft.com/office/powerpoint/2010/main" val="42452566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55369" y="1763795"/>
            <a:ext cx="7921367" cy="1968000"/>
          </a:xfrm>
        </p:spPr>
        <p:txBody>
          <a:bodyPr/>
          <a:lstStyle>
            <a:lvl1pPr>
              <a:lnSpc>
                <a:spcPts val="7466"/>
              </a:lnSpc>
              <a:defRPr sz="8533" baseline="0">
                <a:solidFill>
                  <a:schemeClr val="bg1"/>
                </a:solidFill>
              </a:defRPr>
            </a:lvl1pPr>
          </a:lstStyle>
          <a:p>
            <a:r>
              <a:rPr lang="nl-NL" dirty="0"/>
              <a:t>Titel </a:t>
            </a:r>
            <a:br>
              <a:rPr lang="nl-NL" dirty="0"/>
            </a:br>
            <a:r>
              <a:rPr lang="nl-NL" dirty="0"/>
              <a:t>bewerken</a:t>
            </a:r>
          </a:p>
        </p:txBody>
      </p:sp>
      <p:sp>
        <p:nvSpPr>
          <p:cNvPr id="3" name="Subtitel 2"/>
          <p:cNvSpPr>
            <a:spLocks noGrp="1"/>
          </p:cNvSpPr>
          <p:nvPr>
            <p:ph type="subTitle" idx="1" hasCustomPrompt="1"/>
          </p:nvPr>
        </p:nvSpPr>
        <p:spPr>
          <a:xfrm>
            <a:off x="655369" y="3731795"/>
            <a:ext cx="7921367" cy="1080000"/>
          </a:xfrm>
        </p:spPr>
        <p:txBody>
          <a:bodyPr/>
          <a:lstStyle>
            <a:lvl1pPr marL="0" indent="0" algn="l">
              <a:buNone/>
              <a:defRPr b="0" i="0">
                <a:solidFill>
                  <a:srgbClr val="FFFFFF"/>
                </a:solidFill>
                <a:latin typeface="Museo Sans 100"/>
                <a:cs typeface="Museo Sans 10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Subtitel bewerken</a:t>
            </a:r>
          </a:p>
        </p:txBody>
      </p:sp>
    </p:spTree>
    <p:extLst>
      <p:ext uri="{BB962C8B-B14F-4D97-AF65-F5344CB8AC3E}">
        <p14:creationId xmlns:p14="http://schemas.microsoft.com/office/powerpoint/2010/main" val="3915440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 Afbeeld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55369" y="528000"/>
            <a:ext cx="6498967" cy="1968000"/>
          </a:xfrm>
        </p:spPr>
        <p:txBody>
          <a:bodyPr/>
          <a:lstStyle>
            <a:lvl1pPr>
              <a:lnSpc>
                <a:spcPts val="7466"/>
              </a:lnSpc>
              <a:defRPr sz="8533" baseline="0">
                <a:solidFill>
                  <a:schemeClr val="bg1"/>
                </a:solidFill>
              </a:defRPr>
            </a:lvl1pPr>
          </a:lstStyle>
          <a:p>
            <a:r>
              <a:rPr lang="nl-NL" dirty="0"/>
              <a:t>Titel  bewerken</a:t>
            </a:r>
          </a:p>
        </p:txBody>
      </p:sp>
      <p:sp>
        <p:nvSpPr>
          <p:cNvPr id="3" name="Subtitel 2"/>
          <p:cNvSpPr>
            <a:spLocks noGrp="1"/>
          </p:cNvSpPr>
          <p:nvPr>
            <p:ph type="subTitle" idx="1" hasCustomPrompt="1"/>
          </p:nvPr>
        </p:nvSpPr>
        <p:spPr>
          <a:xfrm>
            <a:off x="655369" y="2496000"/>
            <a:ext cx="6498967" cy="1440000"/>
          </a:xfrm>
        </p:spPr>
        <p:txBody>
          <a:bodyPr/>
          <a:lstStyle>
            <a:lvl1pPr marL="0" indent="0" algn="l">
              <a:buNone/>
              <a:defRPr b="0" i="0">
                <a:solidFill>
                  <a:srgbClr val="FFFFFF"/>
                </a:solidFill>
                <a:latin typeface="Museo Sans 100"/>
                <a:cs typeface="Museo Sans 10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Plaats een foto en zet die op de </a:t>
            </a:r>
            <a:br>
              <a:rPr lang="nl-NL" dirty="0"/>
            </a:br>
            <a:r>
              <a:rPr lang="nl-NL" dirty="0"/>
              <a:t>achtergrond met rechtermuisknop</a:t>
            </a:r>
            <a:br>
              <a:rPr lang="nl-NL" dirty="0"/>
            </a:br>
            <a:r>
              <a:rPr lang="nl-NL" dirty="0"/>
              <a:t>&gt; </a:t>
            </a:r>
            <a:r>
              <a:rPr lang="nl-NL" dirty="0" err="1"/>
              <a:t>send</a:t>
            </a:r>
            <a:r>
              <a:rPr lang="nl-NL" dirty="0"/>
              <a:t> to back</a:t>
            </a:r>
          </a:p>
        </p:txBody>
      </p:sp>
    </p:spTree>
    <p:extLst>
      <p:ext uri="{BB962C8B-B14F-4D97-AF65-F5344CB8AC3E}">
        <p14:creationId xmlns:p14="http://schemas.microsoft.com/office/powerpoint/2010/main" val="315283683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7" y="528000"/>
            <a:ext cx="10896000" cy="768000"/>
          </a:xfrm>
        </p:spPr>
        <p:txBody>
          <a:bodyPr/>
          <a:lstStyle>
            <a:lvl1pPr>
              <a:defRPr>
                <a:solidFill>
                  <a:srgbClr val="FF9E00"/>
                </a:solidFill>
              </a:defRPr>
            </a:lvl1pPr>
          </a:lstStyle>
          <a:p>
            <a:r>
              <a:rPr lang="nl-NL" dirty="0"/>
              <a:t>Titel bewerken</a:t>
            </a:r>
            <a:br>
              <a:rPr lang="nl-NL" dirty="0"/>
            </a:br>
            <a:endParaRPr lang="nl-NL" dirty="0"/>
          </a:p>
        </p:txBody>
      </p:sp>
      <p:sp>
        <p:nvSpPr>
          <p:cNvPr id="3" name="Tijdelijke aanduiding voor inhoud 2"/>
          <p:cNvSpPr>
            <a:spLocks noGrp="1"/>
          </p:cNvSpPr>
          <p:nvPr>
            <p:ph idx="1" hasCustomPrompt="1"/>
          </p:nvPr>
        </p:nvSpPr>
        <p:spPr/>
        <p:txBody>
          <a:bodyPr/>
          <a:lstStyle>
            <a:lvl1pPr>
              <a:defRPr baseline="0"/>
            </a:lvl1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5-6-2022</a:t>
            </a:fld>
            <a:endParaRPr lang="nl-NL"/>
          </a:p>
        </p:txBody>
      </p:sp>
      <p:sp>
        <p:nvSpPr>
          <p:cNvPr id="5" name="Tijdelijke aanduiding voor voettekst 4"/>
          <p:cNvSpPr>
            <a:spLocks noGrp="1"/>
          </p:cNvSpPr>
          <p:nvPr>
            <p:ph type="ftr" sz="quarter" idx="11"/>
          </p:nvPr>
        </p:nvSpPr>
        <p:spPr/>
        <p:txBody>
          <a:bodyPr/>
          <a:lstStyle>
            <a:lvl1pPr>
              <a:defRPr>
                <a:solidFill>
                  <a:schemeClr val="accent5"/>
                </a:solidFill>
              </a:defRPr>
            </a:lvl1pPr>
          </a:lstStyle>
          <a:p>
            <a:endParaRPr lang="nl-NL"/>
          </a:p>
        </p:txBody>
      </p:sp>
      <p:sp>
        <p:nvSpPr>
          <p:cNvPr id="6" name="Tijdelijke aanduiding voor dianummer 5"/>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751233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en object 2">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inhoud 2"/>
          <p:cNvSpPr>
            <a:spLocks noGrp="1"/>
          </p:cNvSpPr>
          <p:nvPr>
            <p:ph idx="1" hasCustomPrompt="1"/>
          </p:nvPr>
        </p:nvSpPr>
        <p:spPr/>
        <p:txBody>
          <a:bodyPr/>
          <a:lstStyle>
            <a:lvl1pPr marL="0" indent="0">
              <a:buFontTx/>
              <a:buNone/>
              <a:defRPr/>
            </a:lvl1pPr>
            <a:lvl2pPr marL="0" indent="0">
              <a:buFontTx/>
              <a:buNone/>
              <a:defRPr/>
            </a:lvl2pPr>
            <a:lvl3pPr marL="0" indent="0">
              <a:buFontTx/>
              <a:buNone/>
              <a:defRPr/>
            </a:lvl3pPr>
            <a:lvl4pPr marL="0" indent="0">
              <a:buFontTx/>
              <a:buNone/>
              <a:defRPr/>
            </a:lvl4pPr>
            <a:lvl5pPr marL="0" indent="0">
              <a:buFontTx/>
              <a:buNone/>
              <a:defRPr baseline="0"/>
            </a:lvl5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5-6-2022</a:t>
            </a:fld>
            <a:endParaRPr lang="nl-NL"/>
          </a:p>
        </p:txBody>
      </p:sp>
      <p:sp>
        <p:nvSpPr>
          <p:cNvPr id="5" name="Tijdelijke aanduiding voor voettekst 4"/>
          <p:cNvSpPr>
            <a:spLocks noGrp="1"/>
          </p:cNvSpPr>
          <p:nvPr>
            <p:ph type="ftr" sz="quarter" idx="11"/>
          </p:nvPr>
        </p:nvSpPr>
        <p:spPr/>
        <p:txBody>
          <a:bodyPr/>
          <a:lstStyle>
            <a:lvl1pPr>
              <a:defRPr>
                <a:solidFill>
                  <a:schemeClr val="accent5"/>
                </a:solidFill>
              </a:defRPr>
            </a:lvl1pPr>
          </a:lstStyle>
          <a:p>
            <a:endParaRPr lang="nl-NL"/>
          </a:p>
        </p:txBody>
      </p:sp>
      <p:sp>
        <p:nvSpPr>
          <p:cNvPr id="6" name="Tijdelijke aanduiding voor dianummer 5"/>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150019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ee objecte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inhoud 2"/>
          <p:cNvSpPr>
            <a:spLocks noGrp="1"/>
          </p:cNvSpPr>
          <p:nvPr>
            <p:ph sz="half" idx="1" hasCustomPrompt="1"/>
          </p:nvPr>
        </p:nvSpPr>
        <p:spPr>
          <a:xfrm>
            <a:off x="657600" y="1296000"/>
            <a:ext cx="5352000" cy="4464000"/>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inhoud 3"/>
          <p:cNvSpPr>
            <a:spLocks noGrp="1"/>
          </p:cNvSpPr>
          <p:nvPr>
            <p:ph sz="half" idx="2" hasCustomPrompt="1"/>
          </p:nvPr>
        </p:nvSpPr>
        <p:spPr>
          <a:xfrm>
            <a:off x="6197602" y="1295999"/>
            <a:ext cx="5353767" cy="4464000"/>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5-6-2022</a:t>
            </a:fld>
            <a:endParaRPr lang="nl-NL"/>
          </a:p>
        </p:txBody>
      </p:sp>
      <p:sp>
        <p:nvSpPr>
          <p:cNvPr id="6" name="Tijdelijke aanduiding voor voettekst 5"/>
          <p:cNvSpPr>
            <a:spLocks noGrp="1"/>
          </p:cNvSpPr>
          <p:nvPr>
            <p:ph type="ftr" sz="quarter" idx="11"/>
          </p:nvPr>
        </p:nvSpPr>
        <p:spPr/>
        <p:txBody>
          <a:bodyPr/>
          <a:lstStyle>
            <a:lvl1pPr>
              <a:defRPr>
                <a:solidFill>
                  <a:schemeClr val="accent5"/>
                </a:solidFill>
              </a:defRPr>
            </a:lvl1pPr>
          </a:lstStyle>
          <a:p>
            <a:endParaRPr lang="nl-NL"/>
          </a:p>
        </p:txBody>
      </p:sp>
      <p:sp>
        <p:nvSpPr>
          <p:cNvPr id="7" name="Tijdelijke aanduiding voor dianummer 6"/>
          <p:cNvSpPr>
            <a:spLocks noGrp="1"/>
          </p:cNvSpPr>
          <p:nvPr>
            <p:ph type="sldNum" sz="quarter" idx="12"/>
          </p:nvPr>
        </p:nvSpPr>
        <p:spPr>
          <a:xfrm>
            <a:off x="655367" y="6217571"/>
            <a:ext cx="432000" cy="240380"/>
          </a:xfrm>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792471755"/>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elijk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7600" y="1296000"/>
            <a:ext cx="5330565"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5" name="Tijdelijke aanduiding voor tekst 4"/>
          <p:cNvSpPr>
            <a:spLocks noGrp="1"/>
          </p:cNvSpPr>
          <p:nvPr>
            <p:ph type="body" sz="quarter" idx="3" hasCustomPrompt="1"/>
          </p:nvPr>
        </p:nvSpPr>
        <p:spPr>
          <a:xfrm>
            <a:off x="6193368" y="1296000"/>
            <a:ext cx="5352000"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6" name="Tijdelijke aanduiding voor inhoud 5"/>
          <p:cNvSpPr>
            <a:spLocks noGrp="1"/>
          </p:cNvSpPr>
          <p:nvPr>
            <p:ph sz="quarter" idx="4" hasCustomPrompt="1"/>
          </p:nvPr>
        </p:nvSpPr>
        <p:spPr>
          <a:xfrm>
            <a:off x="6193367" y="1728000"/>
            <a:ext cx="53520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5-6-2022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515880493"/>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kst en afbeeld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9" y="528000"/>
            <a:ext cx="5332799" cy="768000"/>
          </a:xfrm>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7600" y="1296000"/>
            <a:ext cx="5330565"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5-6-2022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6191999" y="528000"/>
            <a:ext cx="5352000" cy="5088000"/>
          </a:xfrm>
          <a:solidFill>
            <a:schemeClr val="bg1">
              <a:lumMod val="85000"/>
            </a:schemeClr>
          </a:solidFill>
        </p:spPr>
        <p:txBody>
          <a:bodyPr tIns="180000"/>
          <a:lstStyle>
            <a:lvl1pPr marL="0" indent="0" algn="ctr">
              <a:buNone/>
              <a:defRPr sz="2133" baseline="0">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Tree>
    <p:extLst>
      <p:ext uri="{BB962C8B-B14F-4D97-AF65-F5344CB8AC3E}">
        <p14:creationId xmlns:p14="http://schemas.microsoft.com/office/powerpoint/2010/main" val="71451630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en 2 afbeeldinge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9" y="528000"/>
            <a:ext cx="5332799" cy="768000"/>
          </a:xfrm>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5365" y="1296000"/>
            <a:ext cx="5332800" cy="432000"/>
          </a:xfrm>
        </p:spPr>
        <p:txBody>
          <a:bodyPr anchor="t" anchorCtr="0"/>
          <a:lstStyle>
            <a:lvl1pPr marL="0" indent="0">
              <a:buNone/>
              <a:defRPr sz="2400" b="0" i="0">
                <a:solidFill>
                  <a:schemeClr val="tx1"/>
                </a:solidFill>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5-6-2022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6191999" y="528000"/>
            <a:ext cx="5352000" cy="2448000"/>
          </a:xfrm>
          <a:solidFill>
            <a:schemeClr val="bg1">
              <a:lumMod val="85000"/>
            </a:schemeClr>
          </a:solidFill>
        </p:spPr>
        <p:txBody>
          <a:bodyPr tIns="180000"/>
          <a:lstStyle>
            <a:lvl1pPr marL="0" indent="0" algn="ctr">
              <a:buNone/>
              <a:defRPr sz="2133" baseline="0">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a:p>
            <a:endParaRPr lang="nl-NL"/>
          </a:p>
        </p:txBody>
      </p:sp>
      <p:sp>
        <p:nvSpPr>
          <p:cNvPr id="11" name="Tijdelijke aanduiding voor afbeelding 2"/>
          <p:cNvSpPr>
            <a:spLocks noGrp="1"/>
          </p:cNvSpPr>
          <p:nvPr>
            <p:ph type="pic" idx="14" hasCustomPrompt="1"/>
          </p:nvPr>
        </p:nvSpPr>
        <p:spPr>
          <a:xfrm>
            <a:off x="6191999" y="3168000"/>
            <a:ext cx="5352000" cy="2448000"/>
          </a:xfrm>
          <a:solidFill>
            <a:schemeClr val="bg1">
              <a:lumMod val="85000"/>
            </a:schemeClr>
          </a:solidFill>
        </p:spPr>
        <p:txBody>
          <a:bodyPr tIns="180000"/>
          <a:lstStyle>
            <a:lvl1pPr marL="0" indent="0" algn="ctr">
              <a:buNone/>
              <a:defRPr sz="2133">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Tree>
    <p:extLst>
      <p:ext uri="{BB962C8B-B14F-4D97-AF65-F5344CB8AC3E}">
        <p14:creationId xmlns:p14="http://schemas.microsoft.com/office/powerpoint/2010/main" val="1729564778"/>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datum 2"/>
          <p:cNvSpPr>
            <a:spLocks noGrp="1"/>
          </p:cNvSpPr>
          <p:nvPr>
            <p:ph type="dt" sz="half" idx="10"/>
          </p:nvPr>
        </p:nvSpPr>
        <p:spPr/>
        <p:txBody>
          <a:bodyPr/>
          <a:lstStyle/>
          <a:p>
            <a:fld id="{F10973AC-957D-C346-BA56-D82065FA2AEB}" type="datetimeFigureOut">
              <a:rPr lang="nl-NL" smtClean="0"/>
              <a:pPr/>
              <a:t>5-6-2022</a:t>
            </a:fld>
            <a:endParaRPr lang="nl-NL"/>
          </a:p>
        </p:txBody>
      </p:sp>
      <p:sp>
        <p:nvSpPr>
          <p:cNvPr id="4" name="Tijdelijke aanduiding voor voettekst 3"/>
          <p:cNvSpPr>
            <a:spLocks noGrp="1"/>
          </p:cNvSpPr>
          <p:nvPr>
            <p:ph type="ftr" sz="quarter" idx="11"/>
          </p:nvPr>
        </p:nvSpPr>
        <p:spPr/>
        <p:txBody>
          <a:bodyPr/>
          <a:lstStyle>
            <a:lvl1pPr>
              <a:defRPr>
                <a:solidFill>
                  <a:schemeClr val="accent5"/>
                </a:solidFill>
              </a:defRPr>
            </a:lvl1pPr>
          </a:lstStyle>
          <a:p>
            <a:endParaRPr lang="nl-NL"/>
          </a:p>
        </p:txBody>
      </p:sp>
      <p:sp>
        <p:nvSpPr>
          <p:cNvPr id="5" name="Tijdelijke aanduiding voor dianummer 4"/>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619322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F10973AC-957D-C346-BA56-D82065FA2AEB}" type="datetimeFigureOut">
              <a:rPr lang="nl-NL" smtClean="0"/>
              <a:pPr/>
              <a:t>5-6-2022</a:t>
            </a:fld>
            <a:endParaRPr lang="nl-NL"/>
          </a:p>
        </p:txBody>
      </p:sp>
      <p:sp>
        <p:nvSpPr>
          <p:cNvPr id="3" name="Tijdelijke aanduiding voor voettekst 2"/>
          <p:cNvSpPr>
            <a:spLocks noGrp="1"/>
          </p:cNvSpPr>
          <p:nvPr>
            <p:ph type="ftr" sz="quarter" idx="11"/>
          </p:nvPr>
        </p:nvSpPr>
        <p:spPr/>
        <p:txBody>
          <a:bodyPr/>
          <a:lstStyle>
            <a:lvl1pPr>
              <a:defRPr>
                <a:solidFill>
                  <a:schemeClr val="accent5"/>
                </a:solidFill>
              </a:defRPr>
            </a:lvl1pPr>
          </a:lstStyle>
          <a:p>
            <a:endParaRPr lang="nl-NL"/>
          </a:p>
        </p:txBody>
      </p:sp>
      <p:sp>
        <p:nvSpPr>
          <p:cNvPr id="4" name="Tijdelijke aanduiding voor dianummer 3"/>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218516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fbeelding met bijschrift">
    <p:bg>
      <p:bgRef idx="1001">
        <a:schemeClr val="bg1"/>
      </p:bgRef>
    </p:bg>
    <p:spTree>
      <p:nvGrpSpPr>
        <p:cNvPr id="1" name=""/>
        <p:cNvGrpSpPr/>
        <p:nvPr/>
      </p:nvGrpSpPr>
      <p:grpSpPr>
        <a:xfrm>
          <a:off x="0" y="0"/>
          <a:ext cx="0" cy="0"/>
          <a:chOff x="0" y="0"/>
          <a:chExt cx="0" cy="0"/>
        </a:xfrm>
      </p:grpSpPr>
      <p:sp>
        <p:nvSpPr>
          <p:cNvPr id="3" name="Tijdelijke aanduiding voor afbeelding 2"/>
          <p:cNvSpPr>
            <a:spLocks noGrp="1"/>
          </p:cNvSpPr>
          <p:nvPr>
            <p:ph type="pic" idx="1" hasCustomPrompt="1"/>
          </p:nvPr>
        </p:nvSpPr>
        <p:spPr>
          <a:xfrm>
            <a:off x="655367" y="1056001"/>
            <a:ext cx="10896000" cy="4558151"/>
          </a:xfrm>
          <a:solidFill>
            <a:schemeClr val="bg1">
              <a:lumMod val="85000"/>
            </a:schemeClr>
          </a:solidFill>
        </p:spPr>
        <p:txBody>
          <a:bodyPr tIns="180000"/>
          <a:lstStyle>
            <a:lvl1pPr marL="0" indent="0" algn="ctr">
              <a:buNone/>
              <a:defRPr sz="2133">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
        <p:nvSpPr>
          <p:cNvPr id="2" name="Titel 1"/>
          <p:cNvSpPr>
            <a:spLocks noGrp="1"/>
          </p:cNvSpPr>
          <p:nvPr>
            <p:ph type="title" hasCustomPrompt="1"/>
          </p:nvPr>
        </p:nvSpPr>
        <p:spPr>
          <a:xfrm>
            <a:off x="655367" y="528000"/>
            <a:ext cx="10896000" cy="528000"/>
          </a:xfrm>
        </p:spPr>
        <p:txBody>
          <a:bodyPr anchor="t" anchorCtr="0"/>
          <a:lstStyle>
            <a:lvl1pPr algn="l">
              <a:lnSpc>
                <a:spcPts val="3333"/>
              </a:lnSpc>
              <a:defRPr sz="2667" b="1">
                <a:solidFill>
                  <a:schemeClr val="tx1"/>
                </a:solidFill>
                <a:latin typeface="+mj-lt"/>
              </a:defRPr>
            </a:lvl1pPr>
          </a:lstStyle>
          <a:p>
            <a:r>
              <a:rPr lang="nl-NL" dirty="0"/>
              <a:t>Titel bewerken</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5-6-2022</a:t>
            </a:fld>
            <a:endParaRPr lang="nl-NL"/>
          </a:p>
        </p:txBody>
      </p:sp>
      <p:sp>
        <p:nvSpPr>
          <p:cNvPr id="6" name="Tijdelijke aanduiding voor voettekst 5"/>
          <p:cNvSpPr>
            <a:spLocks noGrp="1"/>
          </p:cNvSpPr>
          <p:nvPr>
            <p:ph type="ftr" sz="quarter" idx="11"/>
          </p:nvPr>
        </p:nvSpPr>
        <p:spPr/>
        <p:txBody>
          <a:bodyPr/>
          <a:lstStyle>
            <a:lvl1pPr>
              <a:defRPr>
                <a:solidFill>
                  <a:schemeClr val="accent5"/>
                </a:solidFill>
              </a:defRPr>
            </a:lvl1pPr>
          </a:lstStyle>
          <a:p>
            <a:endParaRPr lang="nl-NL"/>
          </a:p>
        </p:txBody>
      </p:sp>
      <p:sp>
        <p:nvSpPr>
          <p:cNvPr id="7" name="Tijdelijke aanduiding voor dianummer 6"/>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46716607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Afbeelding 7" descr="EU_Logo_Groen_300.png"/>
          <p:cNvPicPr>
            <a:picLocks noChangeAspect="1"/>
          </p:cNvPicPr>
          <p:nvPr/>
        </p:nvPicPr>
        <p:blipFill>
          <a:blip r:embed="rId13">
            <a:alphaModFix/>
          </a:blip>
          <a:stretch>
            <a:fillRect/>
          </a:stretch>
        </p:blipFill>
        <p:spPr>
          <a:xfrm>
            <a:off x="9744000" y="5731201"/>
            <a:ext cx="1910144" cy="768121"/>
          </a:xfrm>
          <a:prstGeom prst="rect">
            <a:avLst/>
          </a:prstGeom>
        </p:spPr>
      </p:pic>
      <p:sp>
        <p:nvSpPr>
          <p:cNvPr id="2" name="Tijdelijke aanduiding voor titel 1"/>
          <p:cNvSpPr>
            <a:spLocks noGrp="1"/>
          </p:cNvSpPr>
          <p:nvPr>
            <p:ph type="title"/>
          </p:nvPr>
        </p:nvSpPr>
        <p:spPr>
          <a:xfrm>
            <a:off x="655367" y="528000"/>
            <a:ext cx="10896000" cy="768000"/>
          </a:xfrm>
          <a:prstGeom prst="rect">
            <a:avLst/>
          </a:prstGeom>
        </p:spPr>
        <p:txBody>
          <a:bodyPr vert="horz" lIns="0" tIns="0" rIns="0" bIns="0" rtlCol="0" anchor="t" anchorCtr="0">
            <a:noAutofit/>
          </a:bodyPr>
          <a:lstStyle/>
          <a:p>
            <a:r>
              <a:rPr lang="nl-NL" dirty="0"/>
              <a:t>Titel bewerken</a:t>
            </a:r>
          </a:p>
        </p:txBody>
      </p:sp>
      <p:sp>
        <p:nvSpPr>
          <p:cNvPr id="3" name="Tijdelijke aanduiding voor tekst 2"/>
          <p:cNvSpPr>
            <a:spLocks noGrp="1"/>
          </p:cNvSpPr>
          <p:nvPr>
            <p:ph type="body" idx="1"/>
          </p:nvPr>
        </p:nvSpPr>
        <p:spPr>
          <a:xfrm>
            <a:off x="655365" y="1295401"/>
            <a:ext cx="10896000" cy="4464000"/>
          </a:xfrm>
          <a:prstGeom prst="rect">
            <a:avLst/>
          </a:prstGeom>
        </p:spPr>
        <p:txBody>
          <a:bodyPr vert="horz" lIns="0" tIns="0" rIns="0" bIns="0" rtlCol="0" anchor="t" anchorCtr="0">
            <a:noAutofit/>
          </a:body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2"/>
          </p:nvPr>
        </p:nvSpPr>
        <p:spPr>
          <a:xfrm>
            <a:off x="1089600" y="6217571"/>
            <a:ext cx="1008000" cy="240380"/>
          </a:xfrm>
          <a:prstGeom prst="rect">
            <a:avLst/>
          </a:prstGeom>
        </p:spPr>
        <p:txBody>
          <a:bodyPr vert="horz" lIns="0" tIns="0" rIns="0" bIns="0" rtlCol="0" anchor="t" anchorCtr="0">
            <a:noAutofit/>
          </a:bodyPr>
          <a:lstStyle>
            <a:lvl1pPr algn="l">
              <a:defRPr sz="1333">
                <a:solidFill>
                  <a:schemeClr val="tx1"/>
                </a:solidFill>
                <a:latin typeface="Museo Sans 100"/>
                <a:cs typeface="Museo Sans 100"/>
              </a:defRPr>
            </a:lvl1pPr>
          </a:lstStyle>
          <a:p>
            <a:fld id="{F10973AC-957D-C346-BA56-D82065FA2AEB}" type="datetimeFigureOut">
              <a:rPr lang="nl-NL" smtClean="0"/>
              <a:pPr/>
              <a:t>5-6-2022</a:t>
            </a:fld>
            <a:endParaRPr lang="nl-NL"/>
          </a:p>
        </p:txBody>
      </p:sp>
      <p:sp>
        <p:nvSpPr>
          <p:cNvPr id="5" name="Tijdelijke aanduiding voor voettekst 4"/>
          <p:cNvSpPr>
            <a:spLocks noGrp="1"/>
          </p:cNvSpPr>
          <p:nvPr>
            <p:ph type="ftr" sz="quarter" idx="3"/>
          </p:nvPr>
        </p:nvSpPr>
        <p:spPr>
          <a:xfrm>
            <a:off x="2097600" y="6217571"/>
            <a:ext cx="6803893" cy="240380"/>
          </a:xfrm>
          <a:prstGeom prst="rect">
            <a:avLst/>
          </a:prstGeom>
        </p:spPr>
        <p:txBody>
          <a:bodyPr vert="horz" lIns="0" tIns="0" rIns="0" bIns="0" rtlCol="0" anchor="t" anchorCtr="0">
            <a:noAutofit/>
          </a:bodyPr>
          <a:lstStyle>
            <a:lvl1pPr algn="l">
              <a:defRPr sz="1333" b="0" i="0">
                <a:solidFill>
                  <a:schemeClr val="accent5"/>
                </a:solidFill>
                <a:latin typeface="+mn-lt"/>
                <a:cs typeface="Museo Sans 500"/>
              </a:defRPr>
            </a:lvl1pPr>
          </a:lstStyle>
          <a:p>
            <a:endParaRPr lang="nl-NL"/>
          </a:p>
        </p:txBody>
      </p:sp>
      <p:sp>
        <p:nvSpPr>
          <p:cNvPr id="6" name="Tijdelijke aanduiding voor dianummer 5"/>
          <p:cNvSpPr>
            <a:spLocks noGrp="1"/>
          </p:cNvSpPr>
          <p:nvPr>
            <p:ph type="sldNum" sz="quarter" idx="4"/>
          </p:nvPr>
        </p:nvSpPr>
        <p:spPr>
          <a:xfrm>
            <a:off x="655367" y="6217571"/>
            <a:ext cx="432000" cy="240380"/>
          </a:xfrm>
          <a:prstGeom prst="rect">
            <a:avLst/>
          </a:prstGeom>
        </p:spPr>
        <p:txBody>
          <a:bodyPr vert="horz" lIns="0" tIns="0" rIns="0" bIns="0" rtlCol="0" anchor="t" anchorCtr="0">
            <a:noAutofit/>
          </a:bodyPr>
          <a:lstStyle>
            <a:lvl1pPr algn="l">
              <a:defRPr sz="1333" b="0" i="0">
                <a:solidFill>
                  <a:schemeClr val="accent5"/>
                </a:solidFill>
                <a:latin typeface="+mn-lt"/>
                <a:cs typeface="Museo Sans 500"/>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6716616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09585" rtl="0" eaLnBrk="1" latinLnBrk="0" hangingPunct="1">
        <a:lnSpc>
          <a:spcPts val="4267"/>
        </a:lnSpc>
        <a:spcBef>
          <a:spcPct val="0"/>
        </a:spcBef>
        <a:buNone/>
        <a:defRPr sz="3733" b="0" i="0" kern="1200">
          <a:solidFill>
            <a:schemeClr val="accent5"/>
          </a:solidFill>
          <a:latin typeface="+mj-lt"/>
          <a:ea typeface="+mj-ea"/>
          <a:cs typeface="Museo Sans 700"/>
        </a:defRPr>
      </a:lvl1pPr>
    </p:titleStyle>
    <p:bodyStyle>
      <a:lvl1pPr marL="287993"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1pPr>
      <a:lvl2pPr marL="575986"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2pPr>
      <a:lvl3pPr marL="863978"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3pPr>
      <a:lvl4pPr marL="1151971"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4pPr>
      <a:lvl5pPr marL="1439964"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nl-NL" sz="5867" dirty="0"/>
              <a:t>Abstract</a:t>
            </a:r>
          </a:p>
        </p:txBody>
      </p:sp>
      <p:sp>
        <p:nvSpPr>
          <p:cNvPr id="3" name="Subtitel 2"/>
          <p:cNvSpPr>
            <a:spLocks noGrp="1"/>
          </p:cNvSpPr>
          <p:nvPr>
            <p:ph type="subTitle" idx="1"/>
          </p:nvPr>
        </p:nvSpPr>
        <p:spPr>
          <a:xfrm>
            <a:off x="655369" y="3731795"/>
            <a:ext cx="7921367" cy="1818773"/>
          </a:xfrm>
        </p:spPr>
        <p:txBody>
          <a:bodyPr/>
          <a:lstStyle/>
          <a:p>
            <a:endParaRPr lang="nl-NL" sz="3733" dirty="0">
              <a:solidFill>
                <a:schemeClr val="accent6">
                  <a:lumMod val="60000"/>
                  <a:lumOff val="40000"/>
                </a:schemeClr>
              </a:solidFill>
            </a:endParaRPr>
          </a:p>
          <a:p>
            <a:endParaRPr lang="nl-NL" sz="3733" dirty="0">
              <a:solidFill>
                <a:schemeClr val="accent6">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GB" dirty="0"/>
              <a:t>ABSTRACT</a:t>
            </a: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988608" y="1895475"/>
            <a:ext cx="8229600" cy="326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84135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ABSTRACT </a:t>
            </a:r>
            <a:br>
              <a:rPr lang="en-US" dirty="0"/>
            </a:br>
            <a:r>
              <a:rPr lang="en-US" dirty="0"/>
              <a:t>Assessment c</a:t>
            </a:r>
            <a:r>
              <a:rPr dirty="0"/>
              <a:t>riteria</a:t>
            </a:r>
            <a:r>
              <a:rPr lang="en-US" dirty="0"/>
              <a:t> Rubric</a:t>
            </a:r>
            <a:r>
              <a:rPr dirty="0"/>
              <a:t>  </a:t>
            </a:r>
            <a:endParaRPr lang="en-GB" dirty="0"/>
          </a:p>
        </p:txBody>
      </p:sp>
      <p:sp>
        <p:nvSpPr>
          <p:cNvPr id="2" name="Content Placeholder 1"/>
          <p:cNvSpPr>
            <a:spLocks noGrp="1"/>
          </p:cNvSpPr>
          <p:nvPr>
            <p:ph idx="1"/>
          </p:nvPr>
        </p:nvSpPr>
        <p:spPr/>
        <p:txBody>
          <a:bodyPr/>
          <a:lstStyle/>
          <a:p>
            <a:pPr eaLnBrk="1" hangingPunct="1"/>
            <a:endParaRPr lang="en-US" altLang="nl-NL" sz="2800" dirty="0"/>
          </a:p>
          <a:p>
            <a:pPr eaLnBrk="1" hangingPunct="1"/>
            <a:endParaRPr lang="en-US" altLang="nl-NL" sz="2800" dirty="0"/>
          </a:p>
          <a:p>
            <a:pPr eaLnBrk="1" hangingPunct="1"/>
            <a:r>
              <a:rPr lang="en-US" altLang="nl-NL" sz="2800" dirty="0"/>
              <a:t>The following components are properly described:</a:t>
            </a:r>
          </a:p>
          <a:p>
            <a:pPr lvl="2">
              <a:buFont typeface="Arial" panose="020B0604020202020204" pitchFamily="34" charset="0"/>
              <a:buChar char="•"/>
            </a:pPr>
            <a:r>
              <a:rPr lang="en-US" altLang="nl-NL" sz="2800" dirty="0"/>
              <a:t> The subject</a:t>
            </a:r>
          </a:p>
          <a:p>
            <a:pPr lvl="2">
              <a:buFont typeface="Arial" panose="020B0604020202020204" pitchFamily="34" charset="0"/>
              <a:buChar char="•"/>
            </a:pPr>
            <a:r>
              <a:rPr lang="en-US" altLang="nl-NL" sz="2800" dirty="0"/>
              <a:t> The objective/question</a:t>
            </a:r>
          </a:p>
          <a:p>
            <a:pPr lvl="2">
              <a:buFont typeface="Arial" panose="020B0604020202020204" pitchFamily="34" charset="0"/>
              <a:buChar char="•"/>
            </a:pPr>
            <a:r>
              <a:rPr lang="en-US" altLang="nl-NL" sz="2800" dirty="0"/>
              <a:t> The scope </a:t>
            </a:r>
          </a:p>
          <a:p>
            <a:pPr lvl="2">
              <a:buFont typeface="Arial" panose="020B0604020202020204" pitchFamily="34" charset="0"/>
              <a:buChar char="•"/>
            </a:pPr>
            <a:r>
              <a:rPr lang="en-US" altLang="nl-NL" sz="2800" dirty="0"/>
              <a:t> Type of study (e.g. literature review/study)</a:t>
            </a:r>
          </a:p>
          <a:p>
            <a:pPr lvl="2">
              <a:buFont typeface="Arial" panose="020B0604020202020204" pitchFamily="34" charset="0"/>
              <a:buChar char="•"/>
            </a:pPr>
            <a:r>
              <a:rPr lang="en-US" altLang="nl-NL" sz="2800" dirty="0"/>
              <a:t> Main </a:t>
            </a:r>
            <a:r>
              <a:rPr lang="en-US" altLang="nl-NL" sz="2800" dirty="0" err="1"/>
              <a:t>findigs</a:t>
            </a:r>
            <a:r>
              <a:rPr lang="en-US" altLang="nl-NL" sz="2800" dirty="0"/>
              <a:t> </a:t>
            </a:r>
          </a:p>
          <a:p>
            <a:pPr lvl="2">
              <a:buFont typeface="Arial" panose="020B0604020202020204" pitchFamily="34" charset="0"/>
              <a:buChar char="•"/>
            </a:pPr>
            <a:r>
              <a:rPr lang="en-US" altLang="nl-NL" sz="2800" dirty="0"/>
              <a:t> Conclusions </a:t>
            </a:r>
          </a:p>
          <a:p>
            <a:pPr marL="0" indent="0">
              <a:buNone/>
            </a:pPr>
            <a:endParaRPr lang="en-US" altLang="nl-NL" sz="2800" dirty="0"/>
          </a:p>
          <a:p>
            <a:pPr marL="0" indent="0">
              <a:buNone/>
            </a:pPr>
            <a:r>
              <a:rPr lang="en-US" altLang="nl-NL" sz="2800" dirty="0">
                <a:sym typeface="Wingdings" panose="05000000000000000000" pitchFamily="2" charset="2"/>
              </a:rPr>
              <a:t>	 does not exceed 2</a:t>
            </a:r>
            <a:r>
              <a:rPr lang="en-US" altLang="nl-NL" sz="2800" dirty="0"/>
              <a:t>50 words</a:t>
            </a:r>
          </a:p>
          <a:p>
            <a:pPr marL="0" indent="0">
              <a:buNone/>
            </a:pPr>
            <a:r>
              <a:rPr lang="en-US" altLang="nl-NL" sz="2800" dirty="0">
                <a:sym typeface="Wingdings" panose="05000000000000000000" pitchFamily="2" charset="2"/>
              </a:rPr>
              <a:t>	 </a:t>
            </a:r>
            <a:r>
              <a:rPr lang="en-US" altLang="nl-NL" sz="2800" dirty="0"/>
              <a:t>No abbreviations, jargon or information not featured</a:t>
            </a:r>
          </a:p>
          <a:p>
            <a:pPr marL="109535" indent="0">
              <a:buNone/>
            </a:pPr>
            <a:endParaRPr lang="en-GB" dirty="0"/>
          </a:p>
        </p:txBody>
      </p:sp>
    </p:spTree>
    <p:extLst>
      <p:ext uri="{BB962C8B-B14F-4D97-AF65-F5344CB8AC3E}">
        <p14:creationId xmlns:p14="http://schemas.microsoft.com/office/powerpoint/2010/main" val="1048776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dirty="0"/>
              <a:t>Pitfalls</a:t>
            </a:r>
            <a:r>
              <a:rPr lang="en-US" dirty="0"/>
              <a:t> </a:t>
            </a:r>
            <a:r>
              <a:rPr lang="en-GB" dirty="0"/>
              <a:t>ABSTRACT</a:t>
            </a:r>
          </a:p>
        </p:txBody>
      </p:sp>
      <p:sp>
        <p:nvSpPr>
          <p:cNvPr id="2" name="Tijdelijke aanduiding voor inhoud 1"/>
          <p:cNvSpPr>
            <a:spLocks noGrp="1"/>
          </p:cNvSpPr>
          <p:nvPr>
            <p:ph idx="1"/>
          </p:nvPr>
        </p:nvSpPr>
        <p:spPr/>
        <p:txBody>
          <a:bodyPr/>
          <a:lstStyle/>
          <a:p>
            <a:pPr>
              <a:buClrTx/>
              <a:buFont typeface="Arial" panose="020B0604020202020204" pitchFamily="34" charset="0"/>
              <a:buChar char="•"/>
            </a:pPr>
            <a:endParaRPr lang="nl-NL" sz="2800" dirty="0"/>
          </a:p>
          <a:p>
            <a:pPr>
              <a:buClrTx/>
              <a:buFont typeface="Arial" panose="020B0604020202020204" pitchFamily="34" charset="0"/>
              <a:buChar char="•"/>
            </a:pPr>
            <a:r>
              <a:rPr lang="nl-NL" sz="2800" dirty="0"/>
              <a:t>Too expansive</a:t>
            </a:r>
          </a:p>
          <a:p>
            <a:pPr>
              <a:buClrTx/>
              <a:buFont typeface="Arial" panose="020B0604020202020204" pitchFamily="34" charset="0"/>
              <a:buChar char="•"/>
            </a:pPr>
            <a:endParaRPr lang="nl-NL" sz="2800" dirty="0"/>
          </a:p>
          <a:p>
            <a:pPr>
              <a:buClrTx/>
              <a:buFont typeface="Arial" panose="020B0604020202020204" pitchFamily="34" charset="0"/>
              <a:buChar char="•"/>
            </a:pPr>
            <a:r>
              <a:rPr lang="nl-NL" sz="2800" dirty="0"/>
              <a:t>Incomplete (not a good reflection of the report)</a:t>
            </a:r>
          </a:p>
          <a:p>
            <a:pPr>
              <a:buClrTx/>
              <a:buFont typeface="Arial" panose="020B0604020202020204" pitchFamily="34" charset="0"/>
              <a:buChar char="•"/>
            </a:pPr>
            <a:endParaRPr lang="nl-NL" sz="2800" dirty="0"/>
          </a:p>
          <a:p>
            <a:pPr>
              <a:buClrTx/>
              <a:buFont typeface="Arial" panose="020B0604020202020204" pitchFamily="34" charset="0"/>
              <a:buChar char="•"/>
            </a:pPr>
            <a:r>
              <a:rPr lang="nl-NL" sz="2800" dirty="0" err="1"/>
              <a:t>Main</a:t>
            </a:r>
            <a:r>
              <a:rPr lang="nl-NL" sz="2800" dirty="0"/>
              <a:t> findings aren't discussed (a summary is more than a description of structure)</a:t>
            </a:r>
          </a:p>
          <a:p>
            <a:pPr marL="0" indent="0">
              <a:buNone/>
            </a:pPr>
            <a:endParaRPr lang="en-GB" dirty="0"/>
          </a:p>
          <a:p>
            <a:pPr>
              <a:buFont typeface="Wingdings" panose="05000000000000000000" pitchFamily="2" charset="2"/>
              <a:buChar char="§"/>
            </a:pPr>
            <a:endParaRPr lang="en-GB" dirty="0"/>
          </a:p>
        </p:txBody>
      </p:sp>
    </p:spTree>
    <p:extLst>
      <p:ext uri="{BB962C8B-B14F-4D97-AF65-F5344CB8AC3E}">
        <p14:creationId xmlns:p14="http://schemas.microsoft.com/office/powerpoint/2010/main" val="2268354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noAutofit/>
          </a:bodyPr>
          <a:lstStyle/>
          <a:p>
            <a:r>
              <a:rPr lang="en-GB" dirty="0"/>
              <a:t>SUMMARY</a:t>
            </a:r>
            <a:r>
              <a:rPr lang="en-US" dirty="0"/>
              <a:t> - </a:t>
            </a:r>
            <a:r>
              <a:rPr dirty="0"/>
              <a:t>Example </a:t>
            </a:r>
            <a:endParaRPr lang="en-GB" dirty="0"/>
          </a:p>
        </p:txBody>
      </p:sp>
      <p:sp>
        <p:nvSpPr>
          <p:cNvPr id="2" name="Tijdelijke aanduiding voor inhoud 1"/>
          <p:cNvSpPr>
            <a:spLocks noGrp="1"/>
          </p:cNvSpPr>
          <p:nvPr>
            <p:ph idx="1"/>
          </p:nvPr>
        </p:nvSpPr>
        <p:spPr/>
        <p:txBody>
          <a:bodyPr>
            <a:normAutofit/>
          </a:bodyPr>
          <a:lstStyle/>
          <a:p>
            <a:pPr marL="109535" indent="0">
              <a:buNone/>
            </a:pPr>
            <a:endParaRPr lang="nl-NL" i="1" dirty="0"/>
          </a:p>
          <a:p>
            <a:pPr marL="109535" indent="0">
              <a:buNone/>
            </a:pPr>
            <a:r>
              <a:rPr lang="nl-NL" sz="2800" i="1" dirty="0"/>
              <a:t>"This literature study examines the effect of internet addiction on the social behaviour of individuals. Several studies have been conducted on the effects of internet addiction. These effects are often negative for the individual, but also negatively affect the social behaviour of that person. An internet addiction will often also have a detrimental effect on the individual's existing relations with friends and relatives. The internet addict can also …</a:t>
            </a:r>
            <a:r>
              <a:rPr lang="nl-NL" sz="2800" dirty="0"/>
              <a:t>” (68 words)</a:t>
            </a:r>
            <a:endParaRPr lang="en-GB" sz="2800" dirty="0"/>
          </a:p>
        </p:txBody>
      </p:sp>
    </p:spTree>
    <p:extLst>
      <p:ext uri="{BB962C8B-B14F-4D97-AF65-F5344CB8AC3E}">
        <p14:creationId xmlns:p14="http://schemas.microsoft.com/office/powerpoint/2010/main" val="2065137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noAutofit/>
          </a:bodyPr>
          <a:lstStyle/>
          <a:p>
            <a:r>
              <a:rPr lang="en-GB" dirty="0"/>
              <a:t>SUMMARY</a:t>
            </a:r>
            <a:r>
              <a:rPr lang="en-US" dirty="0"/>
              <a:t> - </a:t>
            </a:r>
            <a:r>
              <a:rPr dirty="0"/>
              <a:t>Example </a:t>
            </a:r>
            <a:endParaRPr lang="en-GB" dirty="0"/>
          </a:p>
        </p:txBody>
      </p:sp>
      <p:sp>
        <p:nvSpPr>
          <p:cNvPr id="2" name="Tijdelijke aanduiding voor inhoud 1"/>
          <p:cNvSpPr>
            <a:spLocks noGrp="1"/>
          </p:cNvSpPr>
          <p:nvPr>
            <p:ph idx="1"/>
          </p:nvPr>
        </p:nvSpPr>
        <p:spPr/>
        <p:txBody>
          <a:bodyPr>
            <a:normAutofit/>
          </a:bodyPr>
          <a:lstStyle/>
          <a:p>
            <a:pPr marL="109535" indent="0">
              <a:buNone/>
            </a:pPr>
            <a:endParaRPr lang="nl-NL" sz="2800" i="1" dirty="0"/>
          </a:p>
          <a:p>
            <a:pPr marL="109535" indent="0">
              <a:buNone/>
            </a:pPr>
            <a:r>
              <a:rPr lang="nl-NL" sz="2800" i="1" dirty="0"/>
              <a:t>“This </a:t>
            </a:r>
            <a:r>
              <a:rPr lang="nl-NL" sz="2800" i="1" dirty="0">
                <a:solidFill>
                  <a:srgbClr val="00B050"/>
                </a:solidFill>
              </a:rPr>
              <a:t>literature report </a:t>
            </a:r>
            <a:r>
              <a:rPr lang="nl-NL" sz="2800" i="1" dirty="0"/>
              <a:t>examines the</a:t>
            </a:r>
            <a:r>
              <a:rPr lang="nl-NL" sz="2800" i="1" dirty="0">
                <a:solidFill>
                  <a:srgbClr val="00B050"/>
                </a:solidFill>
              </a:rPr>
              <a:t> effect of internet addiction on social behaviour</a:t>
            </a:r>
            <a:r>
              <a:rPr lang="nl-NL" sz="2800" i="1" dirty="0"/>
              <a:t>.  Several studies have shown that an </a:t>
            </a:r>
            <a:r>
              <a:rPr lang="nl-NL" sz="2800" i="1" dirty="0">
                <a:solidFill>
                  <a:srgbClr val="00B050"/>
                </a:solidFill>
              </a:rPr>
              <a:t>internet addiction negatively affects the social behaviour of individuals</a:t>
            </a:r>
            <a:r>
              <a:rPr lang="nl-NL" sz="2800" i="1" dirty="0"/>
              <a:t>.</a:t>
            </a:r>
            <a:r>
              <a:rPr lang="nl-NL" sz="2800" i="1" dirty="0">
                <a:solidFill>
                  <a:srgbClr val="00B050"/>
                </a:solidFill>
              </a:rPr>
              <a:t> </a:t>
            </a:r>
            <a:r>
              <a:rPr lang="nl-NL" sz="2800" i="1" dirty="0"/>
              <a:t>An internet addiction often has a </a:t>
            </a:r>
            <a:r>
              <a:rPr lang="nl-NL" sz="2800" i="1" dirty="0">
                <a:solidFill>
                  <a:srgbClr val="00B050"/>
                </a:solidFill>
              </a:rPr>
              <a:t>detrimental effect on existing relations </a:t>
            </a:r>
            <a:r>
              <a:rPr lang="nl-NL" sz="2800" i="1" dirty="0"/>
              <a:t>with friends and relatives. The internet addict can also …</a:t>
            </a:r>
            <a:r>
              <a:rPr lang="nl-NL" sz="2800" dirty="0"/>
              <a:t>”</a:t>
            </a:r>
            <a:endParaRPr lang="en-GB" sz="2800" dirty="0"/>
          </a:p>
          <a:p>
            <a:pPr marL="109535" indent="0">
              <a:buNone/>
            </a:pPr>
            <a:r>
              <a:rPr lang="nl-NL" sz="2800" dirty="0"/>
              <a:t>(47 words) </a:t>
            </a:r>
            <a:endParaRPr lang="en-GB" sz="2800" dirty="0"/>
          </a:p>
        </p:txBody>
      </p:sp>
    </p:spTree>
    <p:extLst>
      <p:ext uri="{BB962C8B-B14F-4D97-AF65-F5344CB8AC3E}">
        <p14:creationId xmlns:p14="http://schemas.microsoft.com/office/powerpoint/2010/main" val="1515221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r>
              <a:rPr lang="en-US" dirty="0"/>
              <a:t> - </a:t>
            </a:r>
            <a:r>
              <a:rPr sz="3600" dirty="0"/>
              <a:t>Example 2</a:t>
            </a:r>
            <a:endParaRPr lang="en-GB" sz="3600" dirty="0"/>
          </a:p>
        </p:txBody>
      </p:sp>
      <p:sp>
        <p:nvSpPr>
          <p:cNvPr id="3" name="Content Placeholder 2"/>
          <p:cNvSpPr>
            <a:spLocks noGrp="1"/>
          </p:cNvSpPr>
          <p:nvPr>
            <p:ph idx="1"/>
          </p:nvPr>
        </p:nvSpPr>
        <p:spPr/>
        <p:txBody>
          <a:bodyPr>
            <a:normAutofit/>
          </a:bodyPr>
          <a:lstStyle/>
          <a:p>
            <a:pPr marL="0" indent="0">
              <a:buNone/>
            </a:pPr>
            <a:endParaRPr lang="nl-NL" sz="2800" i="1" dirty="0"/>
          </a:p>
          <a:p>
            <a:pPr marL="0" indent="0">
              <a:buNone/>
            </a:pPr>
            <a:r>
              <a:rPr lang="nl-NL" sz="2800" i="1" dirty="0"/>
              <a:t>"This literature study will discuss the various strategies that contribute to the effectiveness of self-regulating learning. It will discuss three main components. The self-assessment section will discuss the delayed JOL effect and generating sentences. Secondly, the influence of monitoring is also discussed. Finally, we'll have a look at motivation ...”</a:t>
            </a:r>
          </a:p>
        </p:txBody>
      </p:sp>
    </p:spTree>
    <p:extLst>
      <p:ext uri="{BB962C8B-B14F-4D97-AF65-F5344CB8AC3E}">
        <p14:creationId xmlns:p14="http://schemas.microsoft.com/office/powerpoint/2010/main" val="77418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r>
              <a:rPr lang="en-US" dirty="0"/>
              <a:t>- </a:t>
            </a:r>
            <a:r>
              <a:rPr dirty="0"/>
              <a:t>Example 2</a:t>
            </a:r>
            <a:endParaRPr lang="en-GB" dirty="0"/>
          </a:p>
        </p:txBody>
      </p:sp>
      <p:sp>
        <p:nvSpPr>
          <p:cNvPr id="3" name="Content Placeholder 2"/>
          <p:cNvSpPr>
            <a:spLocks noGrp="1"/>
          </p:cNvSpPr>
          <p:nvPr>
            <p:ph idx="1"/>
          </p:nvPr>
        </p:nvSpPr>
        <p:spPr/>
        <p:txBody>
          <a:bodyPr>
            <a:normAutofit/>
          </a:bodyPr>
          <a:lstStyle/>
          <a:p>
            <a:pPr marL="0" indent="0">
              <a:buNone/>
            </a:pPr>
            <a:endParaRPr lang="nl-NL" sz="2800" i="1" dirty="0"/>
          </a:p>
          <a:p>
            <a:pPr marL="0" indent="0">
              <a:buNone/>
            </a:pPr>
            <a:r>
              <a:rPr lang="nl-NL" sz="2800" i="1" dirty="0"/>
              <a:t>"This literature study will discuss the various strategies that contribute to the effectiveness of self-regulating learning. </a:t>
            </a:r>
            <a:r>
              <a:rPr lang="nl-NL" sz="2800" i="1" dirty="0">
                <a:solidFill>
                  <a:srgbClr val="FF0000"/>
                </a:solidFill>
              </a:rPr>
              <a:t>It will discuss three main components</a:t>
            </a:r>
            <a:r>
              <a:rPr lang="nl-NL" sz="2800" i="1" dirty="0"/>
              <a:t>. The self-assessment section will discuss the delayed JOL effect and generating sentences. Secondly, the influence of monitoring is also discussed. Finally, we'll have a look at motivation ...”</a:t>
            </a:r>
          </a:p>
          <a:p>
            <a:pPr marL="0" indent="0">
              <a:buNone/>
            </a:pPr>
            <a:endParaRPr lang="nl-NL" sz="2800" dirty="0">
              <a:solidFill>
                <a:srgbClr val="FF0000"/>
              </a:solidFill>
            </a:endParaRPr>
          </a:p>
          <a:p>
            <a:pPr marL="0" indent="0">
              <a:buNone/>
            </a:pPr>
            <a:r>
              <a:rPr lang="nl-NL" sz="2800" dirty="0" err="1">
                <a:solidFill>
                  <a:srgbClr val="FF0000"/>
                </a:solidFill>
              </a:rPr>
              <a:t>This</a:t>
            </a:r>
            <a:r>
              <a:rPr lang="nl-NL" sz="2800" dirty="0">
                <a:solidFill>
                  <a:srgbClr val="FF0000"/>
                </a:solidFill>
              </a:rPr>
              <a:t> is not a summary, but a brief description of the article's structure! What are the main findings?</a:t>
            </a:r>
            <a:endParaRPr lang="en-GB" dirty="0">
              <a:solidFill>
                <a:srgbClr val="FF0000"/>
              </a:solidFill>
            </a:endParaRPr>
          </a:p>
        </p:txBody>
      </p:sp>
    </p:spTree>
    <p:extLst>
      <p:ext uri="{BB962C8B-B14F-4D97-AF65-F5344CB8AC3E}">
        <p14:creationId xmlns:p14="http://schemas.microsoft.com/office/powerpoint/2010/main" val="82147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Grp="1" noChangeArrowheads="1"/>
          </p:cNvSpPr>
          <p:nvPr>
            <p:ph type="title"/>
          </p:nvPr>
        </p:nvSpPr>
        <p:spPr/>
        <p:txBody>
          <a:bodyPr/>
          <a:lstStyle/>
          <a:p>
            <a:pPr>
              <a:defRPr/>
            </a:pPr>
            <a:r>
              <a:rPr lang="en-GB" dirty="0"/>
              <a:t>ABSTRACT </a:t>
            </a:r>
            <a:r>
              <a:rPr lang="en-US" dirty="0"/>
              <a:t>- P</a:t>
            </a:r>
            <a:r>
              <a:rPr lang="en-US" sz="3600" dirty="0"/>
              <a:t>oints of attention</a:t>
            </a:r>
            <a:endParaRPr sz="3600" dirty="0"/>
          </a:p>
        </p:txBody>
      </p:sp>
      <p:sp>
        <p:nvSpPr>
          <p:cNvPr id="183299" name="Rectangle 3"/>
          <p:cNvSpPr>
            <a:spLocks noGrp="1" noChangeArrowheads="1"/>
          </p:cNvSpPr>
          <p:nvPr>
            <p:ph idx="1"/>
          </p:nvPr>
        </p:nvSpPr>
        <p:spPr/>
        <p:txBody>
          <a:bodyPr/>
          <a:lstStyle/>
          <a:p>
            <a:pPr marL="0" indent="0">
              <a:buNone/>
            </a:pPr>
            <a:endParaRPr lang="en-US" altLang="nl-NL" dirty="0"/>
          </a:p>
          <a:p>
            <a:pPr marL="0" indent="0">
              <a:buNone/>
            </a:pPr>
            <a:endParaRPr lang="en-US" altLang="nl-NL" dirty="0"/>
          </a:p>
          <a:p>
            <a:pPr>
              <a:buFont typeface="Arial" panose="020B0604020202020204" pitchFamily="34" charset="0"/>
              <a:buChar char="•"/>
            </a:pPr>
            <a:r>
              <a:rPr lang="en-US" altLang="nl-NL" sz="2800" dirty="0"/>
              <a:t>Always hold off writing this section till last</a:t>
            </a:r>
          </a:p>
          <a:p>
            <a:pPr>
              <a:buFont typeface="Arial" panose="020B0604020202020204" pitchFamily="34" charset="0"/>
              <a:buChar char="•"/>
            </a:pPr>
            <a:r>
              <a:rPr lang="en-US" altLang="nl-NL" sz="2800" dirty="0"/>
              <a:t>Be brief: remove any unnecessary words and sentences</a:t>
            </a:r>
          </a:p>
          <a:p>
            <a:pPr>
              <a:buFont typeface="Arial" panose="020B0604020202020204" pitchFamily="34" charset="0"/>
              <a:buChar char="•"/>
            </a:pPr>
            <a:r>
              <a:rPr lang="en-US" altLang="nl-NL" sz="2800" dirty="0"/>
              <a:t>Should invite the reader to read the article</a:t>
            </a:r>
          </a:p>
          <a:p>
            <a:pPr>
              <a:buFont typeface="Arial" panose="020B0604020202020204" pitchFamily="34" charset="0"/>
              <a:buChar char="•"/>
            </a:pPr>
            <a:r>
              <a:rPr lang="en-US" altLang="nl-NL" sz="2800" dirty="0"/>
              <a:t>List the main findings (check the interim conclusions for each heading and integrate where you can)</a:t>
            </a:r>
          </a:p>
          <a:p>
            <a:pPr marL="287993" lvl="1" indent="0">
              <a:buNone/>
            </a:pPr>
            <a:r>
              <a:rPr lang="en-US" altLang="nl-NL" sz="2800" dirty="0">
                <a:sym typeface="Wingdings" panose="05000000000000000000" pitchFamily="2" charset="2"/>
              </a:rPr>
              <a:t>	 it should not be a description of article’s structure</a:t>
            </a:r>
            <a:endParaRPr lang="en-US" altLang="nl-NL" sz="2800" dirty="0"/>
          </a:p>
          <a:p>
            <a:pPr>
              <a:buFont typeface="Arial" panose="020B0604020202020204" pitchFamily="34" charset="0"/>
              <a:buChar char="•"/>
            </a:pPr>
            <a:r>
              <a:rPr lang="en-US" altLang="nl-NL" sz="2800" dirty="0"/>
              <a:t>Should be an entity in itself </a:t>
            </a:r>
          </a:p>
          <a:p>
            <a:pPr>
              <a:buFont typeface="Arial" panose="020B0604020202020204" pitchFamily="34" charset="0"/>
              <a:buChar char="•"/>
            </a:pPr>
            <a:endParaRPr lang="nl-NL" altLang="nl-NL" sz="2800" dirty="0"/>
          </a:p>
          <a:p>
            <a:pPr>
              <a:buFont typeface="Arial" panose="020B0604020202020204" pitchFamily="34" charset="0"/>
              <a:buChar char="•"/>
            </a:pPr>
            <a:endParaRPr lang="nl-NL" altLang="nl-NL" sz="2800" dirty="0"/>
          </a:p>
          <a:p>
            <a:pPr marL="960096" lvl="3" indent="-457189">
              <a:buFont typeface="Wingdings" panose="05000000000000000000" pitchFamily="2" charset="2"/>
              <a:buChar char="§"/>
            </a:pPr>
            <a:endParaRPr lang="en-GB" altLang="nl-NL" dirty="0"/>
          </a:p>
          <a:p>
            <a:pPr marL="0" indent="0">
              <a:buFontTx/>
              <a:buChar char="-"/>
            </a:pPr>
            <a:endParaRPr lang="en-GB" altLang="nl-NL" dirty="0"/>
          </a:p>
          <a:p>
            <a:pPr marL="0" indent="0">
              <a:buNone/>
            </a:pPr>
            <a:endParaRPr lang="en-GB" altLang="nl-NL" dirty="0"/>
          </a:p>
        </p:txBody>
      </p:sp>
    </p:spTree>
    <p:extLst>
      <p:ext uri="{BB962C8B-B14F-4D97-AF65-F5344CB8AC3E}">
        <p14:creationId xmlns:p14="http://schemas.microsoft.com/office/powerpoint/2010/main" val="1839653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329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3299">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3299">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329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3299">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32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build="p"/>
    </p:bldLst>
  </p:timing>
</p:sld>
</file>

<file path=ppt/theme/theme1.xml><?xml version="1.0" encoding="utf-8"?>
<a:theme xmlns:a="http://schemas.openxmlformats.org/drawingml/2006/main" name="EUR_Presentatie_c18">
  <a:themeElements>
    <a:clrScheme name="Erasmus_Corporate">
      <a:dk1>
        <a:srgbClr val="002328"/>
      </a:dk1>
      <a:lt1>
        <a:sysClr val="window" lastClr="FFFFFF"/>
      </a:lt1>
      <a:dk2>
        <a:srgbClr val="00B969"/>
      </a:dk2>
      <a:lt2>
        <a:srgbClr val="9C9C9C"/>
      </a:lt2>
      <a:accent1>
        <a:srgbClr val="E3DAD8"/>
      </a:accent1>
      <a:accent2>
        <a:srgbClr val="00B4D2"/>
      </a:accent2>
      <a:accent3>
        <a:srgbClr val="00A22E"/>
      </a:accent3>
      <a:accent4>
        <a:srgbClr val="FFD700"/>
      </a:accent4>
      <a:accent5>
        <a:srgbClr val="FF9E00"/>
      </a:accent5>
      <a:accent6>
        <a:srgbClr val="BC0436"/>
      </a:accent6>
      <a:hlink>
        <a:srgbClr val="000000"/>
      </a:hlink>
      <a:folHlink>
        <a:srgbClr val="000000"/>
      </a:folHlink>
    </a:clrScheme>
    <a:fontScheme name="Erasmus_500-700">
      <a:majorFont>
        <a:latin typeface="Museo Sans 700"/>
        <a:ea typeface=""/>
        <a:cs typeface=""/>
      </a:majorFont>
      <a:minorFont>
        <a:latin typeface="Museo Sans 500"/>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8055_Erasmus_ESSB_template_NL_16x9.pptx" id="{3ADC2819-0082-4205-AE01-17D45B78D08B}" vid="{FB905D5A-2361-465A-9AF5-4D716AA8159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F9A19BEFAF19E48A98499F0DCDB9845" ma:contentTypeVersion="14" ma:contentTypeDescription="Een nieuw document maken." ma:contentTypeScope="" ma:versionID="dffcc917a2dfb5bf427c53bfabe8ad2f">
  <xsd:schema xmlns:xsd="http://www.w3.org/2001/XMLSchema" xmlns:xs="http://www.w3.org/2001/XMLSchema" xmlns:p="http://schemas.microsoft.com/office/2006/metadata/properties" xmlns:ns2="e6184cdb-27b6-4fa9-b428-d3569f95926d" xmlns:ns3="ee5a7209-f4a2-4b85-bc1d-e34763a728ef" targetNamespace="http://schemas.microsoft.com/office/2006/metadata/properties" ma:root="true" ma:fieldsID="4949b5f5b4be31355d1afa7280bf2e3f" ns2:_="" ns3:_="">
    <xsd:import namespace="e6184cdb-27b6-4fa9-b428-d3569f95926d"/>
    <xsd:import namespace="ee5a7209-f4a2-4b85-bc1d-e34763a728e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184cdb-27b6-4fa9-b428-d3569f9592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d5e0f8d3-5d55-42d7-8108-7e842a0d7440"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e5a7209-f4a2-4b85-bc1d-e34763a728ef" elementFormDefault="qualified">
    <xsd:import namespace="http://schemas.microsoft.com/office/2006/documentManagement/types"/>
    <xsd:import namespace="http://schemas.microsoft.com/office/infopath/2007/PartnerControls"/>
    <xsd:element name="SharedWithUsers" ma:index="11"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Gedeeld met details" ma:internalName="SharedWithDetails" ma:readOnly="true">
      <xsd:simpleType>
        <xsd:restriction base="dms:Note">
          <xsd:maxLength value="255"/>
        </xsd:restriction>
      </xsd:simpleType>
    </xsd:element>
    <xsd:element name="TaxCatchAll" ma:index="19" nillable="true" ma:displayName="Taxonomy Catch All Column" ma:hidden="true" ma:list="{9f77011e-3075-432b-a5a0-f9ab8acea8dd}" ma:internalName="TaxCatchAll" ma:showField="CatchAllData" ma:web="ee5a7209-f4a2-4b85-bc1d-e34763a728e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6184cdb-27b6-4fa9-b428-d3569f95926d">
      <Terms xmlns="http://schemas.microsoft.com/office/infopath/2007/PartnerControls"/>
    </lcf76f155ced4ddcb4097134ff3c332f>
    <TaxCatchAll xmlns="ee5a7209-f4a2-4b85-bc1d-e34763a728ef" xsi:nil="true"/>
  </documentManagement>
</p:properties>
</file>

<file path=customXml/itemProps1.xml><?xml version="1.0" encoding="utf-8"?>
<ds:datastoreItem xmlns:ds="http://schemas.openxmlformats.org/officeDocument/2006/customXml" ds:itemID="{A04E1E9B-C0E0-4D06-80D3-D567DD1C6101}"/>
</file>

<file path=customXml/itemProps2.xml><?xml version="1.0" encoding="utf-8"?>
<ds:datastoreItem xmlns:ds="http://schemas.openxmlformats.org/officeDocument/2006/customXml" ds:itemID="{A4246AC2-6C74-4BB8-A829-08A56DCB2073}"/>
</file>

<file path=customXml/itemProps3.xml><?xml version="1.0" encoding="utf-8"?>
<ds:datastoreItem xmlns:ds="http://schemas.openxmlformats.org/officeDocument/2006/customXml" ds:itemID="{FDF8C866-65F0-4985-B2DD-880040616F21}"/>
</file>

<file path=docProps/app.xml><?xml version="1.0" encoding="utf-8"?>
<Properties xmlns="http://schemas.openxmlformats.org/officeDocument/2006/extended-properties" xmlns:vt="http://schemas.openxmlformats.org/officeDocument/2006/docPropsVTypes">
  <TotalTime>33</TotalTime>
  <Words>599</Words>
  <Application>Microsoft Office PowerPoint</Application>
  <PresentationFormat>Widescreen</PresentationFormat>
  <Paragraphs>64</Paragraphs>
  <Slides>9</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Museo Sans 100</vt:lpstr>
      <vt:lpstr>Museo Sans 500</vt:lpstr>
      <vt:lpstr>Museo Sans 700</vt:lpstr>
      <vt:lpstr>Museo Sans 900</vt:lpstr>
      <vt:lpstr>Times New Roman</vt:lpstr>
      <vt:lpstr>Wingdings</vt:lpstr>
      <vt:lpstr>EUR_Presentatie_c18</vt:lpstr>
      <vt:lpstr>Abstract</vt:lpstr>
      <vt:lpstr>ABSTRACT</vt:lpstr>
      <vt:lpstr>ABSTRACT  Assessment criteria Rubric  </vt:lpstr>
      <vt:lpstr>Pitfalls ABSTRACT</vt:lpstr>
      <vt:lpstr>SUMMARY - Example </vt:lpstr>
      <vt:lpstr>SUMMARY - Example </vt:lpstr>
      <vt:lpstr>SUMMARY - Example 2</vt:lpstr>
      <vt:lpstr>SUMMARY- Example 2</vt:lpstr>
      <vt:lpstr>ABSTRACT - Points of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Estella van der Wal</dc:creator>
  <cp:lastModifiedBy>Estella van der Wal</cp:lastModifiedBy>
  <cp:revision>4</cp:revision>
  <dcterms:created xsi:type="dcterms:W3CDTF">2022-03-22T07:45:44Z</dcterms:created>
  <dcterms:modified xsi:type="dcterms:W3CDTF">2022-06-05T07:52:32Z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0x010100FF9A19BEFAF19E48A98499F0DCDB9845</vt:lpwstr>
  </property>
</Properties>
</file>