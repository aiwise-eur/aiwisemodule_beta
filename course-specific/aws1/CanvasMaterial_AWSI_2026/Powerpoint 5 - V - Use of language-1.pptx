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319" r:id="rId3"/>
    <p:sldId id="403" r:id="rId4"/>
    <p:sldId id="318" r:id="rId5"/>
    <p:sldId id="322" r:id="rId6"/>
    <p:sldId id="401" r:id="rId7"/>
    <p:sldId id="324" r:id="rId8"/>
    <p:sldId id="404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1196" autoAdjust="0"/>
  </p:normalViewPr>
  <p:slideViewPr>
    <p:cSldViewPr snapToGrid="0">
      <p:cViewPr varScale="1">
        <p:scale>
          <a:sx n="37" d="100"/>
          <a:sy n="37" d="100"/>
        </p:scale>
        <p:origin x="1320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FC823-6C21-418D-8DCA-B1BE675238DF}" type="datetimeFigureOut">
              <a:rPr lang="en-GB" smtClean="0"/>
              <a:t>23/05/2022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97EF4-400F-4373-8DF5-5CEB17C358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30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57188" y="1241425"/>
            <a:ext cx="5954712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2BB00A-71ED-40C6-A1CF-164C43AE5CE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395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Writing Style is important to your work's readability. A report that contains lots of spelling mistakes and grammatical errors is unreadable (regardless of the level of its content) </a:t>
            </a:r>
          </a:p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150F7-FC86-4B8D-9941-58FAA9B30DE7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109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noProof="0" dirty="0">
                <a:solidFill>
                  <a:schemeClr val="tx1"/>
                </a:solidFill>
                <a:effectLst/>
                <a:latin typeface="+mn-lt"/>
              </a:rPr>
              <a:t>Listed above are the style requirements that you'll need to meet. </a:t>
            </a:r>
          </a:p>
          <a:p>
            <a:pPr marL="171450" indent="-171450">
              <a:buFontTx/>
              <a:buChar char="-"/>
            </a:pPr>
            <a:r>
              <a:rPr lang="en-GB" sz="1200" kern="1200" baseline="0" noProof="0" dirty="0">
                <a:solidFill>
                  <a:schemeClr val="tx1"/>
                </a:solidFill>
                <a:effectLst/>
                <a:latin typeface="+mn-lt"/>
              </a:rPr>
              <a:t>Your report should not contain any grammatical or spelling errors and should feature correct punctuation. </a:t>
            </a:r>
          </a:p>
          <a:p>
            <a:pPr marL="171450" indent="-171450">
              <a:buFontTx/>
              <a:buChar char="-"/>
            </a:pPr>
            <a:r>
              <a:rPr lang="en-GB" sz="1200" kern="1200" baseline="0" noProof="0" dirty="0">
                <a:solidFill>
                  <a:schemeClr val="tx1"/>
                </a:solidFill>
                <a:effectLst/>
                <a:latin typeface="+mn-lt"/>
              </a:rPr>
              <a:t>Your sentences should be clear and made up in your own words. </a:t>
            </a:r>
          </a:p>
          <a:p>
            <a:pPr marL="171450" indent="-171450">
              <a:buFontTx/>
              <a:buChar char="-"/>
            </a:pPr>
            <a:r>
              <a:rPr lang="en-GB" sz="1200" kern="1200" noProof="0" dirty="0">
                <a:solidFill>
                  <a:schemeClr val="tx1"/>
                </a:solidFill>
                <a:effectLst/>
                <a:latin typeface="+mn-lt"/>
              </a:rPr>
              <a:t>You should apply a scientific writing style. That doesn't imply that you should resort to using overly complicated language. A scientific writing style may be characterised as: objective, neutral, carefully formulated and clear.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97EF4-400F-4373-8DF5-5CEB17C3580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782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150F7-FC86-4B8D-9941-58FAA9B30DE7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442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Scientific writing means you have to write in an objective, neutral, carefully formulated and clear style, not overcomplicating things. </a:t>
            </a:r>
          </a:p>
          <a:p>
            <a:r>
              <a:rPr lang="en-GB" noProof="0" dirty="0"/>
              <a:t>Clear </a:t>
            </a:r>
            <a:r>
              <a:rPr lang="en-GB" noProof="0" dirty="0">
                <a:sym typeface="Wingdings" panose="05000000000000000000" pitchFamily="2" charset="2"/>
              </a:rPr>
              <a:t> Don’t be too easily satisfied with your formulations. Did</a:t>
            </a:r>
            <a:r>
              <a:rPr lang="en-GB" baseline="0" noProof="0" dirty="0">
                <a:sym typeface="Wingdings" panose="05000000000000000000" pitchFamily="2" charset="2"/>
              </a:rPr>
              <a:t> </a:t>
            </a:r>
            <a:r>
              <a:rPr lang="en-GB" noProof="0" dirty="0">
                <a:sym typeface="Wingdings" panose="05000000000000000000" pitchFamily="2" charset="2"/>
              </a:rPr>
              <a:t>you really choose the right words? Avoid vague and empty words such as: things, rather, absolutely, or so. Also avoid filler words like:</a:t>
            </a:r>
            <a:r>
              <a:rPr lang="en-GB" baseline="0" noProof="0" dirty="0">
                <a:sym typeface="Wingdings" panose="05000000000000000000" pitchFamily="2" charset="2"/>
              </a:rPr>
              <a:t> </a:t>
            </a:r>
            <a:r>
              <a:rPr lang="en-GB" noProof="0" dirty="0">
                <a:sym typeface="Wingdings" panose="05000000000000000000" pitchFamily="2" charset="2"/>
              </a:rPr>
              <a:t>say, of course, quite.</a:t>
            </a:r>
          </a:p>
          <a:p>
            <a:r>
              <a:rPr lang="en-GB" noProof="0" dirty="0"/>
              <a:t>Objective and neutral</a:t>
            </a:r>
            <a:r>
              <a:rPr lang="en-GB" dirty="0"/>
              <a:t> </a:t>
            </a:r>
            <a:r>
              <a:rPr lang="en-GB" baseline="0" noProof="0" dirty="0">
                <a:sym typeface="Wingdings" panose="05000000000000000000" pitchFamily="2" charset="2"/>
              </a:rPr>
              <a:t></a:t>
            </a:r>
            <a:r>
              <a:rPr lang="en-GB" dirty="0"/>
              <a:t> Display information without giving your personal opinion. Try to choose words that show no judgment and describe</a:t>
            </a:r>
            <a:r>
              <a:rPr lang="en-GB" baseline="0" dirty="0"/>
              <a:t> the findings objectively. </a:t>
            </a:r>
          </a:p>
          <a:p>
            <a:r>
              <a:rPr lang="en-GB" noProof="0" dirty="0"/>
              <a:t>Careful</a:t>
            </a:r>
            <a:r>
              <a:rPr lang="en-GB" dirty="0"/>
              <a:t> </a:t>
            </a:r>
            <a:r>
              <a:rPr lang="en-GB" baseline="0" noProof="0" dirty="0">
                <a:sym typeface="Wingdings" panose="05000000000000000000" pitchFamily="2" charset="2"/>
              </a:rPr>
              <a:t></a:t>
            </a:r>
            <a:r>
              <a:rPr lang="en-GB" baseline="0" noProof="0" dirty="0"/>
              <a:t> Bring out the nuances where you can. E.g. don't say: "there is a positive relation between…”, but say “this suggests a positive relation between...”)</a:t>
            </a:r>
          </a:p>
          <a:p>
            <a:r>
              <a:rPr lang="en-GB" baseline="0" noProof="0" dirty="0"/>
              <a:t>Don't overcomplicate things </a:t>
            </a:r>
            <a:r>
              <a:rPr lang="en-GB" baseline="0" noProof="0" dirty="0">
                <a:sym typeface="Wingdings" panose="05000000000000000000" pitchFamily="2" charset="2"/>
              </a:rPr>
              <a:t> a scientific writing style doesn’t need to feature too many difficult words.</a:t>
            </a:r>
          </a:p>
          <a:p>
            <a:endParaRPr lang="nl-NL" noProof="0" dirty="0"/>
          </a:p>
          <a:p>
            <a:endParaRPr lang="en-GB" baseline="0" noProof="0" dirty="0">
              <a:sym typeface="Wingdings" panose="05000000000000000000" pitchFamily="2" charset="2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150F7-FC86-4B8D-9941-58FAA9B30DE7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48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B4DC6BB-8B4E-4460-9427-BB41237EE778}" type="slidenum">
              <a:rPr lang="nl-NL" altLang="en-US">
                <a:solidFill>
                  <a:prstClr val="black"/>
                </a:solidFill>
                <a:latin typeface="Garamond" panose="02020404030301010803" pitchFamily="18" charset="0"/>
              </a:rPr>
              <a:pPr/>
              <a:t>6</a:t>
            </a:fld>
            <a:endParaRPr lang="nl-NL" altLang="en-US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648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B4DC6BB-8B4E-4460-9427-BB41237EE778}" type="slidenum">
              <a:rPr lang="nl-NL" altLang="en-US">
                <a:solidFill>
                  <a:prstClr val="black"/>
                </a:solidFill>
                <a:latin typeface="Garamond" panose="02020404030301010803" pitchFamily="18" charset="0"/>
              </a:rPr>
              <a:pPr/>
              <a:t>7</a:t>
            </a:fld>
            <a:endParaRPr lang="nl-NL" altLang="en-US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43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55369" y="1763795"/>
            <a:ext cx="7921367" cy="1968000"/>
          </a:xfrm>
        </p:spPr>
        <p:txBody>
          <a:bodyPr/>
          <a:lstStyle>
            <a:lvl1pPr>
              <a:lnSpc>
                <a:spcPts val="7466"/>
              </a:lnSpc>
              <a:defRPr sz="8533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Titel </a:t>
            </a:r>
            <a:br>
              <a:rPr lang="nl-NL" dirty="0"/>
            </a:br>
            <a:r>
              <a:rPr lang="nl-NL" dirty="0"/>
              <a:t>bewerken</a:t>
            </a:r>
          </a:p>
        </p:txBody>
      </p:sp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655369" y="3731795"/>
            <a:ext cx="7921367" cy="1080000"/>
          </a:xfrm>
        </p:spPr>
        <p:txBody>
          <a:bodyPr/>
          <a:lstStyle>
            <a:lvl1pPr marL="0" indent="0" algn="l">
              <a:buNone/>
              <a:defRPr b="0" i="0">
                <a:solidFill>
                  <a:srgbClr val="FFFFFF"/>
                </a:solidFill>
                <a:latin typeface="Museo Sans 100"/>
                <a:cs typeface="Museo Sans 10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Subtitel bewerken</a:t>
            </a:r>
          </a:p>
        </p:txBody>
      </p:sp>
    </p:spTree>
    <p:extLst>
      <p:ext uri="{BB962C8B-B14F-4D97-AF65-F5344CB8AC3E}">
        <p14:creationId xmlns:p14="http://schemas.microsoft.com/office/powerpoint/2010/main" val="4156522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55369" y="528000"/>
            <a:ext cx="6498967" cy="1968000"/>
          </a:xfrm>
        </p:spPr>
        <p:txBody>
          <a:bodyPr/>
          <a:lstStyle>
            <a:lvl1pPr>
              <a:lnSpc>
                <a:spcPts val="7466"/>
              </a:lnSpc>
              <a:defRPr sz="8533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Titel  bewerken</a:t>
            </a:r>
          </a:p>
        </p:txBody>
      </p:sp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655369" y="2496000"/>
            <a:ext cx="6498967" cy="1440000"/>
          </a:xfrm>
        </p:spPr>
        <p:txBody>
          <a:bodyPr/>
          <a:lstStyle>
            <a:lvl1pPr marL="0" indent="0" algn="l">
              <a:buNone/>
              <a:defRPr b="0" i="0">
                <a:solidFill>
                  <a:srgbClr val="FFFFFF"/>
                </a:solidFill>
                <a:latin typeface="Museo Sans 100"/>
                <a:cs typeface="Museo Sans 10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Plaats een foto en zet die op de </a:t>
            </a:r>
            <a:br>
              <a:rPr lang="nl-NL" dirty="0"/>
            </a:br>
            <a:r>
              <a:rPr lang="nl-NL" dirty="0"/>
              <a:t>achtergrond met rechtermuisknop</a:t>
            </a:r>
            <a:br>
              <a:rPr lang="nl-NL" dirty="0"/>
            </a:br>
            <a:r>
              <a:rPr lang="nl-NL" dirty="0"/>
              <a:t>&gt; </a:t>
            </a:r>
            <a:r>
              <a:rPr lang="nl-NL" dirty="0" err="1"/>
              <a:t>send</a:t>
            </a:r>
            <a:r>
              <a:rPr lang="nl-NL" dirty="0"/>
              <a:t> to back</a:t>
            </a:r>
          </a:p>
        </p:txBody>
      </p:sp>
    </p:spTree>
    <p:extLst>
      <p:ext uri="{BB962C8B-B14F-4D97-AF65-F5344CB8AC3E}">
        <p14:creationId xmlns:p14="http://schemas.microsoft.com/office/powerpoint/2010/main" val="817442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5367" y="528000"/>
            <a:ext cx="10896000" cy="768000"/>
          </a:xfrm>
        </p:spPr>
        <p:txBody>
          <a:bodyPr/>
          <a:lstStyle>
            <a:lvl1pPr>
              <a:defRPr>
                <a:solidFill>
                  <a:srgbClr val="FF9E00"/>
                </a:solidFill>
              </a:defRPr>
            </a:lvl1pPr>
          </a:lstStyle>
          <a:p>
            <a:r>
              <a:rPr lang="nl-NL" dirty="0"/>
              <a:t>Titel bewerken</a:t>
            </a:r>
            <a:br>
              <a:rPr lang="nl-NL" dirty="0"/>
            </a:b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46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nl-NL" dirty="0"/>
              <a:t>Titel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 baseline="0"/>
            </a:lvl5pPr>
          </a:lstStyle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549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nl-NL" dirty="0"/>
              <a:t>Titel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657600" y="1296000"/>
            <a:ext cx="5352000" cy="4464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197602" y="1295999"/>
            <a:ext cx="5353767" cy="4464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655367" y="6217571"/>
            <a:ext cx="432000" cy="24038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3055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nl-NL" dirty="0"/>
              <a:t>Titel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657600" y="1296000"/>
            <a:ext cx="5330565" cy="432000"/>
          </a:xfrm>
        </p:spPr>
        <p:txBody>
          <a:bodyPr anchor="t" anchorCtr="0"/>
          <a:lstStyle>
            <a:lvl1pPr marL="0" indent="0">
              <a:buNone/>
              <a:defRPr sz="2400" b="0" i="0">
                <a:latin typeface="Museo Sans 900"/>
                <a:cs typeface="Museo Sans 90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nl-NL" dirty="0"/>
              <a:t>Klik om de tekst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55365" y="1728000"/>
            <a:ext cx="5332800" cy="4032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8" y="1296000"/>
            <a:ext cx="5352000" cy="432000"/>
          </a:xfrm>
        </p:spPr>
        <p:txBody>
          <a:bodyPr anchor="t" anchorCtr="0"/>
          <a:lstStyle>
            <a:lvl1pPr marL="0" indent="0">
              <a:buNone/>
              <a:defRPr sz="2400" b="0" i="0">
                <a:latin typeface="Museo Sans 900"/>
                <a:cs typeface="Museo Sans 90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nl-NL" dirty="0"/>
              <a:t>Klik om de tekst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 hasCustomPrompt="1"/>
          </p:nvPr>
        </p:nvSpPr>
        <p:spPr>
          <a:xfrm>
            <a:off x="6193367" y="1728000"/>
            <a:ext cx="5352000" cy="4032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5077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5369" y="528000"/>
            <a:ext cx="5332799" cy="768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nl-NL" dirty="0"/>
              <a:t>Titel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657600" y="1296000"/>
            <a:ext cx="5330565" cy="432000"/>
          </a:xfrm>
        </p:spPr>
        <p:txBody>
          <a:bodyPr anchor="t" anchorCtr="0"/>
          <a:lstStyle>
            <a:lvl1pPr marL="0" indent="0">
              <a:buNone/>
              <a:defRPr sz="2400" b="0" i="0">
                <a:latin typeface="Museo Sans 900"/>
                <a:cs typeface="Museo Sans 90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nl-NL" dirty="0"/>
              <a:t>Klik om de tekst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55365" y="1728000"/>
            <a:ext cx="5332800" cy="4032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2"/>
          <p:cNvSpPr>
            <a:spLocks noGrp="1"/>
          </p:cNvSpPr>
          <p:nvPr>
            <p:ph type="pic" idx="13" hasCustomPrompt="1"/>
          </p:nvPr>
        </p:nvSpPr>
        <p:spPr>
          <a:xfrm>
            <a:off x="6191999" y="528000"/>
            <a:ext cx="5352000" cy="5088000"/>
          </a:xfrm>
          <a:solidFill>
            <a:schemeClr val="bg1">
              <a:lumMod val="85000"/>
            </a:schemeClr>
          </a:solidFill>
        </p:spPr>
        <p:txBody>
          <a:bodyPr tIns="180000"/>
          <a:lstStyle>
            <a:lvl1pPr marL="0" indent="0" algn="ctr">
              <a:buNone/>
              <a:defRPr sz="2133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nl-NL"/>
              <a:t>Klik op het icoon om een foto</a:t>
            </a:r>
            <a:br>
              <a:rPr lang="nl-NL"/>
            </a:br>
            <a:r>
              <a:rPr lang="nl-NL"/>
              <a:t>toe te voegen</a:t>
            </a:r>
          </a:p>
        </p:txBody>
      </p:sp>
    </p:spTree>
    <p:extLst>
      <p:ext uri="{BB962C8B-B14F-4D97-AF65-F5344CB8AC3E}">
        <p14:creationId xmlns:p14="http://schemas.microsoft.com/office/powerpoint/2010/main" val="2806877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2 afbeeldin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5369" y="528000"/>
            <a:ext cx="5332799" cy="768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nl-NL" dirty="0"/>
              <a:t>Titel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655365" y="1296000"/>
            <a:ext cx="5332800" cy="432000"/>
          </a:xfrm>
        </p:spPr>
        <p:txBody>
          <a:bodyPr anchor="t" anchorCtr="0"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useo Sans 900"/>
                <a:cs typeface="Museo Sans 90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nl-NL" dirty="0"/>
              <a:t>Klik om de tekst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55365" y="1728000"/>
            <a:ext cx="5332800" cy="4032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2"/>
          <p:cNvSpPr>
            <a:spLocks noGrp="1"/>
          </p:cNvSpPr>
          <p:nvPr>
            <p:ph type="pic" idx="13" hasCustomPrompt="1"/>
          </p:nvPr>
        </p:nvSpPr>
        <p:spPr>
          <a:xfrm>
            <a:off x="6191999" y="528000"/>
            <a:ext cx="5352000" cy="2448000"/>
          </a:xfrm>
          <a:solidFill>
            <a:schemeClr val="bg1">
              <a:lumMod val="85000"/>
            </a:schemeClr>
          </a:solidFill>
        </p:spPr>
        <p:txBody>
          <a:bodyPr tIns="180000"/>
          <a:lstStyle>
            <a:lvl1pPr marL="0" indent="0" algn="ctr">
              <a:buNone/>
              <a:defRPr sz="2133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nl-NL"/>
              <a:t>Klik op het icoon om een foto</a:t>
            </a:r>
            <a:br>
              <a:rPr lang="nl-NL"/>
            </a:br>
            <a:r>
              <a:rPr lang="nl-NL"/>
              <a:t>toe te voegen</a:t>
            </a:r>
          </a:p>
          <a:p>
            <a:endParaRPr lang="nl-NL"/>
          </a:p>
        </p:txBody>
      </p:sp>
      <p:sp>
        <p:nvSpPr>
          <p:cNvPr id="11" name="Tijdelijke aanduiding voor afbeelding 2"/>
          <p:cNvSpPr>
            <a:spLocks noGrp="1"/>
          </p:cNvSpPr>
          <p:nvPr>
            <p:ph type="pic" idx="14" hasCustomPrompt="1"/>
          </p:nvPr>
        </p:nvSpPr>
        <p:spPr>
          <a:xfrm>
            <a:off x="6191999" y="3168000"/>
            <a:ext cx="5352000" cy="2448000"/>
          </a:xfrm>
          <a:solidFill>
            <a:schemeClr val="bg1">
              <a:lumMod val="85000"/>
            </a:schemeClr>
          </a:solidFill>
        </p:spPr>
        <p:txBody>
          <a:bodyPr tIns="180000"/>
          <a:lstStyle>
            <a:lvl1pPr marL="0" indent="0" algn="ctr">
              <a:buNone/>
              <a:defRPr sz="2133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nl-NL"/>
              <a:t>Klik op het icoon om een foto</a:t>
            </a:r>
            <a:br>
              <a:rPr lang="nl-NL"/>
            </a:br>
            <a:r>
              <a:rPr lang="nl-NL"/>
              <a:t>toe te voegen</a:t>
            </a:r>
          </a:p>
        </p:txBody>
      </p:sp>
    </p:spTree>
    <p:extLst>
      <p:ext uri="{BB962C8B-B14F-4D97-AF65-F5344CB8AC3E}">
        <p14:creationId xmlns:p14="http://schemas.microsoft.com/office/powerpoint/2010/main" val="2306568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nl-NL" dirty="0"/>
              <a:t>Titel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329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206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/>
          </p:cNvSpPr>
          <p:nvPr>
            <p:ph type="pic" idx="1" hasCustomPrompt="1"/>
          </p:nvPr>
        </p:nvSpPr>
        <p:spPr>
          <a:xfrm>
            <a:off x="655367" y="1056001"/>
            <a:ext cx="10896000" cy="4558151"/>
          </a:xfrm>
          <a:solidFill>
            <a:schemeClr val="bg1">
              <a:lumMod val="85000"/>
            </a:schemeClr>
          </a:solidFill>
        </p:spPr>
        <p:txBody>
          <a:bodyPr tIns="180000"/>
          <a:lstStyle>
            <a:lvl1pPr marL="0" indent="0" algn="ctr">
              <a:buNone/>
              <a:defRPr sz="2133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nl-NL"/>
              <a:t>Klik op het icoon om een foto</a:t>
            </a:r>
            <a:br>
              <a:rPr lang="nl-NL"/>
            </a:br>
            <a:r>
              <a:rPr lang="nl-NL"/>
              <a:t>toe te 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5367" y="528000"/>
            <a:ext cx="10896000" cy="528000"/>
          </a:xfrm>
        </p:spPr>
        <p:txBody>
          <a:bodyPr anchor="t" anchorCtr="0"/>
          <a:lstStyle>
            <a:lvl1pPr algn="l">
              <a:lnSpc>
                <a:spcPts val="3333"/>
              </a:lnSpc>
              <a:defRPr sz="2667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 dirty="0"/>
              <a:t>Titel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3625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EU_Logo_Groen_300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744000" y="5731201"/>
            <a:ext cx="1910144" cy="768121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55367" y="528000"/>
            <a:ext cx="10896000" cy="7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55365" y="1295401"/>
            <a:ext cx="10896000" cy="446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 te bewerken</a:t>
            </a:r>
          </a:p>
          <a:p>
            <a:pPr lvl="1"/>
            <a:r>
              <a:rPr lang="nl-NL" dirty="0"/>
              <a:t>Tweede niveau tekst</a:t>
            </a:r>
          </a:p>
          <a:p>
            <a:pPr lvl="2"/>
            <a:r>
              <a:rPr lang="nl-NL" dirty="0"/>
              <a:t>Derde niveau tekst</a:t>
            </a:r>
          </a:p>
          <a:p>
            <a:pPr lvl="3"/>
            <a:r>
              <a:rPr lang="nl-NL" dirty="0"/>
              <a:t>Vierde niveau tekst</a:t>
            </a:r>
          </a:p>
          <a:p>
            <a:pPr lvl="4"/>
            <a:r>
              <a:rPr lang="nl-NL" dirty="0"/>
              <a:t>Vijfde niveau tekst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089600" y="6217571"/>
            <a:ext cx="1008000" cy="2403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333">
                <a:solidFill>
                  <a:schemeClr val="tx1"/>
                </a:solidFill>
                <a:latin typeface="Museo Sans 100"/>
                <a:cs typeface="Museo Sans 100"/>
              </a:defRPr>
            </a:lvl1pPr>
          </a:lstStyle>
          <a:p>
            <a:fld id="{F10973AC-957D-C346-BA56-D82065FA2AEB}" type="datetimeFigureOut">
              <a:rPr lang="nl-NL" smtClean="0"/>
              <a:pPr/>
              <a:t>23-5-2022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097600" y="6217571"/>
            <a:ext cx="6803893" cy="2403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333" b="0" i="0">
                <a:solidFill>
                  <a:schemeClr val="accent5"/>
                </a:solidFill>
                <a:latin typeface="+mn-lt"/>
                <a:cs typeface="Museo Sans 500"/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67" y="6217571"/>
            <a:ext cx="432000" cy="2403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333" b="0" i="0">
                <a:solidFill>
                  <a:schemeClr val="accent5"/>
                </a:solidFill>
                <a:latin typeface="+mn-lt"/>
                <a:cs typeface="Museo Sans 500"/>
              </a:defRPr>
            </a:lvl1pPr>
          </a:lstStyle>
          <a:p>
            <a:fld id="{8C6BC05E-DB9A-EB4A-A776-575FA40369A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50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585" rtl="0" eaLnBrk="1" latinLnBrk="0" hangingPunct="1">
        <a:lnSpc>
          <a:spcPts val="4267"/>
        </a:lnSpc>
        <a:spcBef>
          <a:spcPct val="0"/>
        </a:spcBef>
        <a:buNone/>
        <a:defRPr sz="3733" b="0" i="0" kern="1200">
          <a:solidFill>
            <a:schemeClr val="accent5"/>
          </a:solidFill>
          <a:latin typeface="+mj-lt"/>
          <a:ea typeface="+mj-ea"/>
          <a:cs typeface="Museo Sans 700"/>
        </a:defRPr>
      </a:lvl1pPr>
    </p:titleStyle>
    <p:bodyStyle>
      <a:lvl1pPr marL="287993" indent="-287993" algn="l" defTabSz="609585" rtl="0" eaLnBrk="1" latinLnBrk="0" hangingPunct="1">
        <a:lnSpc>
          <a:spcPts val="3067"/>
        </a:lnSpc>
        <a:spcBef>
          <a:spcPts val="0"/>
        </a:spcBef>
        <a:buSzPct val="130000"/>
        <a:buFont typeface="Arial"/>
        <a:buChar char="•"/>
        <a:defRPr sz="2400" b="0" i="0" kern="1200">
          <a:solidFill>
            <a:schemeClr val="tx1"/>
          </a:solidFill>
          <a:latin typeface="+mn-lt"/>
          <a:ea typeface="+mn-ea"/>
          <a:cs typeface="Museo Sans 500"/>
        </a:defRPr>
      </a:lvl1pPr>
      <a:lvl2pPr marL="575986" indent="-287993" algn="l" defTabSz="609585" rtl="0" eaLnBrk="1" latinLnBrk="0" hangingPunct="1">
        <a:lnSpc>
          <a:spcPts val="3067"/>
        </a:lnSpc>
        <a:spcBef>
          <a:spcPts val="0"/>
        </a:spcBef>
        <a:buSzPct val="130000"/>
        <a:buFont typeface="Arial"/>
        <a:buChar char="•"/>
        <a:defRPr sz="2400" b="0" i="0" kern="1200">
          <a:solidFill>
            <a:schemeClr val="tx1"/>
          </a:solidFill>
          <a:latin typeface="+mn-lt"/>
          <a:ea typeface="+mn-ea"/>
          <a:cs typeface="Museo Sans 500"/>
        </a:defRPr>
      </a:lvl2pPr>
      <a:lvl3pPr marL="863978" indent="-287993" algn="l" defTabSz="609585" rtl="0" eaLnBrk="1" latinLnBrk="0" hangingPunct="1">
        <a:lnSpc>
          <a:spcPts val="3067"/>
        </a:lnSpc>
        <a:spcBef>
          <a:spcPts val="0"/>
        </a:spcBef>
        <a:buSzPct val="130000"/>
        <a:buFont typeface="Arial"/>
        <a:buChar char="•"/>
        <a:defRPr sz="2400" b="0" i="0" kern="1200">
          <a:solidFill>
            <a:schemeClr val="tx1"/>
          </a:solidFill>
          <a:latin typeface="+mn-lt"/>
          <a:ea typeface="+mn-ea"/>
          <a:cs typeface="Museo Sans 500"/>
        </a:defRPr>
      </a:lvl3pPr>
      <a:lvl4pPr marL="1151971" indent="-287993" algn="l" defTabSz="609585" rtl="0" eaLnBrk="1" latinLnBrk="0" hangingPunct="1">
        <a:lnSpc>
          <a:spcPts val="3067"/>
        </a:lnSpc>
        <a:spcBef>
          <a:spcPts val="0"/>
        </a:spcBef>
        <a:buSzPct val="130000"/>
        <a:buFont typeface="Arial"/>
        <a:buChar char="•"/>
        <a:defRPr sz="2400" b="0" i="0" kern="1200">
          <a:solidFill>
            <a:schemeClr val="tx1"/>
          </a:solidFill>
          <a:latin typeface="+mn-lt"/>
          <a:ea typeface="+mn-ea"/>
          <a:cs typeface="Museo Sans 500"/>
        </a:defRPr>
      </a:lvl4pPr>
      <a:lvl5pPr marL="1439964" indent="-287993" algn="l" defTabSz="609585" rtl="0" eaLnBrk="1" latinLnBrk="0" hangingPunct="1">
        <a:lnSpc>
          <a:spcPts val="3067"/>
        </a:lnSpc>
        <a:spcBef>
          <a:spcPts val="0"/>
        </a:spcBef>
        <a:buSzPct val="130000"/>
        <a:buFont typeface="Arial"/>
        <a:buChar char="•"/>
        <a:defRPr sz="2400" b="0" i="0" kern="1200">
          <a:solidFill>
            <a:schemeClr val="tx1"/>
          </a:solidFill>
          <a:latin typeface="+mn-lt"/>
          <a:ea typeface="+mn-ea"/>
          <a:cs typeface="Museo Sans 5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hrasebank.manchester.ac.uk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sz="5867" dirty="0" err="1"/>
              <a:t>Use</a:t>
            </a:r>
            <a:r>
              <a:rPr lang="nl-NL" sz="5867" dirty="0"/>
              <a:t> of </a:t>
            </a:r>
            <a:r>
              <a:rPr lang="nl-NL" sz="5867" dirty="0" err="1"/>
              <a:t>language</a:t>
            </a:r>
            <a:endParaRPr lang="nl-NL" sz="5867" dirty="0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655369" y="3731795"/>
            <a:ext cx="7921367" cy="1818773"/>
          </a:xfrm>
        </p:spPr>
        <p:txBody>
          <a:bodyPr/>
          <a:lstStyle/>
          <a:p>
            <a:endParaRPr lang="nl-NL" sz="3733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nl-NL" sz="3733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language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22015" y="1295400"/>
            <a:ext cx="6362787" cy="446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61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297C-1922-4020-A70E-7140F35D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OF LANGUAGE</a:t>
            </a:r>
            <a:br>
              <a:rPr lang="en-GB" dirty="0"/>
            </a:br>
            <a:r>
              <a:rPr lang="en-GB" dirty="0"/>
              <a:t>Assessment criteria Rubric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76896-EAF5-417B-8DDB-FFAE856D6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Proper English us used</a:t>
            </a:r>
          </a:p>
          <a:p>
            <a:r>
              <a:rPr lang="en-GB" dirty="0"/>
              <a:t>Ideas of other authors are clearly described in own words</a:t>
            </a:r>
          </a:p>
          <a:p>
            <a:r>
              <a:rPr lang="en-GB" dirty="0"/>
              <a:t>Foreign concepts that are hard to translate are shown in italics</a:t>
            </a:r>
          </a:p>
          <a:p>
            <a:r>
              <a:rPr lang="en-GB" dirty="0"/>
              <a:t>Sentences are clearly formulated (no excessive use of passive voice; variable sentence length - not too many overly long sentences or discontinuous clauses; no overly complex phrasing, not too many noun constructions)</a:t>
            </a:r>
          </a:p>
          <a:p>
            <a:r>
              <a:rPr lang="en-GB" dirty="0"/>
              <a:t> A scientific writing style is used (i.e. formal, objective, carefully phrased, concise, no informal language)</a:t>
            </a:r>
          </a:p>
        </p:txBody>
      </p:sp>
    </p:spTree>
    <p:extLst>
      <p:ext uri="{BB962C8B-B14F-4D97-AF65-F5344CB8AC3E}">
        <p14:creationId xmlns:p14="http://schemas.microsoft.com/office/powerpoint/2010/main" val="50940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Pitfalls</a:t>
            </a:r>
            <a:endParaRPr lang="en-GB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800" dirty="0"/>
              <a:t> Complex phrasing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800" dirty="0"/>
              <a:t> An insufficiently scientific writing style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800" dirty="0"/>
              <a:t> Grammatical and spelling errors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7620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Scientific writing </a:t>
            </a:r>
            <a:r>
              <a:rPr lang="en-US" sz="3600" dirty="0"/>
              <a:t>style</a:t>
            </a:r>
            <a:endParaRPr lang="en-GB" sz="3600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3182" lvl="1" indent="0">
              <a:spcBef>
                <a:spcPts val="324"/>
              </a:spcBef>
              <a:buNone/>
              <a:defRPr/>
            </a:pPr>
            <a:endParaRPr lang="en-GB" sz="2800" dirty="0"/>
          </a:p>
          <a:p>
            <a:pPr marL="105189" indent="0">
              <a:spcBef>
                <a:spcPts val="324"/>
              </a:spcBef>
              <a:buNone/>
              <a:defRPr/>
            </a:pPr>
            <a:endParaRPr lang="en-GB" sz="2800" dirty="0"/>
          </a:p>
          <a:p>
            <a:pPr marL="562378" indent="-457189">
              <a:spcBef>
                <a:spcPts val="324"/>
              </a:spcBef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Clear </a:t>
            </a:r>
          </a:p>
          <a:p>
            <a:pPr marL="562378" indent="-457189">
              <a:spcBef>
                <a:spcPts val="324"/>
              </a:spcBef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Objective/Neutral</a:t>
            </a:r>
          </a:p>
          <a:p>
            <a:pPr marL="562378" indent="-457189">
              <a:spcBef>
                <a:spcPts val="324"/>
              </a:spcBef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Carefully formulated</a:t>
            </a:r>
          </a:p>
          <a:p>
            <a:pPr marL="562378" indent="-457189">
              <a:spcBef>
                <a:spcPts val="324"/>
              </a:spcBef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Not unnecessarily complicated</a:t>
            </a:r>
          </a:p>
          <a:p>
            <a:pPr marL="0" indent="-178458">
              <a:spcBef>
                <a:spcPts val="400"/>
              </a:spcBef>
              <a:buSzPct val="68000"/>
              <a:buNone/>
            </a:pP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41864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Describing research findings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7993" lvl="1" indent="0">
              <a:lnSpc>
                <a:spcPct val="90000"/>
              </a:lnSpc>
              <a:buNone/>
              <a:defRPr/>
            </a:pPr>
            <a:endParaRPr lang="en-US" sz="2800" dirty="0"/>
          </a:p>
          <a:p>
            <a:pPr>
              <a:lnSpc>
                <a:spcPct val="90000"/>
              </a:lnSpc>
              <a:defRPr/>
            </a:pPr>
            <a:endParaRPr lang="en-US" sz="2800" dirty="0"/>
          </a:p>
          <a:p>
            <a:pPr>
              <a:lnSpc>
                <a:spcPct val="90000"/>
              </a:lnSpc>
              <a:defRPr/>
            </a:pPr>
            <a:r>
              <a:rPr lang="en-US" sz="2800" dirty="0"/>
              <a:t>Name the results, not the opinion of the researchers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/>
              <a:t>Describe results with the right </a:t>
            </a:r>
            <a:r>
              <a:rPr lang="en-US" sz="2800" dirty="0">
                <a:solidFill>
                  <a:srgbClr val="C00000"/>
                </a:solidFill>
              </a:rPr>
              <a:t>uncertainty level </a:t>
            </a:r>
          </a:p>
          <a:p>
            <a:pPr>
              <a:lnSpc>
                <a:spcPct val="90000"/>
              </a:lnSpc>
              <a:defRPr/>
            </a:pPr>
            <a:r>
              <a:rPr lang="en-US" sz="2800" dirty="0"/>
              <a:t>Be prudent with causal implications when you  </a:t>
            </a:r>
          </a:p>
          <a:p>
            <a:pPr marL="128013" lvl="1" indent="0">
              <a:lnSpc>
                <a:spcPct val="90000"/>
              </a:lnSpc>
              <a:buNone/>
              <a:defRPr/>
            </a:pPr>
            <a:r>
              <a:rPr lang="en-US" sz="2800" dirty="0"/>
              <a:t>    are discussing correlations: </a:t>
            </a:r>
          </a:p>
          <a:p>
            <a:pPr lvl="4">
              <a:defRPr/>
            </a:pPr>
            <a:r>
              <a:rPr lang="en-US" sz="2800" dirty="0"/>
              <a:t> NOT: X influences / has an effect on /causes etc.</a:t>
            </a:r>
          </a:p>
          <a:p>
            <a:pPr lvl="4">
              <a:defRPr/>
            </a:pPr>
            <a:r>
              <a:rPr lang="en-US" sz="2800" dirty="0"/>
              <a:t> BUT: relation; association; interrelation</a:t>
            </a:r>
          </a:p>
          <a:p>
            <a:pPr lvl="4">
              <a:defRPr/>
            </a:pPr>
            <a:r>
              <a:rPr lang="en-US" sz="2800" dirty="0"/>
              <a:t> Description in terms of chances and risks </a:t>
            </a:r>
          </a:p>
          <a:p>
            <a:pPr lvl="4">
              <a:defRPr/>
            </a:pPr>
            <a:endParaRPr lang="en-US" sz="2933" dirty="0"/>
          </a:p>
          <a:p>
            <a:pPr lvl="2" eaLnBrk="1" hangingPunct="1">
              <a:lnSpc>
                <a:spcPct val="90000"/>
              </a:lnSpc>
              <a:defRPr/>
            </a:pPr>
            <a:endParaRPr lang="en-US" sz="3600" dirty="0"/>
          </a:p>
          <a:p>
            <a:pPr eaLnBrk="1" hangingPunct="1">
              <a:lnSpc>
                <a:spcPct val="90000"/>
              </a:lnSpc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137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Careful formulations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655367" y="1323639"/>
            <a:ext cx="10896000" cy="44640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3600" dirty="0"/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dirty="0"/>
              <a:t>Write in terms of possible explanations: </a:t>
            </a:r>
          </a:p>
          <a:p>
            <a:pPr lvl="2">
              <a:defRPr/>
            </a:pPr>
            <a:r>
              <a:rPr lang="en-US" sz="2800" dirty="0"/>
              <a:t>Possibly this means ....</a:t>
            </a:r>
          </a:p>
          <a:p>
            <a:pPr lvl="2">
              <a:defRPr/>
            </a:pPr>
            <a:r>
              <a:rPr lang="en-US" sz="2800" dirty="0"/>
              <a:t>It seems that …</a:t>
            </a:r>
          </a:p>
          <a:p>
            <a:pPr lvl="2">
              <a:defRPr/>
            </a:pPr>
            <a:r>
              <a:rPr lang="en-US" sz="2800" dirty="0"/>
              <a:t>This may indicate that …</a:t>
            </a:r>
          </a:p>
          <a:p>
            <a:pPr lvl="2">
              <a:defRPr/>
            </a:pPr>
            <a:r>
              <a:rPr lang="en-US" sz="2800" dirty="0"/>
              <a:t>Differences may be explained by ....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695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4E80-5312-43E4-BE37-C96A85F7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Tip: Use of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E137-42C1-4000-964E-C47452DB8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Consult the academic phrasebank </a:t>
            </a:r>
            <a:r>
              <a:rPr lang="en-US" b="0" i="0" dirty="0">
                <a:solidFill>
                  <a:srgbClr val="002328"/>
                </a:solidFill>
                <a:effectLst/>
              </a:rPr>
              <a:t>if you have difficulty finding the right way to express yourself in academic language</a:t>
            </a:r>
          </a:p>
          <a:p>
            <a:endParaRPr lang="en-US" dirty="0">
              <a:solidFill>
                <a:srgbClr val="002328"/>
              </a:solidFill>
            </a:endParaRPr>
          </a:p>
          <a:p>
            <a:pPr marL="0" indent="0">
              <a:buNone/>
            </a:pPr>
            <a:r>
              <a:rPr lang="en-GB" dirty="0">
                <a:hlinkClick r:id="rId2"/>
              </a:rPr>
              <a:t>https://www.phrasebank.manchester.ac.uk/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5479617"/>
      </p:ext>
    </p:extLst>
  </p:cSld>
  <p:clrMapOvr>
    <a:masterClrMapping/>
  </p:clrMapOvr>
</p:sld>
</file>

<file path=ppt/theme/theme1.xml><?xml version="1.0" encoding="utf-8"?>
<a:theme xmlns:a="http://schemas.openxmlformats.org/drawingml/2006/main" name="EUR_Presentatie_c18">
  <a:themeElements>
    <a:clrScheme name="Erasmus_Corporate">
      <a:dk1>
        <a:srgbClr val="002328"/>
      </a:dk1>
      <a:lt1>
        <a:sysClr val="window" lastClr="FFFFFF"/>
      </a:lt1>
      <a:dk2>
        <a:srgbClr val="00B969"/>
      </a:dk2>
      <a:lt2>
        <a:srgbClr val="9C9C9C"/>
      </a:lt2>
      <a:accent1>
        <a:srgbClr val="E3DAD8"/>
      </a:accent1>
      <a:accent2>
        <a:srgbClr val="00B4D2"/>
      </a:accent2>
      <a:accent3>
        <a:srgbClr val="00A22E"/>
      </a:accent3>
      <a:accent4>
        <a:srgbClr val="FFD700"/>
      </a:accent4>
      <a:accent5>
        <a:srgbClr val="FF9E00"/>
      </a:accent5>
      <a:accent6>
        <a:srgbClr val="BC0436"/>
      </a:accent6>
      <a:hlink>
        <a:srgbClr val="000000"/>
      </a:hlink>
      <a:folHlink>
        <a:srgbClr val="000000"/>
      </a:folHlink>
    </a:clrScheme>
    <a:fontScheme name="Erasmus_500-700">
      <a:majorFont>
        <a:latin typeface="Museo Sans 700"/>
        <a:ea typeface=""/>
        <a:cs typeface=""/>
      </a:majorFont>
      <a:minorFont>
        <a:latin typeface="Museo Sans 500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8055_Erasmus_ESSB_template_NL_16x9.pptx" id="{3ADC2819-0082-4205-AE01-17D45B78D08B}" vid="{FB905D5A-2361-465A-9AF5-4D716AA81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9A19BEFAF19E48A98499F0DCDB9845" ma:contentTypeVersion="14" ma:contentTypeDescription="Een nieuw document maken." ma:contentTypeScope="" ma:versionID="dffcc917a2dfb5bf427c53bfabe8ad2f">
  <xsd:schema xmlns:xsd="http://www.w3.org/2001/XMLSchema" xmlns:xs="http://www.w3.org/2001/XMLSchema" xmlns:p="http://schemas.microsoft.com/office/2006/metadata/properties" xmlns:ns2="e6184cdb-27b6-4fa9-b428-d3569f95926d" xmlns:ns3="ee5a7209-f4a2-4b85-bc1d-e34763a728ef" targetNamespace="http://schemas.microsoft.com/office/2006/metadata/properties" ma:root="true" ma:fieldsID="4949b5f5b4be31355d1afa7280bf2e3f" ns2:_="" ns3:_="">
    <xsd:import namespace="e6184cdb-27b6-4fa9-b428-d3569f95926d"/>
    <xsd:import namespace="ee5a7209-f4a2-4b85-bc1d-e34763a728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184cdb-27b6-4fa9-b428-d3569f9592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d5e0f8d3-5d55-42d7-8108-7e842a0d7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5a7209-f4a2-4b85-bc1d-e34763a728e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9f77011e-3075-432b-a5a0-f9ab8acea8dd}" ma:internalName="TaxCatchAll" ma:showField="CatchAllData" ma:web="ee5a7209-f4a2-4b85-bc1d-e34763a728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184cdb-27b6-4fa9-b428-d3569f95926d">
      <Terms xmlns="http://schemas.microsoft.com/office/infopath/2007/PartnerControls"/>
    </lcf76f155ced4ddcb4097134ff3c332f>
    <TaxCatchAll xmlns="ee5a7209-f4a2-4b85-bc1d-e34763a728ef" xsi:nil="true"/>
  </documentManagement>
</p:properties>
</file>

<file path=customXml/itemProps1.xml><?xml version="1.0" encoding="utf-8"?>
<ds:datastoreItem xmlns:ds="http://schemas.openxmlformats.org/officeDocument/2006/customXml" ds:itemID="{E0877418-F275-4810-ADB1-C2401AEE677B}"/>
</file>

<file path=customXml/itemProps2.xml><?xml version="1.0" encoding="utf-8"?>
<ds:datastoreItem xmlns:ds="http://schemas.openxmlformats.org/officeDocument/2006/customXml" ds:itemID="{9A495DF1-2F7A-4627-B2DD-E9C1BC31F649}"/>
</file>

<file path=customXml/itemProps3.xml><?xml version="1.0" encoding="utf-8"?>
<ds:datastoreItem xmlns:ds="http://schemas.openxmlformats.org/officeDocument/2006/customXml" ds:itemID="{FC40B643-A871-46F4-A478-4E1212CC7DD4}"/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520</Words>
  <Application>Microsoft Office PowerPoint</Application>
  <PresentationFormat>Widescreen</PresentationFormat>
  <Paragraphs>61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Garamond</vt:lpstr>
      <vt:lpstr>Museo Sans 100</vt:lpstr>
      <vt:lpstr>Museo Sans 500</vt:lpstr>
      <vt:lpstr>Museo Sans 700</vt:lpstr>
      <vt:lpstr>Museo Sans 900</vt:lpstr>
      <vt:lpstr>EUR_Presentatie_c18</vt:lpstr>
      <vt:lpstr>Use of language</vt:lpstr>
      <vt:lpstr>Use of language</vt:lpstr>
      <vt:lpstr>USE OF LANGUAGE Assessment criteria Rubric</vt:lpstr>
      <vt:lpstr>Pitfalls</vt:lpstr>
      <vt:lpstr>Scientific writing style</vt:lpstr>
      <vt:lpstr>Describing research findings</vt:lpstr>
      <vt:lpstr>Careful formulations</vt:lpstr>
      <vt:lpstr>Tip: Use of language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language</dc:title>
  <dc:creator>Estella van der Wal</dc:creator>
  <cp:lastModifiedBy>Estella van der Wal</cp:lastModifiedBy>
  <cp:revision>7</cp:revision>
  <dcterms:created xsi:type="dcterms:W3CDTF">2022-03-22T07:45:09Z</dcterms:created>
  <dcterms:modified xsi:type="dcterms:W3CDTF">2022-05-23T08:14:14Z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0x010100FF9A19BEFAF19E48A98499F0DCDB9845</vt:lpwstr>
  </property>
</Properties>
</file>