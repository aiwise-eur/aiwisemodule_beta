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entation.xml" ContentType="application/vnd.openxmlformats-officedocument.presentationml.presentation.main+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3.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18.xml" ContentType="application/vnd.openxmlformats-officedocument.presentationml.notes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theme/theme2.xml" ContentType="application/vnd.openxmlformats-officedocument.theme+xml"/>
  <Override PartName="/ppt/theme/theme1.xml" ContentType="application/vnd.openxmlformats-officedocument.theme+xml"/>
  <Override PartName="/ppt/notesMasters/notesMaster1.xml" ContentType="application/vnd.openxmlformats-officedocument.presentationml.notesMaster+xml"/>
  <Override PartName="/ppt/tableStyles.xml" ContentType="application/vnd.openxmlformats-officedocument.presentationml.tableStyles+xml"/>
  <Override PartName="/ppt/viewProps.xml" ContentType="application/vnd.openxmlformats-officedocument.presentationml.viewProps+xml"/>
  <Override PartName="/ppt/presProps.xml" ContentType="application/vnd.openxmlformats-officedocument.presentationml.presProps+xml"/>
  <Override PartName="/docProps/core.xml" ContentType="application/vnd.openxmlformats-package.core-properties+xml"/>
  <Override PartName="/docProps/app.xml" ContentType="application/vnd.openxmlformats-officedocument.extended-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3"/>
  </p:notesMasterIdLst>
  <p:sldIdLst>
    <p:sldId id="257" r:id="rId2"/>
    <p:sldId id="275" r:id="rId3"/>
    <p:sldId id="289" r:id="rId4"/>
    <p:sldId id="336" r:id="rId5"/>
    <p:sldId id="272" r:id="rId6"/>
    <p:sldId id="273" r:id="rId7"/>
    <p:sldId id="328" r:id="rId8"/>
    <p:sldId id="329" r:id="rId9"/>
    <p:sldId id="330" r:id="rId10"/>
    <p:sldId id="331" r:id="rId11"/>
    <p:sldId id="332" r:id="rId12"/>
    <p:sldId id="333" r:id="rId13"/>
    <p:sldId id="334" r:id="rId14"/>
    <p:sldId id="335" r:id="rId15"/>
    <p:sldId id="379" r:id="rId16"/>
    <p:sldId id="385" r:id="rId17"/>
    <p:sldId id="380" r:id="rId18"/>
    <p:sldId id="377" r:id="rId19"/>
    <p:sldId id="378" r:id="rId20"/>
    <p:sldId id="400" r:id="rId21"/>
    <p:sldId id="401" r:id="rId22"/>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5436" autoAdjust="0"/>
  </p:normalViewPr>
  <p:slideViewPr>
    <p:cSldViewPr snapToGrid="0">
      <p:cViewPr varScale="1">
        <p:scale>
          <a:sx n="34" d="100"/>
          <a:sy n="34" d="100"/>
        </p:scale>
        <p:origin x="1437" y="2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customXml" Target="../customXml/item2.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customXml" Target="../customXml/item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 Id="rId30" Type="http://schemas.openxmlformats.org/officeDocument/2006/relationships/customXml" Target="../customXml/item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08DDC-52CD-447B-97F0-917EDB2C66B9}" type="datetimeFigureOut">
              <a:rPr lang="en-GB" smtClean="0"/>
              <a:t>05/06/2022</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21946B-80C3-4399-9F3F-F648B2CE5E00}" type="slidenum">
              <a:rPr lang="en-GB" smtClean="0"/>
              <a:t>‹#›</a:t>
            </a:fld>
            <a:endParaRPr lang="en-GB"/>
          </a:p>
        </p:txBody>
      </p:sp>
    </p:spTree>
    <p:extLst>
      <p:ext uri="{BB962C8B-B14F-4D97-AF65-F5344CB8AC3E}">
        <p14:creationId xmlns:p14="http://schemas.microsoft.com/office/powerpoint/2010/main" val="17798208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57188" y="1241425"/>
            <a:ext cx="5954712" cy="3349625"/>
          </a:xfrm>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0103952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report should be structured using an hour-glass shape </a:t>
            </a: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7779556F-C461-44E8-A325-53777C184A73}"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nl-NL"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715183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mn-lt"/>
              </a:rPr>
              <a:t>The criteria the general structure of your report should meet are listed above.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baseline="0" noProof="0" dirty="0">
                <a:solidFill>
                  <a:schemeClr val="tx1"/>
                </a:solidFill>
                <a:effectLst/>
                <a:latin typeface="+mn-lt"/>
              </a:rPr>
              <a:t>Your report should first of all contain all relevant components. I.e. it should contain a summary, introduction, main body, discussion, and reference list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noProof="0" dirty="0"/>
              <a:t>The structure of the report as a whole must meet the hourglass model. In the introduction, the student must start with a broad introduction of the topic</a:t>
            </a:r>
            <a:r>
              <a:rPr lang="en-US" baseline="0" noProof="0" dirty="0"/>
              <a:t> </a:t>
            </a:r>
            <a:r>
              <a:rPr lang="en-US" noProof="0" dirty="0"/>
              <a:t>and from there narrow it down to his central question, in the main body the answers to</a:t>
            </a:r>
            <a:r>
              <a:rPr lang="en-US" baseline="0" noProof="0" dirty="0"/>
              <a:t> </a:t>
            </a:r>
            <a:r>
              <a:rPr lang="en-US" noProof="0" dirty="0"/>
              <a:t>the questions are provided and in the discussion the answer</a:t>
            </a:r>
            <a:r>
              <a:rPr lang="en-US" baseline="0" noProof="0" dirty="0"/>
              <a:t> to the question is places </a:t>
            </a:r>
            <a:r>
              <a:rPr lang="en-US" noProof="0" dirty="0"/>
              <a:t>in a broader context.</a:t>
            </a:r>
            <a:endParaRPr lang="en-US" sz="1200" kern="1200" baseline="0" noProof="0" dirty="0">
              <a:solidFill>
                <a:schemeClr val="tx1"/>
              </a:solidFill>
              <a:effectLst/>
              <a:latin typeface="+mn-lt"/>
            </a:endParaRP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noProof="0" dirty="0">
                <a:solidFill>
                  <a:schemeClr val="tx1"/>
                </a:solidFill>
                <a:effectLst/>
                <a:latin typeface="+mn-lt"/>
              </a:rPr>
              <a:t>The title and headings should be clear and informative. Important in this respect is that the reader is able to gauge the content of the report from the title and headings.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baseline="0" noProof="0" dirty="0">
                <a:solidFill>
                  <a:schemeClr val="tx1"/>
                </a:solidFill>
                <a:effectLst/>
                <a:latin typeface="+mn-lt"/>
              </a:rPr>
              <a:t>It should also be clear what the subject of your text is, what the question is and what the answers to it are. The subject and the central question are discussed in the introduction; the answers to it are discussed in the main body and the conclusion.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baseline="0" noProof="0" dirty="0">
                <a:solidFill>
                  <a:schemeClr val="tx1"/>
                </a:solidFill>
                <a:effectLst/>
                <a:latin typeface="+mn-lt"/>
              </a:rPr>
              <a:t>Maintaining a good structure is also important on a more specific level. That implies that the various paragraphs in your text should also feature a clear structure; this is largely determined by paragraph structuring. Make sure that your paragraph discusses one single topic or sub-topic and that they are neither too long or too short in length (paragraphs consisting of one sentence are obviously too short, but you don't want one half a page in length either). </a:t>
            </a:r>
            <a:endParaRPr lang="en-US" sz="1200" kern="1200" noProof="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228469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09537" indent="0" algn="l">
              <a:buNone/>
            </a:pPr>
            <a:r>
              <a:rPr lang="en-US" dirty="0"/>
              <a:t>Unclear answers to the questions can have three potential causes:</a:t>
            </a:r>
          </a:p>
          <a:p>
            <a:pPr marL="338137" indent="-228600" algn="l">
              <a:buAutoNum type="arabicParenR"/>
            </a:pPr>
            <a:r>
              <a:rPr lang="en-US" dirty="0"/>
              <a:t>Firstly, not all the information may be relevant to answering the question. This will create a mismatch between question and information. This can be fixed by removing the irrelevant information from the text or tweaking the question. </a:t>
            </a:r>
          </a:p>
          <a:p>
            <a:pPr marL="338137" indent="-228600" algn="l">
              <a:buAutoNum type="arabicParenR"/>
            </a:pPr>
            <a:r>
              <a:rPr lang="en-US" dirty="0"/>
              <a:t>Secondly, the information discussed may be relevant, but may be insufficiently related to the question. In that case, you'll want to emphasize how the information contributes to answering the central question, by e.g. giving regular intermittent summaries. </a:t>
            </a:r>
          </a:p>
          <a:p>
            <a:pPr marL="338137" indent="-228600" algn="l">
              <a:buAutoNum type="arabicParenR"/>
            </a:pPr>
            <a:r>
              <a:rPr lang="en-US" dirty="0"/>
              <a:t>Finally, it could be that the answer to the question isn't presented clearly enough, because the information isn't ordered logically. If you want to apply a logical structure to your text, you could perhaps try and order all sub-answers in a way that makes sense in relation to answering the question. This is, in fact, how students should go about drawing up their draft structure. </a:t>
            </a:r>
          </a:p>
          <a:p>
            <a:endParaRPr lang="en-US" dirty="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333F40C8-7D68-4912-9D24-2694F7F19C98}"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29786222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indicated above a good general structure will include clear answers to the central question.</a:t>
            </a:r>
          </a:p>
          <a:p>
            <a:endParaRPr lang="en-US" dirty="0"/>
          </a:p>
          <a:p>
            <a:r>
              <a:rPr lang="en-US" dirty="0"/>
              <a:t>How do you go about making sure that the answers to the question are presented sufficiently clearly? </a:t>
            </a:r>
          </a:p>
          <a:p>
            <a:r>
              <a:rPr lang="en-US" dirty="0"/>
              <a:t>- First of all, you should make sure that the literature is relevant. Student sometimes make the mistake of sourcing literature that is only partially relevant to the subject, but actually doesn't contribute to answering the central question. </a:t>
            </a:r>
            <a:endParaRPr lang="en-US" baseline="0" dirty="0"/>
          </a:p>
          <a:p>
            <a:r>
              <a:rPr lang="en-US" dirty="0"/>
              <a:t>- Secondly, the reader should have a clear idea of:</a:t>
            </a:r>
          </a:p>
          <a:p>
            <a:r>
              <a:rPr lang="en-US" b="1" baseline="0" dirty="0"/>
              <a:t>	- what</a:t>
            </a:r>
            <a:r>
              <a:rPr lang="en-US" dirty="0"/>
              <a:t> your report will be discussing, i.e. you'll need a clear description of its content; </a:t>
            </a:r>
          </a:p>
          <a:p>
            <a:r>
              <a:rPr lang="en-US" b="1" baseline="0" dirty="0"/>
              <a:t>	- why</a:t>
            </a:r>
            <a:r>
              <a:rPr lang="en-US" dirty="0"/>
              <a:t> you'll be discussing that information; in other words: what is the information's relevance?; </a:t>
            </a:r>
          </a:p>
          <a:p>
            <a:r>
              <a:rPr lang="en-US" dirty="0"/>
              <a:t>	</a:t>
            </a:r>
            <a:r>
              <a:rPr lang="en-US" b="1" baseline="0" dirty="0"/>
              <a:t>-</a:t>
            </a:r>
            <a:r>
              <a:rPr lang="en-US" dirty="0"/>
              <a:t> </a:t>
            </a:r>
            <a:r>
              <a:rPr lang="en-US" b="1" baseline="0" noProof="0" dirty="0"/>
              <a:t>how</a:t>
            </a:r>
            <a:r>
              <a:rPr lang="en-US" b="1" baseline="0" dirty="0"/>
              <a:t> </a:t>
            </a:r>
            <a:r>
              <a:rPr lang="en-US" dirty="0"/>
              <a:t>the information contributes to answering the central question. What conclusion can you draw based on the 		information discussed?; and how is this related to the central question? </a:t>
            </a:r>
          </a:p>
          <a:p>
            <a:endParaRPr lang="en-US" baseline="0" dirty="0"/>
          </a:p>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482BB00A-71ED-40C6-A1CF-164C43AE5CE4}" type="slidenum">
              <a:rPr kumimoji="0" lang="en-GB"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710838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nl-NL" sz="1200" kern="1200" dirty="0" err="1">
                <a:solidFill>
                  <a:schemeClr val="tx1"/>
                </a:solidFill>
                <a:latin typeface="+mn-lt"/>
              </a:rPr>
              <a:t>Assess</a:t>
            </a:r>
            <a:r>
              <a:rPr lang="nl-NL" sz="1200" kern="1200" dirty="0">
                <a:solidFill>
                  <a:schemeClr val="tx1"/>
                </a:solidFill>
                <a:latin typeface="+mn-lt"/>
              </a:rPr>
              <a:t> </a:t>
            </a:r>
            <a:r>
              <a:rPr lang="nl-NL" sz="1200" kern="1200" dirty="0" err="1">
                <a:solidFill>
                  <a:schemeClr val="tx1"/>
                </a:solidFill>
                <a:latin typeface="+mn-lt"/>
              </a:rPr>
              <a:t>the</a:t>
            </a:r>
            <a:r>
              <a:rPr lang="nl-NL" sz="1200" kern="1200" dirty="0">
                <a:solidFill>
                  <a:schemeClr val="tx1"/>
                </a:solidFill>
                <a:latin typeface="+mn-lt"/>
              </a:rPr>
              <a:t> </a:t>
            </a:r>
            <a:r>
              <a:rPr lang="nl-NL" sz="1200" kern="1200" dirty="0" err="1">
                <a:solidFill>
                  <a:schemeClr val="tx1"/>
                </a:solidFill>
                <a:latin typeface="+mn-lt"/>
              </a:rPr>
              <a:t>quality</a:t>
            </a:r>
            <a:r>
              <a:rPr lang="nl-NL" sz="1200" kern="1200" dirty="0">
                <a:solidFill>
                  <a:schemeClr val="tx1"/>
                </a:solidFill>
                <a:latin typeface="+mn-lt"/>
              </a:rPr>
              <a:t> of </a:t>
            </a:r>
            <a:r>
              <a:rPr lang="nl-NL" sz="1200" kern="1200" dirty="0" err="1">
                <a:solidFill>
                  <a:schemeClr val="tx1"/>
                </a:solidFill>
                <a:latin typeface="+mn-lt"/>
              </a:rPr>
              <a:t>the</a:t>
            </a:r>
            <a:r>
              <a:rPr lang="nl-NL" sz="1200" kern="1200" dirty="0">
                <a:solidFill>
                  <a:schemeClr val="tx1"/>
                </a:solidFill>
                <a:latin typeface="+mn-lt"/>
              </a:rPr>
              <a:t> </a:t>
            </a:r>
            <a:r>
              <a:rPr lang="nl-NL" sz="1200" kern="1200" dirty="0" err="1">
                <a:solidFill>
                  <a:schemeClr val="tx1"/>
                </a:solidFill>
                <a:latin typeface="+mn-lt"/>
              </a:rPr>
              <a:t>titles</a:t>
            </a:r>
            <a:endParaRPr lang="nl-NL" sz="1200" kern="1200" dirty="0">
              <a:solidFill>
                <a:schemeClr val="tx1"/>
              </a:solidFill>
              <a:latin typeface="+mn-lt"/>
            </a:endParaRPr>
          </a:p>
          <a:p>
            <a:endParaRPr lang="en-GB" sz="1200" kern="1200" dirty="0">
              <a:solidFill>
                <a:schemeClr val="tx1"/>
              </a:solidFill>
              <a:latin typeface="+mn-lt"/>
              <a:ea typeface="+mn-ea"/>
              <a:cs typeface="+mn-cs"/>
            </a:endParaRPr>
          </a:p>
          <a:p>
            <a:endParaRPr lang="en-GB" dirty="0"/>
          </a:p>
          <a:p>
            <a:r>
              <a:rPr dirty="0"/>
              <a:t> </a:t>
            </a:r>
          </a:p>
          <a:p>
            <a:endParaRPr lang="en-GB" dirty="0"/>
          </a:p>
        </p:txBody>
      </p:sp>
      <p:sp>
        <p:nvSpPr>
          <p:cNvPr id="4" name="Slide Number Placeholder 3"/>
          <p:cNvSpPr>
            <a:spLocks noGrp="1"/>
          </p:cNvSpPr>
          <p:nvPr>
            <p:ph type="sldNum" sz="quarter" idx="10"/>
          </p:nvPr>
        </p:nvSpPr>
        <p:spPr/>
        <p:txBody>
          <a:bodyPr/>
          <a:lstStyle/>
          <a:p>
            <a:fld id="{0F3816D5-45E8-43E4-99F4-6638CC530E96}" type="slidenum">
              <a:rPr lang="nl-NL" smtClean="0">
                <a:solidFill>
                  <a:prstClr val="black"/>
                </a:solidFill>
              </a:rPr>
              <a:pPr/>
              <a:t>7</a:t>
            </a:fld>
            <a:endParaRPr lang="en-GB" dirty="0">
              <a:solidFill>
                <a:prstClr val="black"/>
              </a:solidFill>
            </a:endParaRPr>
          </a:p>
        </p:txBody>
      </p:sp>
    </p:spTree>
    <p:extLst>
      <p:ext uri="{BB962C8B-B14F-4D97-AF65-F5344CB8AC3E}">
        <p14:creationId xmlns:p14="http://schemas.microsoft.com/office/powerpoint/2010/main" val="36461781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u="none" kern="1200" noProof="0" dirty="0">
                <a:solidFill>
                  <a:schemeClr val="tx1"/>
                </a:solidFill>
                <a:latin typeface="+mn-lt"/>
              </a:rPr>
              <a:t>Title 1 </a:t>
            </a:r>
            <a:r>
              <a:rPr lang="en-US" sz="1200" kern="1200" baseline="0" noProof="0" dirty="0">
                <a:solidFill>
                  <a:schemeClr val="tx1"/>
                </a:solidFill>
                <a:latin typeface="+mn-lt"/>
              </a:rPr>
              <a:t>isn't informative. You can still pick up a hint of the topic, but what the report will actually discuss remains clouded. Which question will the report discuss?</a:t>
            </a:r>
          </a:p>
          <a:p>
            <a:r>
              <a:rPr lang="en-US" sz="1200" b="1" u="none" kern="1200" baseline="0" noProof="0" dirty="0">
                <a:solidFill>
                  <a:schemeClr val="tx1"/>
                </a:solidFill>
                <a:latin typeface="+mn-lt"/>
              </a:rPr>
              <a:t>Title 2 </a:t>
            </a:r>
            <a:r>
              <a:rPr lang="en-US" sz="1200" kern="1200" baseline="0" noProof="0" dirty="0">
                <a:solidFill>
                  <a:schemeClr val="tx1"/>
                </a:solidFill>
                <a:latin typeface="+mn-lt"/>
              </a:rPr>
              <a:t>is slightly informal, but the subtitle helps to clarify the question discussed. You could elect to leave out the main title, although this could serve to attract the reader's attention. </a:t>
            </a:r>
          </a:p>
          <a:p>
            <a:r>
              <a:rPr lang="en-US" sz="1200" b="1" u="none" kern="1200" baseline="0" noProof="0" dirty="0">
                <a:solidFill>
                  <a:schemeClr val="tx1"/>
                </a:solidFill>
                <a:latin typeface="+mn-lt"/>
              </a:rPr>
              <a:t>Title 3 </a:t>
            </a:r>
            <a:r>
              <a:rPr lang="en-US" sz="1200" u="none" kern="1200" baseline="0" noProof="0" dirty="0">
                <a:solidFill>
                  <a:schemeClr val="tx1"/>
                </a:solidFill>
                <a:latin typeface="+mn-lt"/>
              </a:rPr>
              <a:t>Perhaps not as exciting as the previous one, but does indicate the subject, the question and its boundaries. Of the three examples, this is the most informative one. </a:t>
            </a:r>
            <a:endParaRPr lang="en-US" u="sng" noProof="0" dirty="0"/>
          </a:p>
          <a:p>
            <a:endParaRPr lang="en-GB" dirty="0"/>
          </a:p>
          <a:p>
            <a:r>
              <a:rPr dirty="0"/>
              <a:t> </a:t>
            </a:r>
          </a:p>
          <a:p>
            <a:endParaRPr lang="en-GB" dirty="0"/>
          </a:p>
        </p:txBody>
      </p:sp>
      <p:sp>
        <p:nvSpPr>
          <p:cNvPr id="4" name="Slide Number Placeholder 3"/>
          <p:cNvSpPr>
            <a:spLocks noGrp="1"/>
          </p:cNvSpPr>
          <p:nvPr>
            <p:ph type="sldNum" sz="quarter" idx="10"/>
          </p:nvPr>
        </p:nvSpPr>
        <p:spPr/>
        <p:txBody>
          <a:bodyPr/>
          <a:lstStyle/>
          <a:p>
            <a:fld id="{0F3816D5-45E8-43E4-99F4-6638CC530E96}" type="slidenum">
              <a:rPr lang="nl-NL" smtClean="0">
                <a:solidFill>
                  <a:prstClr val="black"/>
                </a:solidFill>
              </a:rPr>
              <a:pPr/>
              <a:t>8</a:t>
            </a:fld>
            <a:endParaRPr lang="en-GB" dirty="0">
              <a:solidFill>
                <a:prstClr val="black"/>
              </a:solidFill>
            </a:endParaRPr>
          </a:p>
        </p:txBody>
      </p:sp>
    </p:spTree>
    <p:extLst>
      <p:ext uri="{BB962C8B-B14F-4D97-AF65-F5344CB8AC3E}">
        <p14:creationId xmlns:p14="http://schemas.microsoft.com/office/powerpoint/2010/main" val="3070611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noProof="0" dirty="0"/>
              <a:t>Try to come up with</a:t>
            </a:r>
            <a:r>
              <a:rPr lang="en-GB" baseline="0" noProof="0" dirty="0"/>
              <a:t> possible headings for this section.</a:t>
            </a:r>
            <a:endParaRPr lang="en-GB" noProof="0" dirty="0"/>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9</a:t>
            </a:fld>
            <a:endParaRPr lang="en-GB" dirty="0">
              <a:solidFill>
                <a:prstClr val="black"/>
              </a:solidFill>
            </a:endParaRPr>
          </a:p>
        </p:txBody>
      </p:sp>
    </p:spTree>
    <p:extLst>
      <p:ext uri="{BB962C8B-B14F-4D97-AF65-F5344CB8AC3E}">
        <p14:creationId xmlns:p14="http://schemas.microsoft.com/office/powerpoint/2010/main" val="2971680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en-GB" noProof="0" dirty="0"/>
              <a:t>Which heading is the best fit for the section in the previous slide? </a:t>
            </a:r>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10</a:t>
            </a:fld>
            <a:endParaRPr lang="en-GB" dirty="0">
              <a:solidFill>
                <a:prstClr val="black"/>
              </a:solidFill>
            </a:endParaRPr>
          </a:p>
        </p:txBody>
      </p:sp>
    </p:spTree>
    <p:extLst>
      <p:ext uri="{BB962C8B-B14F-4D97-AF65-F5344CB8AC3E}">
        <p14:creationId xmlns:p14="http://schemas.microsoft.com/office/powerpoint/2010/main" val="6670540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noProof="0" dirty="0"/>
          </a:p>
        </p:txBody>
      </p:sp>
      <p:sp>
        <p:nvSpPr>
          <p:cNvPr id="4" name="Tijdelijke aanduiding voor dianummer 3"/>
          <p:cNvSpPr>
            <a:spLocks noGrp="1"/>
          </p:cNvSpPr>
          <p:nvPr>
            <p:ph type="sldNum" sz="quarter" idx="10"/>
          </p:nvPr>
        </p:nvSpPr>
        <p:spPr/>
        <p:txBody>
          <a:bodyPr/>
          <a:lstStyle/>
          <a:p>
            <a:fld id="{0F3816D5-45E8-43E4-99F4-6638CC530E96}" type="slidenum">
              <a:rPr lang="nl-NL" smtClean="0">
                <a:solidFill>
                  <a:prstClr val="black"/>
                </a:solidFill>
              </a:rPr>
              <a:pPr/>
              <a:t>11</a:t>
            </a:fld>
            <a:endParaRPr lang="en-GB" dirty="0">
              <a:solidFill>
                <a:prstClr val="black"/>
              </a:solidFill>
            </a:endParaRPr>
          </a:p>
        </p:txBody>
      </p:sp>
    </p:spTree>
    <p:extLst>
      <p:ext uri="{BB962C8B-B14F-4D97-AF65-F5344CB8AC3E}">
        <p14:creationId xmlns:p14="http://schemas.microsoft.com/office/powerpoint/2010/main" val="22466190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baseline="0" noProof="0" dirty="0">
                <a:solidFill>
                  <a:schemeClr val="tx1"/>
                </a:solidFill>
                <a:latin typeface="+mn-lt"/>
              </a:rPr>
              <a:t>Have a look at the heading. Do they think they have been ordered logically? </a:t>
            </a:r>
            <a:r>
              <a:rPr lang="en-GB" sz="1200" b="0" i="0" kern="1200" baseline="0" noProof="0" dirty="0">
                <a:solidFill>
                  <a:schemeClr val="tx1"/>
                </a:solidFill>
                <a:effectLst/>
                <a:latin typeface="+mn-lt"/>
              </a:rPr>
              <a:t>Why/why not? </a:t>
            </a:r>
            <a:endParaRPr lang="en-GB" sz="1200" b="0" i="0" kern="1200" noProof="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latin typeface="+mn-lt"/>
              <a:ea typeface="+mn-ea"/>
              <a:cs typeface="+mn-cs"/>
            </a:endParaRPr>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12</a:t>
            </a:fld>
            <a:endParaRPr lang="en-GB" dirty="0">
              <a:solidFill>
                <a:prstClr val="black"/>
              </a:solidFill>
            </a:endParaRPr>
          </a:p>
        </p:txBody>
      </p:sp>
    </p:spTree>
    <p:extLst>
      <p:ext uri="{BB962C8B-B14F-4D97-AF65-F5344CB8AC3E}">
        <p14:creationId xmlns:p14="http://schemas.microsoft.com/office/powerpoint/2010/main" val="12426595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noProof="0" dirty="0">
                <a:solidFill>
                  <a:schemeClr val="tx1"/>
                </a:solidFill>
                <a:latin typeface="+mn-lt"/>
              </a:rPr>
              <a:t>The headings don't really match the question, they tend to head off in different directions. This will cause the reader to miss the main line of the argument. The question was: "What is the influence of mindfulness training on cognitive performance?" The reader will not see the side-step into the origins of mindfulness training and mindfulness as a treatment for psychological symptoms coming;</a:t>
            </a:r>
            <a:r>
              <a:rPr lang="en-GB" sz="1200" kern="1200" baseline="0" noProof="0" dirty="0">
                <a:solidFill>
                  <a:schemeClr val="tx1"/>
                </a:solidFill>
                <a:latin typeface="+mn-lt"/>
              </a:rPr>
              <a:t> the </a:t>
            </a:r>
            <a:r>
              <a:rPr lang="en-GB" sz="1200" kern="1200" noProof="0" dirty="0">
                <a:solidFill>
                  <a:schemeClr val="tx1"/>
                </a:solidFill>
                <a:latin typeface="+mn-lt"/>
              </a:rPr>
              <a:t>side-step into the causes of a decline in cognitive performance</a:t>
            </a:r>
            <a:r>
              <a:rPr lang="en-GB" noProof="0" dirty="0"/>
              <a:t> </a:t>
            </a:r>
            <a:r>
              <a:rPr lang="en-GB" sz="1200" kern="1200" noProof="0" dirty="0">
                <a:solidFill>
                  <a:schemeClr val="tx1"/>
                </a:solidFill>
                <a:latin typeface="+mn-lt"/>
              </a:rPr>
              <a:t>also appears irrelevant. </a:t>
            </a:r>
          </a:p>
          <a:p>
            <a:endParaRPr lang="en-GB" dirty="0"/>
          </a:p>
          <a:p>
            <a:endParaRPr lang="en-GB"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13</a:t>
            </a:fld>
            <a:endParaRPr lang="en-GB" dirty="0">
              <a:solidFill>
                <a:prstClr val="black"/>
              </a:solidFill>
            </a:endParaRPr>
          </a:p>
        </p:txBody>
      </p:sp>
    </p:spTree>
    <p:extLst>
      <p:ext uri="{BB962C8B-B14F-4D97-AF65-F5344CB8AC3E}">
        <p14:creationId xmlns:p14="http://schemas.microsoft.com/office/powerpoint/2010/main" val="18879050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norm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sz="1200" kern="1200" noProof="0" dirty="0">
                <a:solidFill>
                  <a:schemeClr val="tx1"/>
                </a:solidFill>
                <a:latin typeface="+mn-lt"/>
              </a:rPr>
              <a:t>This is an example of a more logical ordering of the headings. The author start off by explaining the relation between cognitive performance and attention, memory and executive functions. He could then decide to go into the effects of mindfulness training on these three aspects of cognition.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baseline="0" dirty="0">
              <a:solidFill>
                <a:schemeClr val="tx1"/>
              </a:solidFill>
              <a:latin typeface="+mn-lt"/>
              <a:ea typeface="+mn-ea"/>
              <a:cs typeface="+mn-cs"/>
            </a:endParaRPr>
          </a:p>
          <a:p>
            <a:endParaRPr lang="en-GB"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14</a:t>
            </a:fld>
            <a:endParaRPr lang="en-GB" dirty="0">
              <a:solidFill>
                <a:prstClr val="black"/>
              </a:solidFill>
            </a:endParaRPr>
          </a:p>
        </p:txBody>
      </p:sp>
    </p:spTree>
    <p:extLst>
      <p:ext uri="{BB962C8B-B14F-4D97-AF65-F5344CB8AC3E}">
        <p14:creationId xmlns:p14="http://schemas.microsoft.com/office/powerpoint/2010/main" val="1860483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coherent report seamlessly joins its various components. I.e. a coherent report forms a unit in itself. </a:t>
            </a:r>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noProof="0" dirty="0">
              <a:solidFill>
                <a:schemeClr val="tx1"/>
              </a:solidFill>
              <a:effectLst/>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noProof="0" dirty="0">
                <a:solidFill>
                  <a:schemeClr val="tx1"/>
                </a:solidFill>
                <a:effectLst/>
                <a:latin typeface="+mn-lt"/>
              </a:rPr>
              <a:t>First of all, the various component parts of the text should follow each other in a logical order. Sometimes your ordering won't be logical and then you'll have to relocate a paragraph or move (part of) its information elsewhere to another or a new paragraph.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mn-lt"/>
              </a:rPr>
              <a:t>You should also make sufficient use of structural indicators, which will help the reader identify the storyline. The use of structural indicators will also</a:t>
            </a:r>
            <a:r>
              <a:rPr lang="en-US" sz="1200" kern="1200" baseline="0" noProof="0" dirty="0">
                <a:solidFill>
                  <a:schemeClr val="tx1"/>
                </a:solidFill>
                <a:effectLst/>
                <a:latin typeface="+mn-lt"/>
              </a:rPr>
              <a:t> help</a:t>
            </a:r>
            <a:r>
              <a:rPr lang="en-US" sz="1200" kern="1200" noProof="0" dirty="0">
                <a:solidFill>
                  <a:schemeClr val="tx1"/>
                </a:solidFill>
                <a:effectLst/>
                <a:latin typeface="+mn-lt"/>
              </a:rPr>
              <a:t> to clarify the coherence between paragraphs and sentences. You should try and make sure that your sentences and paragraph have a flow to them.</a:t>
            </a:r>
            <a:endParaRPr lang="en-US" sz="1200" kern="1200" noProof="0" dirty="0">
              <a:solidFill>
                <a:schemeClr val="tx1"/>
              </a:solidFill>
              <a:effectLst/>
              <a:latin typeface="+mn-lt"/>
              <a:ea typeface="+mn-ea"/>
              <a:cs typeface="+mn-cs"/>
            </a:endParaRPr>
          </a:p>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9150F7-FC86-4B8D-9941-58FAA9B30DE7}"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368280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eaLnBrk="1" hangingPunct="1"/>
            <a:r>
              <a:rPr lang="nl-NL" altLang="en-US" sz="1200" dirty="0"/>
              <a:t>One of the biggest pitfalls with regard to coherence is that your text appears to consist of loosely arranged (unrelated) components. This can be corrected by using structural indicators.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altLang="en-US" sz="1200" b="0" i="0" u="none" strike="noStrike" kern="1200" cap="none" spc="0" normalizeH="0" baseline="0" noProof="0" dirty="0">
              <a:ln>
                <a:noFill/>
              </a:ln>
              <a:solidFill>
                <a:prstClr val="black"/>
              </a:solidFill>
              <a:effectLst/>
              <a:uLnTx/>
              <a:uFillTx/>
              <a:latin typeface="+mn-lt"/>
            </a:endParaRPr>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CD9150F7-FC86-4B8D-9941-58FAA9B30DE7}"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39403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pPr rtl="0"/>
            <a:r>
              <a:rPr lang="en-US" noProof="0" dirty="0">
                <a:effectLst/>
              </a:rPr>
              <a:t>For the clarity of report, it is important to have a clear structure, which is easy to follow for the reader</a:t>
            </a:r>
          </a:p>
          <a:p>
            <a:r>
              <a:rPr lang="en-US" noProof="0" dirty="0"/>
              <a:t>For this you'll first have to discuss relevant information that you have structured logically. However,</a:t>
            </a:r>
            <a:r>
              <a:rPr lang="en-US" baseline="0" noProof="0" dirty="0"/>
              <a:t> h</a:t>
            </a:r>
            <a:r>
              <a:rPr lang="en-US" noProof="0" dirty="0"/>
              <a:t>aving</a:t>
            </a:r>
            <a:r>
              <a:rPr lang="en-US" baseline="0" noProof="0" dirty="0"/>
              <a:t> a logical structure isn’t enough. You’ll need to </a:t>
            </a:r>
            <a:r>
              <a:rPr lang="en-US" noProof="0" dirty="0"/>
              <a:t>use structural indicators</a:t>
            </a:r>
            <a:r>
              <a:rPr lang="en-US" baseline="0" noProof="0" dirty="0"/>
              <a:t> to guide the reader trough your text. </a:t>
            </a:r>
            <a:endParaRPr lang="en-US" noProof="0"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kern="1200" baseline="0" noProof="0" dirty="0">
              <a:solidFill>
                <a:schemeClr val="tx1"/>
              </a:solidFill>
              <a:effectLst/>
              <a:latin typeface="+mn-lt"/>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noProof="0" dirty="0">
                <a:solidFill>
                  <a:schemeClr val="tx1"/>
                </a:solidFill>
                <a:effectLst/>
                <a:latin typeface="+mn-lt"/>
              </a:rPr>
              <a:t>Structure in a text can be indicated in many ways. </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baseline="0" noProof="0" dirty="0">
                <a:solidFill>
                  <a:schemeClr val="tx1"/>
                </a:solidFill>
                <a:effectLst/>
                <a:latin typeface="+mn-lt"/>
              </a:rPr>
              <a:t>-   Signal words are used to highlight the textual coherence between sentences and paragraphs.</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noProof="0" dirty="0">
                <a:solidFill>
                  <a:schemeClr val="tx1"/>
                </a:solidFill>
                <a:effectLst/>
                <a:latin typeface="+mn-lt"/>
              </a:rPr>
              <a:t>Overviews are used to inform the reader on what to expect from the rest of the text. This is done in the introduction when you're discussing structure, but also at the beginning of a paragraph.</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noProof="0" dirty="0">
                <a:solidFill>
                  <a:schemeClr val="tx1"/>
                </a:solidFill>
                <a:effectLst/>
                <a:latin typeface="+mn-lt"/>
              </a:rPr>
              <a:t>You can also indicate structure by highlighting transitions (between paragraphs, and between sentences). </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kern="1200" noProof="0" dirty="0">
                <a:solidFill>
                  <a:schemeClr val="tx1"/>
                </a:solidFill>
                <a:effectLst/>
                <a:latin typeface="+mn-lt"/>
              </a:rPr>
              <a:t>Interim summaries</a:t>
            </a:r>
            <a:r>
              <a:rPr lang="en-US" noProof="0" dirty="0"/>
              <a:t> </a:t>
            </a:r>
            <a:r>
              <a:rPr lang="en-US" sz="1200" kern="1200" noProof="0" dirty="0">
                <a:solidFill>
                  <a:schemeClr val="tx1"/>
                </a:solidFill>
                <a:effectLst/>
                <a:latin typeface="+mn-lt"/>
              </a:rPr>
              <a:t>also help to create clarity for the reader. Let's suppose you've discussed two different studies in a paragraph, you then may want to </a:t>
            </a:r>
            <a:r>
              <a:rPr lang="en-US" sz="1200" kern="1200" noProof="0" dirty="0" err="1">
                <a:solidFill>
                  <a:schemeClr val="tx1"/>
                </a:solidFill>
                <a:effectLst/>
                <a:latin typeface="+mn-lt"/>
              </a:rPr>
              <a:t>summarise</a:t>
            </a:r>
            <a:r>
              <a:rPr lang="en-US" sz="1200" kern="1200" noProof="0" dirty="0">
                <a:solidFill>
                  <a:schemeClr val="tx1"/>
                </a:solidFill>
                <a:effectLst/>
                <a:latin typeface="+mn-lt"/>
              </a:rPr>
              <a:t> their results in a final sentence that also contains their significance to answering the question. </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kern="1200" dirty="0">
              <a:solidFill>
                <a:schemeClr val="tx1"/>
              </a:solidFill>
              <a:effectLst/>
              <a:latin typeface="+mn-lt"/>
              <a:ea typeface="+mn-ea"/>
              <a:cs typeface="+mn-cs"/>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dirty="0"/>
              <a:t>Try and think from a reader's perspective. Will he understand how the sentences, paragraphs and sections relate to each other? It's your job to ensure he does. </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a:t>You can already start doing that by giving an overview of what the report contains. In order to then captivate the reader you should indicate the information's relevance to the central question at regular intervals. You can also indicate structure by highlighting transitions (usually in the first or last sentence of a paragraph). Interim summaries quite often serve to clarify a lot. Let's suppose you've discussed two different studies in a paragraph, you then may want to </a:t>
            </a:r>
            <a:r>
              <a:rPr lang="en-US" dirty="0" err="1"/>
              <a:t>summarise</a:t>
            </a:r>
            <a:r>
              <a:rPr lang="en-US" dirty="0"/>
              <a:t> their results in a final sentence that also contains their significance to answering the question. You can use the last sentence to announce the subject of the next paragraph. That way you can take the reader along on your journey. If your story doesn't have structure, it'll turn into a mess.</a:t>
            </a:r>
          </a:p>
          <a:p>
            <a:pPr eaLnBrk="1" hangingPunct="1"/>
            <a:endParaRPr lang="en-GB" altLang="nl-NL" dirty="0"/>
          </a:p>
          <a:p>
            <a:endParaRPr lang="en-GB" dirty="0"/>
          </a:p>
          <a:p>
            <a:endParaRPr lang="en-GB" dirty="0"/>
          </a:p>
        </p:txBody>
      </p:sp>
      <p:sp>
        <p:nvSpPr>
          <p:cNvPr id="4" name="Tijdelijke aanduiding voor dianumm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E250B3B4-A52A-491D-ADEB-D2C0AD3558FA}" type="slidenum">
              <a:rPr kumimoji="0" lang="nl-NL"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15393616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noProof="0" dirty="0"/>
              <a:t>Make sure you apply sufficient variation in your use of signal words. E.g. don't always use 'moreover' when indicating a summary, also try other words, such as: 'also', 'apart from', 'as well as','firstly, secondly', etc.</a:t>
            </a:r>
          </a:p>
          <a:p>
            <a:endParaRPr lang="en-GB"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18</a:t>
            </a:fld>
            <a:endParaRPr lang="en-GB" dirty="0">
              <a:solidFill>
                <a:prstClr val="black"/>
              </a:solidFill>
            </a:endParaRPr>
          </a:p>
        </p:txBody>
      </p:sp>
    </p:spTree>
    <p:extLst>
      <p:ext uri="{BB962C8B-B14F-4D97-AF65-F5344CB8AC3E}">
        <p14:creationId xmlns:p14="http://schemas.microsoft.com/office/powerpoint/2010/main" val="3418676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noProof="0" dirty="0"/>
              <a:t>These are two examples of how you could provide an overview at the beginning of a paragraph. By providing an overview, the reader will clearly be able to know what to expect.</a:t>
            </a:r>
            <a:endParaRPr lang="en-GB" noProof="0"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19</a:t>
            </a:fld>
            <a:endParaRPr lang="en-GB" dirty="0">
              <a:solidFill>
                <a:prstClr val="black"/>
              </a:solidFill>
            </a:endParaRPr>
          </a:p>
        </p:txBody>
      </p:sp>
    </p:spTree>
    <p:extLst>
      <p:ext uri="{BB962C8B-B14F-4D97-AF65-F5344CB8AC3E}">
        <p14:creationId xmlns:p14="http://schemas.microsoft.com/office/powerpoint/2010/main" val="13401474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noProof="0" dirty="0"/>
              <a:t>In this example the author illustrates a transition between two paragraphs. This is done to highlight the coherence between different textual components. You can indicate this transition either at the end or at the beginning of a paragraph. </a:t>
            </a:r>
            <a:endParaRPr lang="en-GB" noProof="0"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20</a:t>
            </a:fld>
            <a:endParaRPr lang="en-GB" dirty="0">
              <a:solidFill>
                <a:prstClr val="black"/>
              </a:solidFill>
            </a:endParaRPr>
          </a:p>
        </p:txBody>
      </p:sp>
    </p:spTree>
    <p:extLst>
      <p:ext uri="{BB962C8B-B14F-4D97-AF65-F5344CB8AC3E}">
        <p14:creationId xmlns:p14="http://schemas.microsoft.com/office/powerpoint/2010/main" val="261177450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r>
              <a:rPr lang="nl-NL" noProof="0" dirty="0"/>
              <a:t>Conclude the paragraphs by adding in an interim paragraph. This will greatly enhance the clarity of your text. The reader will then immediately know which information is central to the text. </a:t>
            </a:r>
            <a:endParaRPr lang="en-GB" noProof="0" dirty="0"/>
          </a:p>
        </p:txBody>
      </p:sp>
      <p:sp>
        <p:nvSpPr>
          <p:cNvPr id="4" name="Tijdelijke aanduiding voor dianummer 3"/>
          <p:cNvSpPr>
            <a:spLocks noGrp="1"/>
          </p:cNvSpPr>
          <p:nvPr>
            <p:ph type="sldNum" sz="quarter" idx="10"/>
          </p:nvPr>
        </p:nvSpPr>
        <p:spPr/>
        <p:txBody>
          <a:bodyPr/>
          <a:lstStyle/>
          <a:p>
            <a:fld id="{CD9150F7-FC86-4B8D-9941-58FAA9B30DE7}" type="slidenum">
              <a:rPr lang="nl-NL" smtClean="0">
                <a:solidFill>
                  <a:prstClr val="black"/>
                </a:solidFill>
              </a:rPr>
              <a:pPr/>
              <a:t>21</a:t>
            </a:fld>
            <a:endParaRPr lang="en-GB" dirty="0">
              <a:solidFill>
                <a:prstClr val="black"/>
              </a:solidFill>
            </a:endParaRPr>
          </a:p>
        </p:txBody>
      </p:sp>
    </p:spTree>
    <p:extLst>
      <p:ext uri="{BB962C8B-B14F-4D97-AF65-F5344CB8AC3E}">
        <p14:creationId xmlns:p14="http://schemas.microsoft.com/office/powerpoint/2010/main" val="76566764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eldi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1763795"/>
            <a:ext cx="7921367" cy="1968000"/>
          </a:xfrm>
        </p:spPr>
        <p:txBody>
          <a:bodyPr/>
          <a:lstStyle>
            <a:lvl1pPr>
              <a:lnSpc>
                <a:spcPts val="7466"/>
              </a:lnSpc>
              <a:defRPr sz="8533" baseline="0">
                <a:solidFill>
                  <a:schemeClr val="bg1"/>
                </a:solidFill>
              </a:defRPr>
            </a:lvl1pPr>
          </a:lstStyle>
          <a:p>
            <a:r>
              <a:rPr lang="nl-NL" dirty="0"/>
              <a:t>Titel </a:t>
            </a:r>
            <a:br>
              <a:rPr lang="nl-NL" dirty="0"/>
            </a:br>
            <a:r>
              <a:rPr lang="nl-NL" dirty="0"/>
              <a:t>bewerken</a:t>
            </a:r>
          </a:p>
        </p:txBody>
      </p:sp>
      <p:sp>
        <p:nvSpPr>
          <p:cNvPr id="3" name="Subtitel 2"/>
          <p:cNvSpPr>
            <a:spLocks noGrp="1"/>
          </p:cNvSpPr>
          <p:nvPr>
            <p:ph type="subTitle" idx="1" hasCustomPrompt="1"/>
          </p:nvPr>
        </p:nvSpPr>
        <p:spPr>
          <a:xfrm>
            <a:off x="655369" y="3731795"/>
            <a:ext cx="7921367" cy="108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Subtitel bewerken</a:t>
            </a:r>
          </a:p>
        </p:txBody>
      </p:sp>
    </p:spTree>
    <p:extLst>
      <p:ext uri="{BB962C8B-B14F-4D97-AF65-F5344CB8AC3E}">
        <p14:creationId xmlns:p14="http://schemas.microsoft.com/office/powerpoint/2010/main" val="37146411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eldia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ctrTitle" hasCustomPrompt="1"/>
          </p:nvPr>
        </p:nvSpPr>
        <p:spPr>
          <a:xfrm>
            <a:off x="655369" y="528000"/>
            <a:ext cx="6498967" cy="1968000"/>
          </a:xfrm>
        </p:spPr>
        <p:txBody>
          <a:bodyPr/>
          <a:lstStyle>
            <a:lvl1pPr>
              <a:lnSpc>
                <a:spcPts val="7466"/>
              </a:lnSpc>
              <a:defRPr sz="8533" baseline="0">
                <a:solidFill>
                  <a:schemeClr val="bg1"/>
                </a:solidFill>
              </a:defRPr>
            </a:lvl1pPr>
          </a:lstStyle>
          <a:p>
            <a:r>
              <a:rPr lang="nl-NL" dirty="0"/>
              <a:t>Titel  bewerken</a:t>
            </a:r>
          </a:p>
        </p:txBody>
      </p:sp>
      <p:sp>
        <p:nvSpPr>
          <p:cNvPr id="3" name="Subtitel 2"/>
          <p:cNvSpPr>
            <a:spLocks noGrp="1"/>
          </p:cNvSpPr>
          <p:nvPr>
            <p:ph type="subTitle" idx="1" hasCustomPrompt="1"/>
          </p:nvPr>
        </p:nvSpPr>
        <p:spPr>
          <a:xfrm>
            <a:off x="655369" y="2496000"/>
            <a:ext cx="6498967" cy="1440000"/>
          </a:xfrm>
        </p:spPr>
        <p:txBody>
          <a:bodyPr/>
          <a:lstStyle>
            <a:lvl1pPr marL="0" indent="0" algn="l">
              <a:buNone/>
              <a:defRPr b="0" i="0">
                <a:solidFill>
                  <a:srgbClr val="FFFFFF"/>
                </a:solidFill>
                <a:latin typeface="Museo Sans 100"/>
                <a:cs typeface="Museo Sans 100"/>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nl-NL" dirty="0"/>
              <a:t>Plaats een foto en zet die op de </a:t>
            </a:r>
            <a:br>
              <a:rPr lang="nl-NL" dirty="0"/>
            </a:br>
            <a:r>
              <a:rPr lang="nl-NL" dirty="0"/>
              <a:t>achtergrond met rechtermuisknop</a:t>
            </a:r>
            <a:br>
              <a:rPr lang="nl-NL" dirty="0"/>
            </a:br>
            <a:r>
              <a:rPr lang="nl-NL" dirty="0"/>
              <a:t>&gt; </a:t>
            </a:r>
            <a:r>
              <a:rPr lang="nl-NL" dirty="0" err="1"/>
              <a:t>send</a:t>
            </a:r>
            <a:r>
              <a:rPr lang="nl-NL" dirty="0"/>
              <a:t> to back</a:t>
            </a:r>
          </a:p>
        </p:txBody>
      </p:sp>
    </p:spTree>
    <p:extLst>
      <p:ext uri="{BB962C8B-B14F-4D97-AF65-F5344CB8AC3E}">
        <p14:creationId xmlns:p14="http://schemas.microsoft.com/office/powerpoint/2010/main" val="146924580"/>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el en object">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7" y="528000"/>
            <a:ext cx="10896000" cy="768000"/>
          </a:xfrm>
        </p:spPr>
        <p:txBody>
          <a:bodyPr/>
          <a:lstStyle>
            <a:lvl1pPr>
              <a:defRPr>
                <a:solidFill>
                  <a:srgbClr val="FF9E00"/>
                </a:solidFill>
              </a:defRPr>
            </a:lvl1pPr>
          </a:lstStyle>
          <a:p>
            <a:r>
              <a:rPr lang="nl-NL" dirty="0"/>
              <a:t>Titel bewerken</a:t>
            </a:r>
            <a:br>
              <a:rPr lang="nl-NL" dirty="0"/>
            </a:br>
            <a:endParaRPr lang="nl-NL" dirty="0"/>
          </a:p>
        </p:txBody>
      </p:sp>
      <p:sp>
        <p:nvSpPr>
          <p:cNvPr id="3" name="Tijdelijke aanduiding voor inhoud 2"/>
          <p:cNvSpPr>
            <a:spLocks noGrp="1"/>
          </p:cNvSpPr>
          <p:nvPr>
            <p:ph idx="1" hasCustomPrompt="1"/>
          </p:nvPr>
        </p:nvSpPr>
        <p:spPr/>
        <p:txBody>
          <a:bodyPr/>
          <a:lstStyle>
            <a:lvl1pPr>
              <a:defRPr baseline="0"/>
            </a:lvl1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8090271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el en object 2">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idx="1" hasCustomPrompt="1"/>
          </p:nvPr>
        </p:nvSpPr>
        <p:spPr/>
        <p:txBody>
          <a:bodyPr/>
          <a:lstStyle>
            <a:lvl1pPr marL="0" indent="0">
              <a:buFontTx/>
              <a:buNone/>
              <a:defRPr/>
            </a:lvl1pPr>
            <a:lvl2pPr marL="0" indent="0">
              <a:buFontTx/>
              <a:buNone/>
              <a:defRPr/>
            </a:lvl2pPr>
            <a:lvl3pPr marL="0" indent="0">
              <a:buFontTx/>
              <a:buNone/>
              <a:defRPr/>
            </a:lvl3pPr>
            <a:lvl4pPr marL="0" indent="0">
              <a:buFontTx/>
              <a:buNone/>
              <a:defRPr/>
            </a:lvl4pPr>
            <a:lvl5pPr marL="0" indent="0">
              <a:buFontTx/>
              <a:buNone/>
              <a:defRPr baseline="0"/>
            </a:lvl5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10"/>
          </p:nvPr>
        </p:nvSpPr>
        <p:spPr/>
        <p:txBody>
          <a:body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11"/>
          </p:nvPr>
        </p:nvSpPr>
        <p:spPr/>
        <p:txBody>
          <a:bodyPr/>
          <a:lstStyle>
            <a:lvl1pPr>
              <a:defRPr>
                <a:solidFill>
                  <a:schemeClr val="accent5"/>
                </a:solidFill>
              </a:defRPr>
            </a:lvl1pPr>
          </a:lstStyle>
          <a:p>
            <a:endParaRPr lang="nl-NL"/>
          </a:p>
        </p:txBody>
      </p:sp>
      <p:sp>
        <p:nvSpPr>
          <p:cNvPr id="6" name="Tijdelijke aanduiding voor dianummer 5"/>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1402058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ee object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inhoud 2"/>
          <p:cNvSpPr>
            <a:spLocks noGrp="1"/>
          </p:cNvSpPr>
          <p:nvPr>
            <p:ph sz="half" idx="1" hasCustomPrompt="1"/>
          </p:nvPr>
        </p:nvSpPr>
        <p:spPr>
          <a:xfrm>
            <a:off x="657600" y="1296000"/>
            <a:ext cx="5352000"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inhoud 3"/>
          <p:cNvSpPr>
            <a:spLocks noGrp="1"/>
          </p:cNvSpPr>
          <p:nvPr>
            <p:ph sz="half" idx="2" hasCustomPrompt="1"/>
          </p:nvPr>
        </p:nvSpPr>
        <p:spPr>
          <a:xfrm>
            <a:off x="6197602" y="1295999"/>
            <a:ext cx="5353767" cy="4464000"/>
          </a:xfrm>
        </p:spPr>
        <p:txBody>
          <a:bodyPr/>
          <a:lstStyle>
            <a:lvl1pPr>
              <a:defRPr sz="2400"/>
            </a:lvl1pPr>
            <a:lvl2pPr>
              <a:defRPr sz="2400"/>
            </a:lvl2pPr>
            <a:lvl3pPr>
              <a:defRPr sz="2400"/>
            </a:lvl3pPr>
            <a:lvl4pPr>
              <a:defRPr sz="2400"/>
            </a:lvl4pPr>
            <a:lvl5pPr>
              <a:defRPr sz="2400"/>
            </a:lvl5pPr>
            <a:lvl6pPr>
              <a:defRPr sz="2400"/>
            </a:lvl6pPr>
            <a:lvl7pPr>
              <a:defRPr sz="2400"/>
            </a:lvl7pPr>
            <a:lvl8pPr>
              <a:defRPr sz="2400"/>
            </a:lvl8pPr>
            <a:lvl9pPr>
              <a:defRPr sz="2400"/>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5-6-2022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a:xfrm>
            <a:off x="655367" y="6217571"/>
            <a:ext cx="432000" cy="240380"/>
          </a:xfrm>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268572888"/>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Vergelijk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5" name="Tijdelijke aanduiding voor tekst 4"/>
          <p:cNvSpPr>
            <a:spLocks noGrp="1"/>
          </p:cNvSpPr>
          <p:nvPr>
            <p:ph type="body" sz="quarter" idx="3" hasCustomPrompt="1"/>
          </p:nvPr>
        </p:nvSpPr>
        <p:spPr>
          <a:xfrm>
            <a:off x="6193368" y="1296000"/>
            <a:ext cx="5352000"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6" name="Tijdelijke aanduiding voor inhoud 5"/>
          <p:cNvSpPr>
            <a:spLocks noGrp="1"/>
          </p:cNvSpPr>
          <p:nvPr>
            <p:ph sz="quarter" idx="4" hasCustomPrompt="1"/>
          </p:nvPr>
        </p:nvSpPr>
        <p:spPr>
          <a:xfrm>
            <a:off x="6193367" y="1728000"/>
            <a:ext cx="53520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4032275851"/>
      </p:ext>
    </p:extLst>
  </p:cSld>
  <p:clrMapOvr>
    <a:overrideClrMapping bg1="lt1" tx1="dk1" bg2="lt2" tx2="dk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kst en afbeelding">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7600" y="1296000"/>
            <a:ext cx="5330565" cy="432000"/>
          </a:xfrm>
        </p:spPr>
        <p:txBody>
          <a:bodyPr anchor="t" anchorCtr="0"/>
          <a:lstStyle>
            <a:lvl1pPr marL="0" indent="0">
              <a:buNone/>
              <a:defRPr sz="2400" b="0" i="0">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508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3460258357"/>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kst en 2 afbeeldingen">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hasCustomPrompt="1"/>
          </p:nvPr>
        </p:nvSpPr>
        <p:spPr>
          <a:xfrm>
            <a:off x="655369" y="528000"/>
            <a:ext cx="5332799" cy="768000"/>
          </a:xfrm>
        </p:spPr>
        <p:txBody>
          <a:bodyPr/>
          <a:lstStyle>
            <a:lvl1pPr>
              <a:defRPr>
                <a:solidFill>
                  <a:schemeClr val="accent5"/>
                </a:solidFill>
              </a:defRPr>
            </a:lvl1pPr>
          </a:lstStyle>
          <a:p>
            <a:r>
              <a:rPr lang="nl-NL" dirty="0"/>
              <a:t>Titel bewerken</a:t>
            </a:r>
          </a:p>
        </p:txBody>
      </p:sp>
      <p:sp>
        <p:nvSpPr>
          <p:cNvPr id="3" name="Tijdelijke aanduiding voor tekst 2"/>
          <p:cNvSpPr>
            <a:spLocks noGrp="1"/>
          </p:cNvSpPr>
          <p:nvPr>
            <p:ph type="body" idx="1" hasCustomPrompt="1"/>
          </p:nvPr>
        </p:nvSpPr>
        <p:spPr>
          <a:xfrm>
            <a:off x="655365" y="1296000"/>
            <a:ext cx="5332800" cy="432000"/>
          </a:xfrm>
        </p:spPr>
        <p:txBody>
          <a:bodyPr anchor="t" anchorCtr="0"/>
          <a:lstStyle>
            <a:lvl1pPr marL="0" indent="0">
              <a:buNone/>
              <a:defRPr sz="2400" b="0" i="0">
                <a:solidFill>
                  <a:schemeClr val="tx1"/>
                </a:solidFill>
                <a:latin typeface="Museo Sans 900"/>
                <a:cs typeface="Museo Sans 900"/>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nl-NL" dirty="0"/>
              <a:t>Klik om de tekst te bewerken</a:t>
            </a:r>
          </a:p>
        </p:txBody>
      </p:sp>
      <p:sp>
        <p:nvSpPr>
          <p:cNvPr id="4" name="Tijdelijke aanduiding voor inhoud 3"/>
          <p:cNvSpPr>
            <a:spLocks noGrp="1"/>
          </p:cNvSpPr>
          <p:nvPr>
            <p:ph sz="half" idx="2" hasCustomPrompt="1"/>
          </p:nvPr>
        </p:nvSpPr>
        <p:spPr>
          <a:xfrm>
            <a:off x="655365" y="1728000"/>
            <a:ext cx="5332800" cy="4032000"/>
          </a:xfrm>
        </p:spPr>
        <p:txBody>
          <a:bodyPr/>
          <a:lstStyle>
            <a:lvl1pPr>
              <a:defRPr sz="2400"/>
            </a:lvl1pPr>
            <a:lvl2pPr>
              <a:defRPr sz="2400"/>
            </a:lvl2pPr>
            <a:lvl3pPr>
              <a:defRPr sz="2400"/>
            </a:lvl3pPr>
            <a:lvl4pPr>
              <a:defRPr sz="2400"/>
            </a:lvl4pPr>
            <a:lvl5pPr>
              <a:defRPr sz="2400"/>
            </a:lvl5pPr>
            <a:lvl6pPr>
              <a:defRPr sz="2133"/>
            </a:lvl6pPr>
            <a:lvl7pPr>
              <a:defRPr sz="2133"/>
            </a:lvl7pPr>
            <a:lvl8pPr>
              <a:defRPr sz="2133"/>
            </a:lvl8pPr>
            <a:lvl9pPr>
              <a:defRPr sz="2133"/>
            </a:lvl9p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7" name="Tijdelijke aanduiding voor datum 6"/>
          <p:cNvSpPr>
            <a:spLocks noGrp="1"/>
          </p:cNvSpPr>
          <p:nvPr>
            <p:ph type="dt" sz="half" idx="10"/>
          </p:nvPr>
        </p:nvSpPr>
        <p:spPr/>
        <p:txBody>
          <a:bodyPr/>
          <a:lstStyle/>
          <a:p>
            <a:fld id="{F10973AC-957D-C346-BA56-D82065FA2AEB}" type="datetimeFigureOut">
              <a:rPr lang="nl-NL" smtClean="0"/>
              <a:pPr/>
              <a:t>5-6-2022</a:t>
            </a:fld>
            <a:endParaRPr lang="nl-NL"/>
          </a:p>
        </p:txBody>
      </p:sp>
      <p:sp>
        <p:nvSpPr>
          <p:cNvPr id="8" name="Tijdelijke aanduiding voor voettekst 7"/>
          <p:cNvSpPr>
            <a:spLocks noGrp="1"/>
          </p:cNvSpPr>
          <p:nvPr>
            <p:ph type="ftr" sz="quarter" idx="11"/>
          </p:nvPr>
        </p:nvSpPr>
        <p:spPr/>
        <p:txBody>
          <a:bodyPr/>
          <a:lstStyle>
            <a:lvl1pPr>
              <a:defRPr>
                <a:solidFill>
                  <a:schemeClr val="accent5"/>
                </a:solidFill>
              </a:defRPr>
            </a:lvl1pPr>
          </a:lstStyle>
          <a:p>
            <a:endParaRPr lang="nl-NL"/>
          </a:p>
        </p:txBody>
      </p:sp>
      <p:sp>
        <p:nvSpPr>
          <p:cNvPr id="9" name="Tijdelijke aanduiding voor dianummer 8"/>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
        <p:nvSpPr>
          <p:cNvPr id="10" name="Tijdelijke aanduiding voor afbeelding 2"/>
          <p:cNvSpPr>
            <a:spLocks noGrp="1"/>
          </p:cNvSpPr>
          <p:nvPr>
            <p:ph type="pic" idx="13" hasCustomPrompt="1"/>
          </p:nvPr>
        </p:nvSpPr>
        <p:spPr>
          <a:xfrm>
            <a:off x="6191999" y="528000"/>
            <a:ext cx="5352000" cy="2448000"/>
          </a:xfrm>
          <a:solidFill>
            <a:schemeClr val="bg1">
              <a:lumMod val="85000"/>
            </a:schemeClr>
          </a:solidFill>
        </p:spPr>
        <p:txBody>
          <a:bodyPr tIns="180000"/>
          <a:lstStyle>
            <a:lvl1pPr marL="0" indent="0" algn="ctr">
              <a:buNone/>
              <a:defRPr sz="2133" baseline="0">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a:p>
            <a:endParaRPr lang="nl-NL"/>
          </a:p>
        </p:txBody>
      </p:sp>
      <p:sp>
        <p:nvSpPr>
          <p:cNvPr id="11" name="Tijdelijke aanduiding voor afbeelding 2"/>
          <p:cNvSpPr>
            <a:spLocks noGrp="1"/>
          </p:cNvSpPr>
          <p:nvPr>
            <p:ph type="pic" idx="14" hasCustomPrompt="1"/>
          </p:nvPr>
        </p:nvSpPr>
        <p:spPr>
          <a:xfrm>
            <a:off x="6191999" y="3168000"/>
            <a:ext cx="5352000" cy="2448000"/>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Tree>
    <p:extLst>
      <p:ext uri="{BB962C8B-B14F-4D97-AF65-F5344CB8AC3E}">
        <p14:creationId xmlns:p14="http://schemas.microsoft.com/office/powerpoint/2010/main" val="2028348334"/>
      </p:ext>
    </p:extLst>
  </p:cSld>
  <p:clrMapOvr>
    <a:overrideClrMapping bg1="lt1" tx1="dk1" bg2="lt2" tx2="dk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Alleen titel">
    <p:spTree>
      <p:nvGrpSpPr>
        <p:cNvPr id="1" name=""/>
        <p:cNvGrpSpPr/>
        <p:nvPr/>
      </p:nvGrpSpPr>
      <p:grpSpPr>
        <a:xfrm>
          <a:off x="0" y="0"/>
          <a:ext cx="0" cy="0"/>
          <a:chOff x="0" y="0"/>
          <a:chExt cx="0" cy="0"/>
        </a:xfrm>
      </p:grpSpPr>
      <p:sp>
        <p:nvSpPr>
          <p:cNvPr id="2" name="Titel 1"/>
          <p:cNvSpPr>
            <a:spLocks noGrp="1"/>
          </p:cNvSpPr>
          <p:nvPr>
            <p:ph type="title" hasCustomPrompt="1"/>
          </p:nvPr>
        </p:nvSpPr>
        <p:spPr/>
        <p:txBody>
          <a:bodyPr/>
          <a:lstStyle>
            <a:lvl1pPr>
              <a:defRPr>
                <a:solidFill>
                  <a:schemeClr val="accent5"/>
                </a:solidFill>
              </a:defRPr>
            </a:lvl1pPr>
          </a:lstStyle>
          <a:p>
            <a:r>
              <a:rPr lang="nl-NL" dirty="0"/>
              <a:t>Titel bewerken</a:t>
            </a:r>
          </a:p>
        </p:txBody>
      </p:sp>
      <p:sp>
        <p:nvSpPr>
          <p:cNvPr id="3" name="Tijdelijke aanduiding voor datum 2"/>
          <p:cNvSpPr>
            <a:spLocks noGrp="1"/>
          </p:cNvSpPr>
          <p:nvPr>
            <p:ph type="dt" sz="half" idx="10"/>
          </p:nvPr>
        </p:nvSpPr>
        <p:spPr/>
        <p:txBody>
          <a:bodyPr/>
          <a:lstStyle/>
          <a:p>
            <a:fld id="{F10973AC-957D-C346-BA56-D82065FA2AEB}" type="datetimeFigureOut">
              <a:rPr lang="nl-NL" smtClean="0"/>
              <a:pPr/>
              <a:t>5-6-2022</a:t>
            </a:fld>
            <a:endParaRPr lang="nl-NL"/>
          </a:p>
        </p:txBody>
      </p:sp>
      <p:sp>
        <p:nvSpPr>
          <p:cNvPr id="4" name="Tijdelijke aanduiding voor voettekst 3"/>
          <p:cNvSpPr>
            <a:spLocks noGrp="1"/>
          </p:cNvSpPr>
          <p:nvPr>
            <p:ph type="ftr" sz="quarter" idx="11"/>
          </p:nvPr>
        </p:nvSpPr>
        <p:spPr/>
        <p:txBody>
          <a:bodyPr/>
          <a:lstStyle>
            <a:lvl1pPr>
              <a:defRPr>
                <a:solidFill>
                  <a:schemeClr val="accent5"/>
                </a:solidFill>
              </a:defRPr>
            </a:lvl1pPr>
          </a:lstStyle>
          <a:p>
            <a:endParaRPr lang="nl-NL"/>
          </a:p>
        </p:txBody>
      </p:sp>
      <p:sp>
        <p:nvSpPr>
          <p:cNvPr id="5" name="Tijdelijke aanduiding voor dianummer 4"/>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38052538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Leeg">
    <p:spTree>
      <p:nvGrpSpPr>
        <p:cNvPr id="1" name=""/>
        <p:cNvGrpSpPr/>
        <p:nvPr/>
      </p:nvGrpSpPr>
      <p:grpSpPr>
        <a:xfrm>
          <a:off x="0" y="0"/>
          <a:ext cx="0" cy="0"/>
          <a:chOff x="0" y="0"/>
          <a:chExt cx="0" cy="0"/>
        </a:xfrm>
      </p:grpSpPr>
      <p:sp>
        <p:nvSpPr>
          <p:cNvPr id="2" name="Tijdelijke aanduiding voor datum 1"/>
          <p:cNvSpPr>
            <a:spLocks noGrp="1"/>
          </p:cNvSpPr>
          <p:nvPr>
            <p:ph type="dt" sz="half" idx="10"/>
          </p:nvPr>
        </p:nvSpPr>
        <p:spPr/>
        <p:txBody>
          <a:bodyPr/>
          <a:lstStyle/>
          <a:p>
            <a:fld id="{F10973AC-957D-C346-BA56-D82065FA2AEB}" type="datetimeFigureOut">
              <a:rPr lang="nl-NL" smtClean="0"/>
              <a:pPr/>
              <a:t>5-6-2022</a:t>
            </a:fld>
            <a:endParaRPr lang="nl-NL"/>
          </a:p>
        </p:txBody>
      </p:sp>
      <p:sp>
        <p:nvSpPr>
          <p:cNvPr id="3" name="Tijdelijke aanduiding voor voettekst 2"/>
          <p:cNvSpPr>
            <a:spLocks noGrp="1"/>
          </p:cNvSpPr>
          <p:nvPr>
            <p:ph type="ftr" sz="quarter" idx="11"/>
          </p:nvPr>
        </p:nvSpPr>
        <p:spPr/>
        <p:txBody>
          <a:bodyPr/>
          <a:lstStyle>
            <a:lvl1pPr>
              <a:defRPr>
                <a:solidFill>
                  <a:schemeClr val="accent5"/>
                </a:solidFill>
              </a:defRPr>
            </a:lvl1pPr>
          </a:lstStyle>
          <a:p>
            <a:endParaRPr lang="nl-NL"/>
          </a:p>
        </p:txBody>
      </p:sp>
      <p:sp>
        <p:nvSpPr>
          <p:cNvPr id="4" name="Tijdelijke aanduiding voor dianummer 3"/>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6855407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fbeelding met bijschrift">
    <p:bg>
      <p:bgRef idx="1001">
        <a:schemeClr val="bg1"/>
      </p:bgRef>
    </p:bg>
    <p:spTree>
      <p:nvGrpSpPr>
        <p:cNvPr id="1" name=""/>
        <p:cNvGrpSpPr/>
        <p:nvPr/>
      </p:nvGrpSpPr>
      <p:grpSpPr>
        <a:xfrm>
          <a:off x="0" y="0"/>
          <a:ext cx="0" cy="0"/>
          <a:chOff x="0" y="0"/>
          <a:chExt cx="0" cy="0"/>
        </a:xfrm>
      </p:grpSpPr>
      <p:sp>
        <p:nvSpPr>
          <p:cNvPr id="3" name="Tijdelijke aanduiding voor afbeelding 2"/>
          <p:cNvSpPr>
            <a:spLocks noGrp="1"/>
          </p:cNvSpPr>
          <p:nvPr>
            <p:ph type="pic" idx="1" hasCustomPrompt="1"/>
          </p:nvPr>
        </p:nvSpPr>
        <p:spPr>
          <a:xfrm>
            <a:off x="655367" y="1056001"/>
            <a:ext cx="10896000" cy="4558151"/>
          </a:xfrm>
          <a:solidFill>
            <a:schemeClr val="bg1">
              <a:lumMod val="85000"/>
            </a:schemeClr>
          </a:solidFill>
        </p:spPr>
        <p:txBody>
          <a:bodyPr tIns="180000"/>
          <a:lstStyle>
            <a:lvl1pPr marL="0" indent="0" algn="ctr">
              <a:buNone/>
              <a:defRPr sz="2133">
                <a:solidFill>
                  <a:schemeClr val="bg1">
                    <a:lumMod val="50000"/>
                  </a:schemeClr>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nl-NL"/>
              <a:t>Klik op het icoon om een foto</a:t>
            </a:r>
            <a:br>
              <a:rPr lang="nl-NL"/>
            </a:br>
            <a:r>
              <a:rPr lang="nl-NL"/>
              <a:t>toe te voegen</a:t>
            </a:r>
          </a:p>
        </p:txBody>
      </p:sp>
      <p:sp>
        <p:nvSpPr>
          <p:cNvPr id="2" name="Titel 1"/>
          <p:cNvSpPr>
            <a:spLocks noGrp="1"/>
          </p:cNvSpPr>
          <p:nvPr>
            <p:ph type="title" hasCustomPrompt="1"/>
          </p:nvPr>
        </p:nvSpPr>
        <p:spPr>
          <a:xfrm>
            <a:off x="655367" y="528000"/>
            <a:ext cx="10896000" cy="528000"/>
          </a:xfrm>
        </p:spPr>
        <p:txBody>
          <a:bodyPr anchor="t" anchorCtr="0"/>
          <a:lstStyle>
            <a:lvl1pPr algn="l">
              <a:lnSpc>
                <a:spcPts val="3333"/>
              </a:lnSpc>
              <a:defRPr sz="2667" b="1">
                <a:solidFill>
                  <a:schemeClr val="tx1"/>
                </a:solidFill>
                <a:latin typeface="+mj-lt"/>
              </a:defRPr>
            </a:lvl1pPr>
          </a:lstStyle>
          <a:p>
            <a:r>
              <a:rPr lang="nl-NL" dirty="0"/>
              <a:t>Titel bewerken</a:t>
            </a:r>
          </a:p>
        </p:txBody>
      </p:sp>
      <p:sp>
        <p:nvSpPr>
          <p:cNvPr id="5" name="Tijdelijke aanduiding voor datum 4"/>
          <p:cNvSpPr>
            <a:spLocks noGrp="1"/>
          </p:cNvSpPr>
          <p:nvPr>
            <p:ph type="dt" sz="half" idx="10"/>
          </p:nvPr>
        </p:nvSpPr>
        <p:spPr/>
        <p:txBody>
          <a:bodyPr/>
          <a:lstStyle/>
          <a:p>
            <a:fld id="{F10973AC-957D-C346-BA56-D82065FA2AEB}" type="datetimeFigureOut">
              <a:rPr lang="nl-NL" smtClean="0"/>
              <a:pPr/>
              <a:t>5-6-2022</a:t>
            </a:fld>
            <a:endParaRPr lang="nl-NL"/>
          </a:p>
        </p:txBody>
      </p:sp>
      <p:sp>
        <p:nvSpPr>
          <p:cNvPr id="6" name="Tijdelijke aanduiding voor voettekst 5"/>
          <p:cNvSpPr>
            <a:spLocks noGrp="1"/>
          </p:cNvSpPr>
          <p:nvPr>
            <p:ph type="ftr" sz="quarter" idx="11"/>
          </p:nvPr>
        </p:nvSpPr>
        <p:spPr/>
        <p:txBody>
          <a:bodyPr/>
          <a:lstStyle>
            <a:lvl1pPr>
              <a:defRPr>
                <a:solidFill>
                  <a:schemeClr val="accent5"/>
                </a:solidFill>
              </a:defRPr>
            </a:lvl1pPr>
          </a:lstStyle>
          <a:p>
            <a:endParaRPr lang="nl-NL"/>
          </a:p>
        </p:txBody>
      </p:sp>
      <p:sp>
        <p:nvSpPr>
          <p:cNvPr id="7" name="Tijdelijke aanduiding voor dianummer 6"/>
          <p:cNvSpPr>
            <a:spLocks noGrp="1"/>
          </p:cNvSpPr>
          <p:nvPr>
            <p:ph type="sldNum" sz="quarter" idx="12"/>
          </p:nvPr>
        </p:nvSpPr>
        <p:spPr/>
        <p:txBody>
          <a:bodyPr/>
          <a:lstStyle>
            <a:lvl1pPr>
              <a:defRPr>
                <a:solidFill>
                  <a:schemeClr val="accent5"/>
                </a:solidFill>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0876074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Afbeelding 7" descr="EU_Logo_Groen_300.png"/>
          <p:cNvPicPr>
            <a:picLocks noChangeAspect="1"/>
          </p:cNvPicPr>
          <p:nvPr/>
        </p:nvPicPr>
        <p:blipFill>
          <a:blip r:embed="rId13">
            <a:alphaModFix/>
          </a:blip>
          <a:stretch>
            <a:fillRect/>
          </a:stretch>
        </p:blipFill>
        <p:spPr>
          <a:xfrm>
            <a:off x="9744000" y="5731201"/>
            <a:ext cx="1910144" cy="768121"/>
          </a:xfrm>
          <a:prstGeom prst="rect">
            <a:avLst/>
          </a:prstGeom>
        </p:spPr>
      </p:pic>
      <p:sp>
        <p:nvSpPr>
          <p:cNvPr id="2" name="Tijdelijke aanduiding voor titel 1"/>
          <p:cNvSpPr>
            <a:spLocks noGrp="1"/>
          </p:cNvSpPr>
          <p:nvPr>
            <p:ph type="title"/>
          </p:nvPr>
        </p:nvSpPr>
        <p:spPr>
          <a:xfrm>
            <a:off x="655367" y="528000"/>
            <a:ext cx="10896000" cy="768000"/>
          </a:xfrm>
          <a:prstGeom prst="rect">
            <a:avLst/>
          </a:prstGeom>
        </p:spPr>
        <p:txBody>
          <a:bodyPr vert="horz" lIns="0" tIns="0" rIns="0" bIns="0" rtlCol="0" anchor="t" anchorCtr="0">
            <a:noAutofit/>
          </a:bodyPr>
          <a:lstStyle/>
          <a:p>
            <a:r>
              <a:rPr lang="nl-NL" dirty="0"/>
              <a:t>Titel bewerken</a:t>
            </a:r>
          </a:p>
        </p:txBody>
      </p:sp>
      <p:sp>
        <p:nvSpPr>
          <p:cNvPr id="3" name="Tijdelijke aanduiding voor tekst 2"/>
          <p:cNvSpPr>
            <a:spLocks noGrp="1"/>
          </p:cNvSpPr>
          <p:nvPr>
            <p:ph type="body" idx="1"/>
          </p:nvPr>
        </p:nvSpPr>
        <p:spPr>
          <a:xfrm>
            <a:off x="655365" y="1295401"/>
            <a:ext cx="10896000" cy="4464000"/>
          </a:xfrm>
          <a:prstGeom prst="rect">
            <a:avLst/>
          </a:prstGeom>
        </p:spPr>
        <p:txBody>
          <a:bodyPr vert="horz" lIns="0" tIns="0" rIns="0" bIns="0" rtlCol="0" anchor="t" anchorCtr="0">
            <a:noAutofit/>
          </a:bodyPr>
          <a:lstStyle/>
          <a:p>
            <a:pPr lvl="0"/>
            <a:r>
              <a:rPr lang="nl-NL" dirty="0"/>
              <a:t>Klik om de tekst te bewerken</a:t>
            </a:r>
          </a:p>
          <a:p>
            <a:pPr lvl="1"/>
            <a:r>
              <a:rPr lang="nl-NL" dirty="0"/>
              <a:t>Tweede niveau tekst</a:t>
            </a:r>
          </a:p>
          <a:p>
            <a:pPr lvl="2"/>
            <a:r>
              <a:rPr lang="nl-NL" dirty="0"/>
              <a:t>Derde niveau tekst</a:t>
            </a:r>
          </a:p>
          <a:p>
            <a:pPr lvl="3"/>
            <a:r>
              <a:rPr lang="nl-NL" dirty="0"/>
              <a:t>Vierde niveau tekst</a:t>
            </a:r>
          </a:p>
          <a:p>
            <a:pPr lvl="4"/>
            <a:r>
              <a:rPr lang="nl-NL" dirty="0"/>
              <a:t>Vijfde niveau tekst</a:t>
            </a:r>
          </a:p>
        </p:txBody>
      </p:sp>
      <p:sp>
        <p:nvSpPr>
          <p:cNvPr id="4" name="Tijdelijke aanduiding voor datum 3"/>
          <p:cNvSpPr>
            <a:spLocks noGrp="1"/>
          </p:cNvSpPr>
          <p:nvPr>
            <p:ph type="dt" sz="half" idx="2"/>
          </p:nvPr>
        </p:nvSpPr>
        <p:spPr>
          <a:xfrm>
            <a:off x="1089600" y="6217571"/>
            <a:ext cx="1008000" cy="240380"/>
          </a:xfrm>
          <a:prstGeom prst="rect">
            <a:avLst/>
          </a:prstGeom>
        </p:spPr>
        <p:txBody>
          <a:bodyPr vert="horz" lIns="0" tIns="0" rIns="0" bIns="0" rtlCol="0" anchor="t" anchorCtr="0">
            <a:noAutofit/>
          </a:bodyPr>
          <a:lstStyle>
            <a:lvl1pPr algn="l">
              <a:defRPr sz="1333">
                <a:solidFill>
                  <a:schemeClr val="tx1"/>
                </a:solidFill>
                <a:latin typeface="Museo Sans 100"/>
                <a:cs typeface="Museo Sans 100"/>
              </a:defRPr>
            </a:lvl1pPr>
          </a:lstStyle>
          <a:p>
            <a:fld id="{F10973AC-957D-C346-BA56-D82065FA2AEB}" type="datetimeFigureOut">
              <a:rPr lang="nl-NL" smtClean="0"/>
              <a:pPr/>
              <a:t>5-6-2022</a:t>
            </a:fld>
            <a:endParaRPr lang="nl-NL"/>
          </a:p>
        </p:txBody>
      </p:sp>
      <p:sp>
        <p:nvSpPr>
          <p:cNvPr id="5" name="Tijdelijke aanduiding voor voettekst 4"/>
          <p:cNvSpPr>
            <a:spLocks noGrp="1"/>
          </p:cNvSpPr>
          <p:nvPr>
            <p:ph type="ftr" sz="quarter" idx="3"/>
          </p:nvPr>
        </p:nvSpPr>
        <p:spPr>
          <a:xfrm>
            <a:off x="2097600" y="6217571"/>
            <a:ext cx="6803893"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endParaRPr lang="nl-NL"/>
          </a:p>
        </p:txBody>
      </p:sp>
      <p:sp>
        <p:nvSpPr>
          <p:cNvPr id="6" name="Tijdelijke aanduiding voor dianummer 5"/>
          <p:cNvSpPr>
            <a:spLocks noGrp="1"/>
          </p:cNvSpPr>
          <p:nvPr>
            <p:ph type="sldNum" sz="quarter" idx="4"/>
          </p:nvPr>
        </p:nvSpPr>
        <p:spPr>
          <a:xfrm>
            <a:off x="655367" y="6217571"/>
            <a:ext cx="432000" cy="240380"/>
          </a:xfrm>
          <a:prstGeom prst="rect">
            <a:avLst/>
          </a:prstGeom>
        </p:spPr>
        <p:txBody>
          <a:bodyPr vert="horz" lIns="0" tIns="0" rIns="0" bIns="0" rtlCol="0" anchor="t" anchorCtr="0">
            <a:noAutofit/>
          </a:bodyPr>
          <a:lstStyle>
            <a:lvl1pPr algn="l">
              <a:defRPr sz="1333" b="0" i="0">
                <a:solidFill>
                  <a:schemeClr val="accent5"/>
                </a:solidFill>
                <a:latin typeface="+mn-lt"/>
                <a:cs typeface="Museo Sans 500"/>
              </a:defRPr>
            </a:lvl1pPr>
          </a:lstStyle>
          <a:p>
            <a:fld id="{8C6BC05E-DB9A-EB4A-A776-575FA40369A3}" type="slidenum">
              <a:rPr lang="nl-NL" smtClean="0"/>
              <a:pPr/>
              <a:t>‹#›</a:t>
            </a:fld>
            <a:endParaRPr lang="nl-NL"/>
          </a:p>
        </p:txBody>
      </p:sp>
    </p:spTree>
    <p:extLst>
      <p:ext uri="{BB962C8B-B14F-4D97-AF65-F5344CB8AC3E}">
        <p14:creationId xmlns:p14="http://schemas.microsoft.com/office/powerpoint/2010/main" val="272353765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09585" rtl="0" eaLnBrk="1" latinLnBrk="0" hangingPunct="1">
        <a:lnSpc>
          <a:spcPts val="4267"/>
        </a:lnSpc>
        <a:spcBef>
          <a:spcPct val="0"/>
        </a:spcBef>
        <a:buNone/>
        <a:defRPr sz="3733" b="0" i="0" kern="1200">
          <a:solidFill>
            <a:schemeClr val="accent5"/>
          </a:solidFill>
          <a:latin typeface="+mj-lt"/>
          <a:ea typeface="+mj-ea"/>
          <a:cs typeface="Museo Sans 700"/>
        </a:defRPr>
      </a:lvl1pPr>
    </p:titleStyle>
    <p:bodyStyle>
      <a:lvl1pPr marL="287993"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1pPr>
      <a:lvl2pPr marL="575986"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2pPr>
      <a:lvl3pPr marL="863978"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3pPr>
      <a:lvl4pPr marL="1151971"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4pPr>
      <a:lvl5pPr marL="1439964" indent="-287993" algn="l" defTabSz="609585" rtl="0" eaLnBrk="1" latinLnBrk="0" hangingPunct="1">
        <a:lnSpc>
          <a:spcPts val="3067"/>
        </a:lnSpc>
        <a:spcBef>
          <a:spcPts val="0"/>
        </a:spcBef>
        <a:buSzPct val="130000"/>
        <a:buFont typeface="Arial"/>
        <a:buChar char="•"/>
        <a:defRPr sz="2400" b="0" i="0" kern="1200">
          <a:solidFill>
            <a:schemeClr val="tx1"/>
          </a:solidFill>
          <a:latin typeface="+mn-lt"/>
          <a:ea typeface="+mn-ea"/>
          <a:cs typeface="Museo Sans 500"/>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nl-NL"/>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sz="5867" dirty="0"/>
              <a:t>General </a:t>
            </a:r>
            <a:r>
              <a:rPr lang="nl-NL" sz="5867" dirty="0" err="1"/>
              <a:t>structure</a:t>
            </a:r>
            <a:r>
              <a:rPr lang="nl-NL" sz="5867" dirty="0"/>
              <a:t> </a:t>
            </a:r>
            <a:r>
              <a:rPr lang="nl-NL" sz="5867" dirty="0" err="1"/>
              <a:t>and</a:t>
            </a:r>
            <a:r>
              <a:rPr lang="nl-NL" sz="5867" dirty="0"/>
              <a:t> </a:t>
            </a:r>
            <a:r>
              <a:rPr lang="nl-NL" sz="5867" dirty="0" err="1"/>
              <a:t>cohesion</a:t>
            </a:r>
            <a:endParaRPr lang="nl-NL" sz="5867" dirty="0"/>
          </a:p>
        </p:txBody>
      </p:sp>
      <p:sp>
        <p:nvSpPr>
          <p:cNvPr id="3" name="Subtitel 2"/>
          <p:cNvSpPr>
            <a:spLocks noGrp="1"/>
          </p:cNvSpPr>
          <p:nvPr>
            <p:ph type="subTitle" idx="1"/>
          </p:nvPr>
        </p:nvSpPr>
        <p:spPr>
          <a:xfrm>
            <a:off x="655369" y="3731795"/>
            <a:ext cx="7921367" cy="1818773"/>
          </a:xfrm>
        </p:spPr>
        <p:txBody>
          <a:bodyPr/>
          <a:lstStyle/>
          <a:p>
            <a:endParaRPr lang="nl-NL" sz="3733" dirty="0">
              <a:solidFill>
                <a:schemeClr val="accent6">
                  <a:lumMod val="60000"/>
                  <a:lumOff val="40000"/>
                </a:schemeClr>
              </a:solidFill>
            </a:endParaRPr>
          </a:p>
          <a:p>
            <a:endParaRPr lang="nl-NL" sz="3733" dirty="0">
              <a:solidFill>
                <a:schemeClr val="accent6">
                  <a:lumMod val="60000"/>
                  <a:lumOff val="40000"/>
                </a:schemeClr>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nl-NL" sz="3600" dirty="0"/>
              <a:t>General </a:t>
            </a:r>
            <a:r>
              <a:rPr lang="en-US" sz="3600" dirty="0"/>
              <a:t>structure literature </a:t>
            </a:r>
            <a:r>
              <a:rPr lang="nl-NL" sz="3600" dirty="0"/>
              <a:t>report </a:t>
            </a:r>
          </a:p>
        </p:txBody>
      </p:sp>
      <p:sp>
        <p:nvSpPr>
          <p:cNvPr id="8" name="TextBox 7"/>
          <p:cNvSpPr txBox="1"/>
          <p:nvPr/>
        </p:nvSpPr>
        <p:spPr>
          <a:xfrm>
            <a:off x="2516375" y="1875835"/>
            <a:ext cx="3194756" cy="923330"/>
          </a:xfrm>
          <a:prstGeom prst="rect">
            <a:avLst/>
          </a:prstGeom>
          <a:noFill/>
        </p:spPr>
        <p:txBody>
          <a:bodyPr wrap="square" rtlCol="0">
            <a:spAutoFit/>
          </a:bodyPr>
          <a:lstStyle/>
          <a:p>
            <a:pPr defTabSz="609585"/>
            <a:r>
              <a:rPr lang="nl-NL" noProof="1">
                <a:solidFill>
                  <a:srgbClr val="002328"/>
                </a:solidFill>
                <a:latin typeface="Museo Sans 500"/>
              </a:rPr>
              <a:t>Funnel shape: from a wide context to a specific question</a:t>
            </a:r>
          </a:p>
        </p:txBody>
      </p:sp>
      <p:sp>
        <p:nvSpPr>
          <p:cNvPr id="9" name="TextBox 8"/>
          <p:cNvSpPr txBox="1"/>
          <p:nvPr/>
        </p:nvSpPr>
        <p:spPr>
          <a:xfrm>
            <a:off x="2516376" y="3018875"/>
            <a:ext cx="3082681" cy="1200329"/>
          </a:xfrm>
          <a:prstGeom prst="rect">
            <a:avLst/>
          </a:prstGeom>
          <a:noFill/>
        </p:spPr>
        <p:txBody>
          <a:bodyPr wrap="square" rtlCol="0">
            <a:spAutoFit/>
          </a:bodyPr>
          <a:lstStyle/>
          <a:p>
            <a:pPr defTabSz="609585"/>
            <a:r>
              <a:rPr lang="en-US" dirty="0">
                <a:solidFill>
                  <a:srgbClr val="002328"/>
                </a:solidFill>
                <a:latin typeface="Museo Sans 500"/>
              </a:rPr>
              <a:t>Subtopics:</a:t>
            </a:r>
          </a:p>
          <a:p>
            <a:pPr defTabSz="609585"/>
            <a:r>
              <a:rPr lang="en-US" dirty="0">
                <a:solidFill>
                  <a:srgbClr val="002328"/>
                </a:solidFill>
                <a:latin typeface="Museo Sans 500"/>
              </a:rPr>
              <a:t>-of a similar size</a:t>
            </a:r>
          </a:p>
          <a:p>
            <a:pPr defTabSz="609585"/>
            <a:r>
              <a:rPr lang="en-US" dirty="0">
                <a:solidFill>
                  <a:srgbClr val="002328"/>
                </a:solidFill>
                <a:latin typeface="Museo Sans 500"/>
              </a:rPr>
              <a:t>-form a unit</a:t>
            </a:r>
          </a:p>
          <a:p>
            <a:pPr defTabSz="609585"/>
            <a:r>
              <a:rPr lang="en-US" dirty="0">
                <a:solidFill>
                  <a:srgbClr val="002328"/>
                </a:solidFill>
                <a:latin typeface="Museo Sans 500"/>
              </a:rPr>
              <a:t>-answer the question </a:t>
            </a:r>
          </a:p>
        </p:txBody>
      </p:sp>
      <p:sp>
        <p:nvSpPr>
          <p:cNvPr id="10" name="TextBox 9"/>
          <p:cNvSpPr txBox="1"/>
          <p:nvPr/>
        </p:nvSpPr>
        <p:spPr>
          <a:xfrm>
            <a:off x="2573981" y="4872282"/>
            <a:ext cx="3194756" cy="1477328"/>
          </a:xfrm>
          <a:prstGeom prst="rect">
            <a:avLst/>
          </a:prstGeom>
          <a:noFill/>
        </p:spPr>
        <p:txBody>
          <a:bodyPr wrap="square" rtlCol="0">
            <a:spAutoFit/>
          </a:bodyPr>
          <a:lstStyle/>
          <a:p>
            <a:pPr defTabSz="609585"/>
            <a:r>
              <a:rPr lang="en-US" dirty="0">
                <a:solidFill>
                  <a:srgbClr val="002328"/>
                </a:solidFill>
                <a:latin typeface="Museo Sans 500"/>
              </a:rPr>
              <a:t>Inverted funnel shape: from an answer to the question to the wider debate about the findings</a:t>
            </a:r>
          </a:p>
          <a:p>
            <a:pPr defTabSz="609585"/>
            <a:endParaRPr lang="nl-NL" dirty="0">
              <a:solidFill>
                <a:srgbClr val="002328"/>
              </a:solidFill>
              <a:latin typeface="Museo Sans 500"/>
            </a:endParaRPr>
          </a:p>
        </p:txBody>
      </p:sp>
      <p:sp>
        <p:nvSpPr>
          <p:cNvPr id="3" name="Rectangle 2"/>
          <p:cNvSpPr/>
          <p:nvPr/>
        </p:nvSpPr>
        <p:spPr>
          <a:xfrm>
            <a:off x="713758" y="3398868"/>
            <a:ext cx="1860223" cy="310968"/>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defTabSz="609585"/>
            <a:endParaRPr lang="nl-NL" sz="2400">
              <a:solidFill>
                <a:srgbClr val="002328"/>
              </a:solidFill>
              <a:latin typeface="Museo Sans 500"/>
            </a:endParaRPr>
          </a:p>
        </p:txBody>
      </p:sp>
      <p:sp>
        <p:nvSpPr>
          <p:cNvPr id="14" name="Rectangle 13"/>
          <p:cNvSpPr/>
          <p:nvPr/>
        </p:nvSpPr>
        <p:spPr>
          <a:xfrm>
            <a:off x="793892" y="2999269"/>
            <a:ext cx="1219200" cy="1640623"/>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09585"/>
            <a:endParaRPr lang="nl-NL" sz="2400">
              <a:solidFill>
                <a:prstClr val="white"/>
              </a:solidFill>
              <a:latin typeface="Museo Sans 500"/>
            </a:endParaRPr>
          </a:p>
        </p:txBody>
      </p:sp>
      <p:sp>
        <p:nvSpPr>
          <p:cNvPr id="15" name="Flowchart: Manual Operation 14"/>
          <p:cNvSpPr/>
          <p:nvPr/>
        </p:nvSpPr>
        <p:spPr>
          <a:xfrm>
            <a:off x="414777" y="1805257"/>
            <a:ext cx="1985915" cy="981844"/>
          </a:xfrm>
          <a:prstGeom prst="flowChartManualOperation">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09585"/>
            <a:endParaRPr lang="nl-NL" sz="2400">
              <a:solidFill>
                <a:prstClr val="white"/>
              </a:solidFill>
              <a:latin typeface="Museo Sans 500"/>
            </a:endParaRPr>
          </a:p>
        </p:txBody>
      </p:sp>
      <p:pic>
        <p:nvPicPr>
          <p:cNvPr id="19" name="Content Placeholder 18"/>
          <p:cNvPicPr>
            <a:picLocks noGrp="1" noChangeAspect="1"/>
          </p:cNvPicPr>
          <p:nvPr>
            <p:ph idx="1"/>
          </p:nvPr>
        </p:nvPicPr>
        <p:blipFill>
          <a:blip r:embed="rId3"/>
          <a:stretch>
            <a:fillRect/>
          </a:stretch>
        </p:blipFill>
        <p:spPr>
          <a:xfrm rot="10800000">
            <a:off x="384774" y="4825985"/>
            <a:ext cx="2015919" cy="1007960"/>
          </a:xfrm>
          <a:prstGeom prst="rect">
            <a:avLst/>
          </a:prstGeom>
        </p:spPr>
      </p:pic>
      <p:sp>
        <p:nvSpPr>
          <p:cNvPr id="20" name="TextBox 19"/>
          <p:cNvSpPr txBox="1"/>
          <p:nvPr/>
        </p:nvSpPr>
        <p:spPr>
          <a:xfrm>
            <a:off x="713758" y="2017425"/>
            <a:ext cx="1492071" cy="338554"/>
          </a:xfrm>
          <a:prstGeom prst="rect">
            <a:avLst/>
          </a:prstGeom>
          <a:noFill/>
        </p:spPr>
        <p:txBody>
          <a:bodyPr wrap="square" rtlCol="0">
            <a:spAutoFit/>
          </a:bodyPr>
          <a:lstStyle/>
          <a:p>
            <a:pPr defTabSz="609585"/>
            <a:r>
              <a:rPr lang="en-US" sz="1600" dirty="0">
                <a:solidFill>
                  <a:srgbClr val="002328"/>
                </a:solidFill>
                <a:latin typeface="Museo Sans 500"/>
              </a:rPr>
              <a:t>Introduction</a:t>
            </a:r>
            <a:endParaRPr lang="nl-NL" sz="1600" dirty="0">
              <a:solidFill>
                <a:srgbClr val="002328"/>
              </a:solidFill>
              <a:latin typeface="Museo Sans 500"/>
            </a:endParaRPr>
          </a:p>
        </p:txBody>
      </p:sp>
      <p:sp>
        <p:nvSpPr>
          <p:cNvPr id="21" name="TextBox 20"/>
          <p:cNvSpPr txBox="1"/>
          <p:nvPr/>
        </p:nvSpPr>
        <p:spPr>
          <a:xfrm>
            <a:off x="713758" y="3534231"/>
            <a:ext cx="1492071" cy="338554"/>
          </a:xfrm>
          <a:prstGeom prst="rect">
            <a:avLst/>
          </a:prstGeom>
          <a:noFill/>
        </p:spPr>
        <p:txBody>
          <a:bodyPr wrap="square" rtlCol="0">
            <a:spAutoFit/>
          </a:bodyPr>
          <a:lstStyle/>
          <a:p>
            <a:pPr defTabSz="609585"/>
            <a:r>
              <a:rPr lang="en-US" sz="1600" dirty="0">
                <a:solidFill>
                  <a:srgbClr val="002328"/>
                </a:solidFill>
                <a:latin typeface="Museo Sans 500"/>
              </a:rPr>
              <a:t>Main body </a:t>
            </a:r>
            <a:endParaRPr lang="nl-NL" sz="1600" dirty="0">
              <a:solidFill>
                <a:srgbClr val="002328"/>
              </a:solidFill>
              <a:latin typeface="Museo Sans 500"/>
            </a:endParaRPr>
          </a:p>
        </p:txBody>
      </p:sp>
      <p:sp>
        <p:nvSpPr>
          <p:cNvPr id="22" name="TextBox 21"/>
          <p:cNvSpPr txBox="1"/>
          <p:nvPr/>
        </p:nvSpPr>
        <p:spPr>
          <a:xfrm>
            <a:off x="789628" y="5115778"/>
            <a:ext cx="1200970" cy="338554"/>
          </a:xfrm>
          <a:prstGeom prst="rect">
            <a:avLst/>
          </a:prstGeom>
          <a:noFill/>
        </p:spPr>
        <p:txBody>
          <a:bodyPr wrap="none" rtlCol="0">
            <a:spAutoFit/>
          </a:bodyPr>
          <a:lstStyle/>
          <a:p>
            <a:pPr defTabSz="609585"/>
            <a:r>
              <a:rPr lang="en-US" sz="1600" dirty="0">
                <a:solidFill>
                  <a:srgbClr val="002328"/>
                </a:solidFill>
                <a:latin typeface="Museo Sans 500"/>
              </a:rPr>
              <a:t>Discussion</a:t>
            </a:r>
            <a:endParaRPr lang="nl-NL" sz="1600" dirty="0">
              <a:solidFill>
                <a:srgbClr val="002328"/>
              </a:solidFill>
              <a:latin typeface="Museo Sans 500"/>
            </a:endParaRPr>
          </a:p>
        </p:txBody>
      </p:sp>
      <p:sp>
        <p:nvSpPr>
          <p:cNvPr id="24" name="Right Arrow 23"/>
          <p:cNvSpPr/>
          <p:nvPr/>
        </p:nvSpPr>
        <p:spPr>
          <a:xfrm>
            <a:off x="5768736" y="1891300"/>
            <a:ext cx="1304544" cy="646176"/>
          </a:xfrm>
          <a:prstGeom prst="rightArrow">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defTabSz="609585"/>
            <a:endParaRPr lang="nl-NL" sz="2400">
              <a:solidFill>
                <a:prstClr val="white"/>
              </a:solidFill>
              <a:latin typeface="Museo Sans 500"/>
            </a:endParaRPr>
          </a:p>
        </p:txBody>
      </p:sp>
      <p:pic>
        <p:nvPicPr>
          <p:cNvPr id="27" name="Picture 26"/>
          <p:cNvPicPr>
            <a:picLocks noChangeAspect="1"/>
          </p:cNvPicPr>
          <p:nvPr/>
        </p:nvPicPr>
        <p:blipFill>
          <a:blip r:embed="rId4"/>
          <a:stretch>
            <a:fillRect/>
          </a:stretch>
        </p:blipFill>
        <p:spPr>
          <a:xfrm>
            <a:off x="5711131" y="3246785"/>
            <a:ext cx="1341236" cy="731584"/>
          </a:xfrm>
          <a:prstGeom prst="rect">
            <a:avLst/>
          </a:prstGeom>
        </p:spPr>
      </p:pic>
      <p:pic>
        <p:nvPicPr>
          <p:cNvPr id="28" name="Picture 27"/>
          <p:cNvPicPr>
            <a:picLocks noChangeAspect="1"/>
          </p:cNvPicPr>
          <p:nvPr/>
        </p:nvPicPr>
        <p:blipFill>
          <a:blip r:embed="rId4"/>
          <a:stretch>
            <a:fillRect/>
          </a:stretch>
        </p:blipFill>
        <p:spPr>
          <a:xfrm>
            <a:off x="5711130" y="4825985"/>
            <a:ext cx="1341236" cy="731584"/>
          </a:xfrm>
          <a:prstGeom prst="rect">
            <a:avLst/>
          </a:prstGeom>
        </p:spPr>
      </p:pic>
      <p:sp>
        <p:nvSpPr>
          <p:cNvPr id="29" name="TextBox 28"/>
          <p:cNvSpPr txBox="1"/>
          <p:nvPr/>
        </p:nvSpPr>
        <p:spPr>
          <a:xfrm>
            <a:off x="7073280" y="1891300"/>
            <a:ext cx="4188278" cy="1241622"/>
          </a:xfrm>
          <a:prstGeom prst="rect">
            <a:avLst/>
          </a:prstGeom>
          <a:noFill/>
        </p:spPr>
        <p:txBody>
          <a:bodyPr wrap="square" rtlCol="0">
            <a:spAutoFit/>
          </a:bodyPr>
          <a:lstStyle/>
          <a:p>
            <a:pPr marL="228594" indent="-228594" defTabSz="609585">
              <a:buFont typeface="Arial" panose="020B0604020202020204" pitchFamily="34" charset="0"/>
              <a:buChar char="•"/>
            </a:pPr>
            <a:r>
              <a:rPr lang="en-US" sz="1867" dirty="0">
                <a:solidFill>
                  <a:srgbClr val="002328"/>
                </a:solidFill>
                <a:latin typeface="Museo Sans 500"/>
              </a:rPr>
              <a:t>Introduction subject</a:t>
            </a:r>
          </a:p>
          <a:p>
            <a:pPr marL="228594" indent="-228594" defTabSz="609585">
              <a:buFont typeface="Arial" panose="020B0604020202020204" pitchFamily="34" charset="0"/>
              <a:buChar char="•"/>
            </a:pPr>
            <a:r>
              <a:rPr lang="en-US" sz="1867" dirty="0">
                <a:solidFill>
                  <a:srgbClr val="002328"/>
                </a:solidFill>
                <a:latin typeface="Museo Sans 500"/>
              </a:rPr>
              <a:t>Theoretical framework/Relevance</a:t>
            </a:r>
          </a:p>
          <a:p>
            <a:pPr marL="228594" indent="-228594" defTabSz="609585">
              <a:buFont typeface="Arial" panose="020B0604020202020204" pitchFamily="34" charset="0"/>
              <a:buChar char="•"/>
            </a:pPr>
            <a:r>
              <a:rPr lang="en-US" sz="1867" dirty="0">
                <a:solidFill>
                  <a:srgbClr val="002328"/>
                </a:solidFill>
                <a:latin typeface="Museo Sans 500"/>
              </a:rPr>
              <a:t>Central question</a:t>
            </a:r>
          </a:p>
          <a:p>
            <a:pPr marL="228594" indent="-228594" defTabSz="609585">
              <a:buFont typeface="Arial" panose="020B0604020202020204" pitchFamily="34" charset="0"/>
              <a:buChar char="•"/>
            </a:pPr>
            <a:r>
              <a:rPr lang="en-US" sz="1867" dirty="0">
                <a:solidFill>
                  <a:srgbClr val="002328"/>
                </a:solidFill>
                <a:latin typeface="Museo Sans 500"/>
              </a:rPr>
              <a:t>Structure (sub-questions)</a:t>
            </a:r>
          </a:p>
        </p:txBody>
      </p:sp>
      <p:sp>
        <p:nvSpPr>
          <p:cNvPr id="30" name="TextBox 29"/>
          <p:cNvSpPr txBox="1"/>
          <p:nvPr/>
        </p:nvSpPr>
        <p:spPr>
          <a:xfrm>
            <a:off x="7073280" y="3321160"/>
            <a:ext cx="3861813" cy="954300"/>
          </a:xfrm>
          <a:prstGeom prst="rect">
            <a:avLst/>
          </a:prstGeom>
          <a:noFill/>
        </p:spPr>
        <p:txBody>
          <a:bodyPr wrap="square" rtlCol="0">
            <a:spAutoFit/>
          </a:bodyPr>
          <a:lstStyle/>
          <a:p>
            <a:pPr marL="228594" indent="-228594" defTabSz="609585">
              <a:buFont typeface="Arial" panose="020B0604020202020204" pitchFamily="34" charset="0"/>
              <a:buChar char="•"/>
            </a:pPr>
            <a:r>
              <a:rPr lang="en-US" sz="1867" dirty="0">
                <a:solidFill>
                  <a:srgbClr val="002328"/>
                </a:solidFill>
                <a:latin typeface="Museo Sans 500"/>
              </a:rPr>
              <a:t>Answering of question, </a:t>
            </a:r>
          </a:p>
          <a:p>
            <a:pPr marL="228594" indent="-228594" defTabSz="609585">
              <a:buFont typeface="Arial" panose="020B0604020202020204" pitchFamily="34" charset="0"/>
              <a:buChar char="•"/>
            </a:pPr>
            <a:r>
              <a:rPr lang="en-US" sz="1867" dirty="0">
                <a:solidFill>
                  <a:srgbClr val="002328"/>
                </a:solidFill>
                <a:latin typeface="Museo Sans 500"/>
              </a:rPr>
              <a:t>Discussion of studies</a:t>
            </a:r>
          </a:p>
          <a:p>
            <a:pPr marL="228594" indent="-228594" defTabSz="609585">
              <a:buFont typeface="Arial" panose="020B0604020202020204" pitchFamily="34" charset="0"/>
              <a:buChar char="•"/>
            </a:pPr>
            <a:r>
              <a:rPr lang="en-US" sz="1867" dirty="0">
                <a:solidFill>
                  <a:srgbClr val="002328"/>
                </a:solidFill>
                <a:latin typeface="Museo Sans 500"/>
              </a:rPr>
              <a:t>arguments, conclusion</a:t>
            </a:r>
          </a:p>
        </p:txBody>
      </p:sp>
      <p:sp>
        <p:nvSpPr>
          <p:cNvPr id="31" name="TextBox 30"/>
          <p:cNvSpPr txBox="1"/>
          <p:nvPr/>
        </p:nvSpPr>
        <p:spPr>
          <a:xfrm>
            <a:off x="7073280" y="4733782"/>
            <a:ext cx="4578249" cy="2103589"/>
          </a:xfrm>
          <a:prstGeom prst="rect">
            <a:avLst/>
          </a:prstGeom>
          <a:noFill/>
        </p:spPr>
        <p:txBody>
          <a:bodyPr wrap="square" rtlCol="0">
            <a:spAutoFit/>
          </a:bodyPr>
          <a:lstStyle/>
          <a:p>
            <a:pPr marL="228594" indent="-228594" defTabSz="609585">
              <a:buFont typeface="Arial" panose="020B0604020202020204" pitchFamily="34" charset="0"/>
              <a:buChar char="•"/>
            </a:pPr>
            <a:r>
              <a:rPr lang="en-US" sz="1867" dirty="0">
                <a:solidFill>
                  <a:srgbClr val="002328"/>
                </a:solidFill>
                <a:latin typeface="Museo Sans 500"/>
              </a:rPr>
              <a:t>Repetition central question</a:t>
            </a:r>
          </a:p>
          <a:p>
            <a:pPr marL="228594" indent="-228594" defTabSz="609585">
              <a:buFont typeface="Arial" panose="020B0604020202020204" pitchFamily="34" charset="0"/>
              <a:buChar char="•"/>
            </a:pPr>
            <a:r>
              <a:rPr lang="en-US" sz="1867" dirty="0">
                <a:solidFill>
                  <a:srgbClr val="002328"/>
                </a:solidFill>
                <a:latin typeface="Museo Sans 500"/>
              </a:rPr>
              <a:t>Summary of sub-conclusions</a:t>
            </a:r>
          </a:p>
          <a:p>
            <a:pPr marL="228594" indent="-228594" defTabSz="609585">
              <a:buFont typeface="Arial" panose="020B0604020202020204" pitchFamily="34" charset="0"/>
              <a:buChar char="•"/>
            </a:pPr>
            <a:r>
              <a:rPr lang="en-US" sz="1867" dirty="0">
                <a:solidFill>
                  <a:srgbClr val="002328"/>
                </a:solidFill>
                <a:latin typeface="Museo Sans 500"/>
              </a:rPr>
              <a:t>Main conclusion</a:t>
            </a:r>
          </a:p>
          <a:p>
            <a:pPr marL="228594" indent="-228594" defTabSz="609585">
              <a:buFont typeface="Arial" panose="020B0604020202020204" pitchFamily="34" charset="0"/>
              <a:buChar char="•"/>
            </a:pPr>
            <a:r>
              <a:rPr lang="en-US" sz="1867" dirty="0">
                <a:solidFill>
                  <a:srgbClr val="002328"/>
                </a:solidFill>
                <a:latin typeface="Museo Sans 500"/>
              </a:rPr>
              <a:t>Limitations/explanations/suggestions for follow-up research </a:t>
            </a:r>
          </a:p>
          <a:p>
            <a:pPr marL="228594" indent="-228594" defTabSz="609585">
              <a:buFont typeface="Arial" panose="020B0604020202020204" pitchFamily="34" charset="0"/>
              <a:buChar char="•"/>
            </a:pPr>
            <a:r>
              <a:rPr lang="en-US" sz="1867" dirty="0">
                <a:solidFill>
                  <a:srgbClr val="002328"/>
                </a:solidFill>
                <a:latin typeface="Museo Sans 500"/>
              </a:rPr>
              <a:t>Implications for science                   and practice </a:t>
            </a:r>
          </a:p>
        </p:txBody>
      </p:sp>
    </p:spTree>
    <p:extLst>
      <p:ext uri="{BB962C8B-B14F-4D97-AF65-F5344CB8AC3E}">
        <p14:creationId xmlns:p14="http://schemas.microsoft.com/office/powerpoint/2010/main" val="28021782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67" y="527999"/>
            <a:ext cx="10896000" cy="990652"/>
          </a:xfrm>
        </p:spPr>
        <p:txBody>
          <a:bodyPr/>
          <a:lstStyle/>
          <a:p>
            <a:r>
              <a:rPr lang="en-US" dirty="0"/>
              <a:t>General structure </a:t>
            </a:r>
            <a:br>
              <a:rPr lang="en-US" dirty="0"/>
            </a:br>
            <a:r>
              <a:rPr lang="en-US" sz="3200" dirty="0"/>
              <a:t>Assessment criteria Rubric</a:t>
            </a:r>
            <a:endParaRPr lang="en-US" dirty="0"/>
          </a:p>
        </p:txBody>
      </p:sp>
      <p:sp>
        <p:nvSpPr>
          <p:cNvPr id="3" name="Content Placeholder 2"/>
          <p:cNvSpPr>
            <a:spLocks noGrp="1"/>
          </p:cNvSpPr>
          <p:nvPr>
            <p:ph idx="1"/>
          </p:nvPr>
        </p:nvSpPr>
        <p:spPr>
          <a:xfrm>
            <a:off x="655367" y="1541379"/>
            <a:ext cx="10896000" cy="4464000"/>
          </a:xfrm>
        </p:spPr>
        <p:txBody>
          <a:bodyPr/>
          <a:lstStyle/>
          <a:p>
            <a:pPr marL="0" indent="0">
              <a:lnSpc>
                <a:spcPct val="90000"/>
              </a:lnSpc>
              <a:buNone/>
            </a:pPr>
            <a:endParaRPr lang="en-US" altLang="nl-NL" dirty="0"/>
          </a:p>
          <a:p>
            <a:pPr>
              <a:lnSpc>
                <a:spcPct val="90000"/>
              </a:lnSpc>
            </a:pPr>
            <a:r>
              <a:rPr lang="en-US" altLang="nl-NL" dirty="0"/>
              <a:t>The report contains all relevant components, and these are substantively connected</a:t>
            </a:r>
          </a:p>
          <a:p>
            <a:pPr>
              <a:lnSpc>
                <a:spcPct val="90000"/>
              </a:lnSpc>
            </a:pPr>
            <a:r>
              <a:rPr lang="en-US" altLang="nl-NL" dirty="0"/>
              <a:t>Report is structured according to the ‘Hourglass Model’ </a:t>
            </a:r>
          </a:p>
          <a:p>
            <a:pPr>
              <a:lnSpc>
                <a:spcPct val="90000"/>
              </a:lnSpc>
            </a:pPr>
            <a:r>
              <a:rPr lang="en-US" altLang="nl-NL" dirty="0"/>
              <a:t>The title and headings clearly reflect the content</a:t>
            </a:r>
          </a:p>
          <a:p>
            <a:pPr>
              <a:lnSpc>
                <a:spcPct val="90000"/>
              </a:lnSpc>
            </a:pPr>
            <a:r>
              <a:rPr lang="en-US" altLang="nl-NL" dirty="0"/>
              <a:t>Proper paragraph structuring (one topic per paragraph, not too short or too long and of comparable length)</a:t>
            </a:r>
          </a:p>
          <a:p>
            <a:pPr>
              <a:lnSpc>
                <a:spcPct val="90000"/>
              </a:lnSpc>
            </a:pPr>
            <a:r>
              <a:rPr lang="en-US" altLang="nl-NL" dirty="0"/>
              <a:t>Paragraphs are logically structured (introduction or transitional sentence, subject/core, conclusion)</a:t>
            </a:r>
          </a:p>
          <a:p>
            <a:pPr>
              <a:lnSpc>
                <a:spcPct val="90000"/>
              </a:lnSpc>
            </a:pPr>
            <a:r>
              <a:rPr lang="en-US" altLang="nl-NL" dirty="0"/>
              <a:t>Paragraphs have a prober order that shows a clear and logical line of reasoning</a:t>
            </a:r>
          </a:p>
        </p:txBody>
      </p:sp>
    </p:spTree>
    <p:extLst>
      <p:ext uri="{BB962C8B-B14F-4D97-AF65-F5344CB8AC3E}">
        <p14:creationId xmlns:p14="http://schemas.microsoft.com/office/powerpoint/2010/main" val="19733270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Pitfalls</a:t>
            </a:r>
          </a:p>
        </p:txBody>
      </p:sp>
      <p:sp>
        <p:nvSpPr>
          <p:cNvPr id="3" name="Content Placeholder 2"/>
          <p:cNvSpPr>
            <a:spLocks noGrp="1"/>
          </p:cNvSpPr>
          <p:nvPr>
            <p:ph idx="1"/>
          </p:nvPr>
        </p:nvSpPr>
        <p:spPr/>
        <p:txBody>
          <a:bodyPr/>
          <a:lstStyle/>
          <a:p>
            <a:pPr>
              <a:buClrTx/>
              <a:buFont typeface="Arial" panose="020B0604020202020204" pitchFamily="34" charset="0"/>
              <a:buChar char="•"/>
            </a:pPr>
            <a:endParaRPr lang="nl-NL" sz="2800" dirty="0"/>
          </a:p>
          <a:p>
            <a:pPr>
              <a:buClrTx/>
              <a:buFont typeface="Arial" panose="020B0604020202020204" pitchFamily="34" charset="0"/>
              <a:buChar char="•"/>
            </a:pPr>
            <a:r>
              <a:rPr lang="nl-NL" sz="2800" dirty="0"/>
              <a:t>No </a:t>
            </a:r>
            <a:r>
              <a:rPr lang="nl-NL" sz="2800" dirty="0" err="1"/>
              <a:t>clear</a:t>
            </a:r>
            <a:r>
              <a:rPr lang="nl-NL" sz="2800" dirty="0"/>
              <a:t> </a:t>
            </a:r>
            <a:r>
              <a:rPr lang="nl-NL" sz="2800" dirty="0" err="1"/>
              <a:t>answers</a:t>
            </a:r>
            <a:r>
              <a:rPr lang="nl-NL" sz="2800" dirty="0"/>
              <a:t> </a:t>
            </a:r>
            <a:r>
              <a:rPr lang="nl-NL" sz="2800" dirty="0" err="1"/>
              <a:t>to</a:t>
            </a:r>
            <a:r>
              <a:rPr lang="nl-NL" sz="2800" dirty="0"/>
              <a:t> </a:t>
            </a:r>
            <a:r>
              <a:rPr lang="nl-NL" sz="2800" dirty="0" err="1"/>
              <a:t>the</a:t>
            </a:r>
            <a:r>
              <a:rPr lang="nl-NL" sz="2800" dirty="0"/>
              <a:t> question, i.e.:</a:t>
            </a:r>
          </a:p>
          <a:p>
            <a:pPr lvl="2">
              <a:buFont typeface="Arial" panose="020B0604020202020204" pitchFamily="34" charset="0"/>
              <a:buChar char="•"/>
            </a:pPr>
            <a:r>
              <a:rPr lang="nl-NL" sz="2800" dirty="0"/>
              <a:t>Information </a:t>
            </a:r>
            <a:r>
              <a:rPr lang="nl-NL" sz="2800" dirty="0" err="1"/>
              <a:t>lacks</a:t>
            </a:r>
            <a:r>
              <a:rPr lang="nl-NL" sz="2800" dirty="0"/>
              <a:t> </a:t>
            </a:r>
            <a:r>
              <a:rPr lang="nl-NL" sz="2800" dirty="0" err="1"/>
              <a:t>relevance</a:t>
            </a:r>
            <a:r>
              <a:rPr lang="nl-NL" sz="2800" dirty="0"/>
              <a:t> &gt; mismatch question/information </a:t>
            </a:r>
            <a:r>
              <a:rPr lang="nl-NL" sz="2800" dirty="0" err="1"/>
              <a:t>provided</a:t>
            </a:r>
            <a:endParaRPr lang="nl-NL" sz="2800" dirty="0"/>
          </a:p>
          <a:p>
            <a:pPr lvl="2">
              <a:buFont typeface="Arial" panose="020B0604020202020204" pitchFamily="34" charset="0"/>
              <a:buChar char="•"/>
            </a:pPr>
            <a:r>
              <a:rPr lang="en-US" sz="2800" dirty="0"/>
              <a:t>Relevant information &gt; yet insufficiently related to the question </a:t>
            </a:r>
          </a:p>
          <a:p>
            <a:pPr lvl="2">
              <a:buFont typeface="Arial" panose="020B0604020202020204" pitchFamily="34" charset="0"/>
              <a:buChar char="•"/>
            </a:pPr>
            <a:r>
              <a:rPr lang="en-US" sz="2800" dirty="0"/>
              <a:t>Relevant information &gt; yet not ordered in a logical way</a:t>
            </a:r>
          </a:p>
          <a:p>
            <a:endParaRPr lang="en-US" dirty="0"/>
          </a:p>
        </p:txBody>
      </p:sp>
    </p:spTree>
    <p:extLst>
      <p:ext uri="{BB962C8B-B14F-4D97-AF65-F5344CB8AC3E}">
        <p14:creationId xmlns:p14="http://schemas.microsoft.com/office/powerpoint/2010/main" val="150790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67" y="371693"/>
            <a:ext cx="10896000" cy="768000"/>
          </a:xfrm>
        </p:spPr>
        <p:txBody>
          <a:bodyPr/>
          <a:lstStyle/>
          <a:p>
            <a:r>
              <a:rPr lang="en-US" dirty="0"/>
              <a:t>Sub-topics</a:t>
            </a:r>
            <a:br>
              <a:rPr lang="en-US" dirty="0"/>
            </a:br>
            <a:endParaRPr lang="en-US" sz="3200" dirty="0"/>
          </a:p>
        </p:txBody>
      </p:sp>
      <p:sp>
        <p:nvSpPr>
          <p:cNvPr id="3" name="Content Placeholder 2"/>
          <p:cNvSpPr>
            <a:spLocks noGrp="1"/>
          </p:cNvSpPr>
          <p:nvPr>
            <p:ph idx="1"/>
          </p:nvPr>
        </p:nvSpPr>
        <p:spPr>
          <a:xfrm>
            <a:off x="655367" y="1529863"/>
            <a:ext cx="10896000" cy="4464000"/>
          </a:xfrm>
        </p:spPr>
        <p:txBody>
          <a:bodyPr/>
          <a:lstStyle/>
          <a:p>
            <a:r>
              <a:rPr lang="en-US" dirty="0"/>
              <a:t>How do the individual sub-topics contribute to answering the central question? What is a logical sequence for the sub-topics and how can these be connected with each other? </a:t>
            </a:r>
          </a:p>
          <a:p>
            <a:r>
              <a:rPr lang="en-US" dirty="0"/>
              <a:t>Split the main body into headings that logically answer the question</a:t>
            </a:r>
          </a:p>
          <a:p>
            <a:pPr marL="146046" indent="0">
              <a:buNone/>
            </a:pPr>
            <a:endParaRPr lang="nl-NL" dirty="0"/>
          </a:p>
          <a:p>
            <a:pPr marL="527036" indent="-380990"/>
            <a:r>
              <a:rPr lang="en-US" dirty="0"/>
              <a:t>Relate the information to the question; make clear to the reader:</a:t>
            </a:r>
          </a:p>
          <a:p>
            <a:pPr marL="146046" indent="0">
              <a:buNone/>
            </a:pPr>
            <a:r>
              <a:rPr lang="en-US" dirty="0"/>
              <a:t>	- </a:t>
            </a:r>
            <a:r>
              <a:rPr lang="en-US" b="1" dirty="0"/>
              <a:t>WHAT</a:t>
            </a:r>
            <a:r>
              <a:rPr lang="en-US" dirty="0"/>
              <a:t> you'll be discussing</a:t>
            </a:r>
          </a:p>
          <a:p>
            <a:pPr marL="146046" indent="0">
              <a:buNone/>
            </a:pPr>
            <a:r>
              <a:rPr lang="en-US" dirty="0"/>
              <a:t>	- </a:t>
            </a:r>
            <a:r>
              <a:rPr lang="en-US" b="1" dirty="0"/>
              <a:t>WHY </a:t>
            </a:r>
            <a:r>
              <a:rPr lang="en-US" dirty="0"/>
              <a:t>you'll be discussing it </a:t>
            </a:r>
          </a:p>
          <a:p>
            <a:pPr marL="146046" indent="0">
              <a:buNone/>
            </a:pPr>
            <a:r>
              <a:rPr lang="en-US" dirty="0"/>
              <a:t>	- </a:t>
            </a:r>
            <a:r>
              <a:rPr lang="en-US" b="1" dirty="0"/>
              <a:t>HOW</a:t>
            </a:r>
            <a:r>
              <a:rPr lang="en-US" dirty="0"/>
              <a:t> it contributes to answering the central question -&gt; What kind of 	   conclusions can you draw?</a:t>
            </a:r>
          </a:p>
        </p:txBody>
      </p:sp>
    </p:spTree>
    <p:extLst>
      <p:ext uri="{BB962C8B-B14F-4D97-AF65-F5344CB8AC3E}">
        <p14:creationId xmlns:p14="http://schemas.microsoft.com/office/powerpoint/2010/main" val="36696432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5367" y="527999"/>
            <a:ext cx="10896000" cy="1144492"/>
          </a:xfrm>
        </p:spPr>
        <p:txBody>
          <a:bodyPr/>
          <a:lstStyle/>
          <a:p>
            <a:r>
              <a:rPr lang="en-US" dirty="0"/>
              <a:t>Title and headings</a:t>
            </a:r>
            <a:endParaRPr lang="en-US" sz="3200" dirty="0"/>
          </a:p>
        </p:txBody>
      </p:sp>
      <p:sp>
        <p:nvSpPr>
          <p:cNvPr id="3" name="Content Placeholder 2"/>
          <p:cNvSpPr>
            <a:spLocks noGrp="1"/>
          </p:cNvSpPr>
          <p:nvPr>
            <p:ph idx="1"/>
          </p:nvPr>
        </p:nvSpPr>
        <p:spPr>
          <a:xfrm>
            <a:off x="655367" y="1672491"/>
            <a:ext cx="10896000" cy="4464000"/>
          </a:xfrm>
        </p:spPr>
        <p:txBody>
          <a:bodyPr/>
          <a:lstStyle/>
          <a:p>
            <a:endParaRPr lang="nl-NL" dirty="0"/>
          </a:p>
          <a:p>
            <a:pPr marL="0" indent="0">
              <a:buNone/>
            </a:pPr>
            <a:endParaRPr lang="nl-NL" dirty="0"/>
          </a:p>
          <a:p>
            <a:pPr marL="0" indent="0">
              <a:buNone/>
            </a:pPr>
            <a:r>
              <a:rPr lang="en-US" dirty="0">
                <a:solidFill>
                  <a:schemeClr val="accent5"/>
                </a:solidFill>
              </a:rPr>
              <a:t>Title:</a:t>
            </a:r>
            <a:r>
              <a:rPr lang="nl-NL" dirty="0"/>
              <a:t>		</a:t>
            </a:r>
            <a:r>
              <a:rPr lang="en-US" dirty="0"/>
              <a:t>What is the text about (subject/central question)?</a:t>
            </a:r>
          </a:p>
          <a:p>
            <a:pPr marL="0" indent="0">
              <a:buNone/>
            </a:pPr>
            <a:r>
              <a:rPr lang="en-US" dirty="0"/>
              <a:t>			Guideline: 10 -12 words </a:t>
            </a:r>
          </a:p>
          <a:p>
            <a:pPr marL="0" indent="0">
              <a:buNone/>
            </a:pPr>
            <a:r>
              <a:rPr lang="en-US" dirty="0">
                <a:solidFill>
                  <a:schemeClr val="accent5"/>
                </a:solidFill>
              </a:rPr>
              <a:t>Headings:</a:t>
            </a:r>
            <a:r>
              <a:rPr lang="en-US" dirty="0"/>
              <a:t>	Reflect section's content </a:t>
            </a:r>
          </a:p>
          <a:p>
            <a:pPr marL="0" indent="0">
              <a:buNone/>
            </a:pPr>
            <a:r>
              <a:rPr lang="en-US" dirty="0"/>
              <a:t>	 		Indicators of report's general structure</a:t>
            </a:r>
          </a:p>
          <a:p>
            <a:pPr marL="0" indent="0">
              <a:buNone/>
            </a:pPr>
            <a:r>
              <a:rPr lang="en-US" dirty="0"/>
              <a:t>	 		Guideline: 1 -7 words</a:t>
            </a:r>
          </a:p>
          <a:p>
            <a:endParaRPr lang="en-US" dirty="0"/>
          </a:p>
        </p:txBody>
      </p:sp>
    </p:spTree>
    <p:extLst>
      <p:ext uri="{BB962C8B-B14F-4D97-AF65-F5344CB8AC3E}">
        <p14:creationId xmlns:p14="http://schemas.microsoft.com/office/powerpoint/2010/main" val="3165332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t>Which of these title is the best one?</a:t>
            </a:r>
            <a:endParaRPr lang="en-GB" dirty="0"/>
          </a:p>
        </p:txBody>
      </p:sp>
      <p:sp>
        <p:nvSpPr>
          <p:cNvPr id="3" name="Content Placeholder 2"/>
          <p:cNvSpPr>
            <a:spLocks noGrp="1"/>
          </p:cNvSpPr>
          <p:nvPr>
            <p:ph idx="1"/>
          </p:nvPr>
        </p:nvSpPr>
        <p:spPr/>
        <p:txBody>
          <a:bodyPr>
            <a:normAutofit/>
          </a:bodyPr>
          <a:lstStyle/>
          <a:p>
            <a:pPr marL="0" indent="0">
              <a:buNone/>
            </a:pPr>
            <a:endParaRPr lang="en-US" sz="2800" dirty="0"/>
          </a:p>
          <a:p>
            <a:pPr marL="0" indent="0">
              <a:buNone/>
            </a:pPr>
            <a:endParaRPr lang="en-US" sz="2800" dirty="0"/>
          </a:p>
          <a:p>
            <a:pPr marL="0" indent="0">
              <a:buNone/>
            </a:pPr>
            <a:r>
              <a:rPr lang="en-US" sz="2800" dirty="0"/>
              <a:t>The devoted employee</a:t>
            </a:r>
            <a:endParaRPr lang="en-GB" sz="2800" dirty="0"/>
          </a:p>
          <a:p>
            <a:pPr marL="0" indent="0">
              <a:buNone/>
            </a:pPr>
            <a:endParaRPr lang="en-GB" sz="2800" dirty="0"/>
          </a:p>
          <a:p>
            <a:pPr marL="0" indent="0">
              <a:buNone/>
            </a:pPr>
            <a:r>
              <a:rPr lang="en-US" sz="2800" dirty="0"/>
              <a:t>Exercise: the road to happiness?</a:t>
            </a:r>
          </a:p>
          <a:p>
            <a:pPr marL="0" indent="0">
              <a:buNone/>
            </a:pPr>
            <a:r>
              <a:rPr lang="en-GB" dirty="0"/>
              <a:t> </a:t>
            </a:r>
            <a:r>
              <a:rPr lang="en-US" sz="2800" i="1" dirty="0"/>
              <a:t>Literature study into the effects of exercise on depression</a:t>
            </a:r>
            <a:endParaRPr lang="en-GB" sz="2800" i="1" dirty="0"/>
          </a:p>
          <a:p>
            <a:pPr marL="0" indent="0">
              <a:buNone/>
            </a:pPr>
            <a:endParaRPr lang="en-GB" sz="2800" dirty="0"/>
          </a:p>
          <a:p>
            <a:pPr marL="0" indent="0">
              <a:buNone/>
            </a:pPr>
            <a:r>
              <a:rPr lang="nl-NL" sz="2800" dirty="0"/>
              <a:t>The</a:t>
            </a:r>
            <a:r>
              <a:rPr lang="en-US" sz="2800" dirty="0"/>
              <a:t> influence of physical activity on the cognitive performance </a:t>
            </a:r>
            <a:endParaRPr lang="en-US" dirty="0"/>
          </a:p>
          <a:p>
            <a:pPr marL="0" indent="0">
              <a:buNone/>
            </a:pPr>
            <a:r>
              <a:rPr lang="en-US" dirty="0"/>
              <a:t> </a:t>
            </a:r>
            <a:r>
              <a:rPr lang="en-US" sz="2800" dirty="0"/>
              <a:t>of obese children </a:t>
            </a:r>
          </a:p>
          <a:p>
            <a:pPr marL="0" indent="0">
              <a:buNone/>
            </a:pPr>
            <a:endParaRPr lang="en-GB" sz="2800" dirty="0"/>
          </a:p>
        </p:txBody>
      </p:sp>
    </p:spTree>
    <p:extLst>
      <p:ext uri="{BB962C8B-B14F-4D97-AF65-F5344CB8AC3E}">
        <p14:creationId xmlns:p14="http://schemas.microsoft.com/office/powerpoint/2010/main" val="30039244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dirty="0">
                <a:solidFill>
                  <a:schemeClr val="accent5"/>
                </a:solidFill>
              </a:rPr>
              <a:t>Which of these title is the best one?</a:t>
            </a:r>
            <a:endParaRPr lang="en-GB" sz="3600" dirty="0">
              <a:solidFill>
                <a:schemeClr val="accent5"/>
              </a:solidFill>
            </a:endParaRPr>
          </a:p>
        </p:txBody>
      </p:sp>
      <p:sp>
        <p:nvSpPr>
          <p:cNvPr id="3" name="Content Placeholder 2"/>
          <p:cNvSpPr>
            <a:spLocks noGrp="1"/>
          </p:cNvSpPr>
          <p:nvPr>
            <p:ph idx="1"/>
          </p:nvPr>
        </p:nvSpPr>
        <p:spPr/>
        <p:txBody>
          <a:bodyPr numCol="1">
            <a:normAutofit/>
          </a:bodyPr>
          <a:lstStyle/>
          <a:p>
            <a:pPr marL="0" indent="0">
              <a:buNone/>
            </a:pPr>
            <a:endParaRPr lang="en-US" sz="2800" dirty="0"/>
          </a:p>
          <a:p>
            <a:pPr marL="0" indent="0">
              <a:buNone/>
            </a:pPr>
            <a:r>
              <a:rPr lang="en-US" sz="2800" dirty="0"/>
              <a:t>The devoted employee</a:t>
            </a:r>
            <a:r>
              <a:rPr lang="en-GB" dirty="0"/>
              <a:t> </a:t>
            </a:r>
            <a:endParaRPr dirty="0"/>
          </a:p>
          <a:p>
            <a:pPr marL="0" indent="0">
              <a:buNone/>
            </a:pPr>
            <a:r>
              <a:rPr lang="en-US" sz="2800" dirty="0">
                <a:solidFill>
                  <a:srgbClr val="FF0000"/>
                </a:solidFill>
              </a:rPr>
              <a:t>Not</a:t>
            </a:r>
            <a:r>
              <a:rPr dirty="0"/>
              <a:t> </a:t>
            </a:r>
            <a:r>
              <a:rPr lang="en-US" sz="2800" dirty="0">
                <a:solidFill>
                  <a:srgbClr val="FF0000"/>
                </a:solidFill>
              </a:rPr>
              <a:t>informative!</a:t>
            </a:r>
            <a:endParaRPr lang="en-GB" sz="2800" dirty="0"/>
          </a:p>
          <a:p>
            <a:pPr marL="0" indent="0">
              <a:buNone/>
            </a:pPr>
            <a:endParaRPr lang="en-US" sz="2800" dirty="0"/>
          </a:p>
          <a:p>
            <a:pPr marL="0" indent="0">
              <a:buNone/>
            </a:pPr>
            <a:r>
              <a:rPr lang="en-US" sz="2800" dirty="0"/>
              <a:t>Exercise: the road to happiness? </a:t>
            </a:r>
          </a:p>
          <a:p>
            <a:pPr marL="0" indent="0">
              <a:buNone/>
            </a:pPr>
            <a:r>
              <a:rPr lang="en-US" sz="2800" i="1" dirty="0"/>
              <a:t>Literature study into the effects of exercise on depression</a:t>
            </a:r>
            <a:endParaRPr lang="en-GB" sz="2800" i="1" dirty="0"/>
          </a:p>
          <a:p>
            <a:pPr marL="0" indent="0">
              <a:buNone/>
            </a:pPr>
            <a:r>
              <a:rPr lang="en-US" sz="2800" dirty="0">
                <a:solidFill>
                  <a:schemeClr val="accent3">
                    <a:lumMod val="50000"/>
                  </a:schemeClr>
                </a:solidFill>
              </a:rPr>
              <a:t>A touch informal, but reflects content.</a:t>
            </a:r>
          </a:p>
          <a:p>
            <a:pPr marL="0" indent="0">
              <a:buNone/>
            </a:pPr>
            <a:endParaRPr lang="nl-NL" sz="2800" dirty="0"/>
          </a:p>
          <a:p>
            <a:pPr marL="0" indent="0">
              <a:buNone/>
            </a:pPr>
            <a:r>
              <a:rPr lang="nl-NL" sz="2800" dirty="0"/>
              <a:t>The influence of physical activity on the cognitive performance of obese children</a:t>
            </a:r>
          </a:p>
          <a:p>
            <a:pPr marL="0" indent="0">
              <a:buNone/>
            </a:pPr>
            <a:r>
              <a:rPr lang="en-US" sz="2800" dirty="0">
                <a:solidFill>
                  <a:schemeClr val="accent3">
                    <a:lumMod val="50000"/>
                  </a:schemeClr>
                </a:solidFill>
              </a:rPr>
              <a:t>Clearly indicates subject, question and its boundaries</a:t>
            </a:r>
            <a:endParaRPr lang="en-GB" sz="2800" dirty="0">
              <a:solidFill>
                <a:schemeClr val="accent3">
                  <a:lumMod val="50000"/>
                </a:schemeClr>
              </a:solidFill>
            </a:endParaRPr>
          </a:p>
        </p:txBody>
      </p:sp>
    </p:spTree>
    <p:extLst>
      <p:ext uri="{BB962C8B-B14F-4D97-AF65-F5344CB8AC3E}">
        <p14:creationId xmlns:p14="http://schemas.microsoft.com/office/powerpoint/2010/main" val="23730806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en-GB" sz="3600" dirty="0"/>
              <a:t>Which heading fits the text?</a:t>
            </a:r>
            <a:br>
              <a:rPr lang="en-GB" sz="3100" dirty="0"/>
            </a:br>
            <a:endParaRPr lang="en-GB" sz="3100" dirty="0"/>
          </a:p>
        </p:txBody>
      </p:sp>
      <p:sp>
        <p:nvSpPr>
          <p:cNvPr id="3" name="Tijdelijke aanduiding voor inhoud 2"/>
          <p:cNvSpPr>
            <a:spLocks noGrp="1"/>
          </p:cNvSpPr>
          <p:nvPr>
            <p:ph idx="1"/>
          </p:nvPr>
        </p:nvSpPr>
        <p:spPr/>
        <p:txBody>
          <a:bodyPr>
            <a:normAutofit/>
          </a:bodyPr>
          <a:lstStyle/>
          <a:p>
            <a:pPr marL="0" indent="0">
              <a:buNone/>
            </a:pPr>
            <a:endParaRPr lang="en-GB" sz="2800" u="sng" dirty="0"/>
          </a:p>
          <a:p>
            <a:pPr marL="0" indent="0">
              <a:buNone/>
            </a:pPr>
            <a:endParaRPr lang="en-GB" sz="2800" u="sng" dirty="0"/>
          </a:p>
          <a:p>
            <a:pPr marL="0" indent="0">
              <a:buNone/>
            </a:pPr>
            <a:r>
              <a:rPr lang="en-GB" sz="2800" u="sng" dirty="0"/>
              <a:t>Background: </a:t>
            </a:r>
            <a:r>
              <a:rPr lang="en-GB" sz="2800" dirty="0"/>
              <a:t>The report is about factors of influence on the academic performance of gifted children.</a:t>
            </a:r>
          </a:p>
          <a:p>
            <a:pPr marL="0" indent="0">
              <a:buNone/>
            </a:pPr>
            <a:endParaRPr lang="en-GB" sz="2800" u="sng" dirty="0"/>
          </a:p>
          <a:p>
            <a:pPr marL="0" indent="0">
              <a:buNone/>
            </a:pPr>
            <a:r>
              <a:rPr lang="en-GB" sz="2800" u="sng" dirty="0"/>
              <a:t>One of the sections starts as follows:</a:t>
            </a:r>
            <a:r>
              <a:rPr lang="en-GB" sz="2800" dirty="0"/>
              <a:t>                                                    </a:t>
            </a:r>
            <a:r>
              <a:rPr lang="en-US" sz="2800" dirty="0"/>
              <a:t>Research shows that extracurricular activities can have a positive effect on the academic performance of gifted children in different ways (</a:t>
            </a:r>
            <a:r>
              <a:rPr lang="en-US" sz="2800" dirty="0" err="1"/>
              <a:t>Emerick</a:t>
            </a:r>
            <a:r>
              <a:rPr lang="en-US" sz="2800" dirty="0"/>
              <a:t>, 2000). First of all, [...].</a:t>
            </a:r>
            <a:endParaRPr lang="en-GB" sz="2800" dirty="0"/>
          </a:p>
        </p:txBody>
      </p:sp>
    </p:spTree>
    <p:extLst>
      <p:ext uri="{BB962C8B-B14F-4D97-AF65-F5344CB8AC3E}">
        <p14:creationId xmlns:p14="http://schemas.microsoft.com/office/powerpoint/2010/main" val="120902432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sz="3200" dirty="0">
                <a:solidFill>
                  <a:schemeClr val="accent5"/>
                </a:solidFill>
              </a:rPr>
              <a:t>Which heading fits the text?</a:t>
            </a:r>
            <a:endParaRPr lang="en-GB" dirty="0">
              <a:solidFill>
                <a:schemeClr val="accent5"/>
              </a:solidFill>
            </a:endParaRPr>
          </a:p>
        </p:txBody>
      </p:sp>
      <p:sp>
        <p:nvSpPr>
          <p:cNvPr id="3" name="Tijdelijke aanduiding voor inhoud 2"/>
          <p:cNvSpPr>
            <a:spLocks noGrp="1"/>
          </p:cNvSpPr>
          <p:nvPr>
            <p:ph idx="1"/>
          </p:nvPr>
        </p:nvSpPr>
        <p:spPr/>
        <p:txBody>
          <a:bodyPr/>
          <a:lstStyle/>
          <a:p>
            <a:pPr marL="0" indent="0">
              <a:lnSpc>
                <a:spcPct val="100000"/>
              </a:lnSpc>
              <a:buSzTx/>
              <a:buNone/>
              <a:defRPr/>
            </a:pPr>
            <a:endParaRPr lang="en-GB" b="1" dirty="0"/>
          </a:p>
          <a:p>
            <a:pPr marL="0" indent="0">
              <a:lnSpc>
                <a:spcPct val="100000"/>
              </a:lnSpc>
              <a:buSzTx/>
              <a:buNone/>
              <a:defRPr/>
            </a:pPr>
            <a:endParaRPr lang="en-GB" b="1" dirty="0"/>
          </a:p>
          <a:p>
            <a:pPr marL="0" indent="0">
              <a:lnSpc>
                <a:spcPct val="100000"/>
              </a:lnSpc>
              <a:buSzTx/>
              <a:buNone/>
              <a:defRPr/>
            </a:pPr>
            <a:r>
              <a:rPr lang="en-GB" b="1" dirty="0"/>
              <a:t>Influence of extracurricular activities on the academic performance of gifted children</a:t>
            </a:r>
          </a:p>
          <a:p>
            <a:pPr marL="0" indent="0">
              <a:lnSpc>
                <a:spcPct val="100000"/>
              </a:lnSpc>
              <a:buSzTx/>
              <a:buNone/>
              <a:defRPr/>
            </a:pPr>
            <a:endParaRPr lang="en-GB" b="1" dirty="0"/>
          </a:p>
          <a:p>
            <a:pPr marL="0" indent="0">
              <a:lnSpc>
                <a:spcPct val="100000"/>
              </a:lnSpc>
              <a:buSzTx/>
              <a:buNone/>
              <a:defRPr/>
            </a:pPr>
            <a:endParaRPr lang="en-GB" b="1" dirty="0"/>
          </a:p>
          <a:p>
            <a:pPr marL="0" indent="0">
              <a:lnSpc>
                <a:spcPct val="100000"/>
              </a:lnSpc>
              <a:buSzTx/>
              <a:buNone/>
              <a:defRPr/>
            </a:pPr>
            <a:r>
              <a:rPr lang="en-GB" b="1" dirty="0"/>
              <a:t>Research by </a:t>
            </a:r>
            <a:r>
              <a:rPr lang="en-GB" b="1" dirty="0" err="1"/>
              <a:t>Emerick</a:t>
            </a:r>
            <a:r>
              <a:rPr lang="en-GB" b="1" dirty="0"/>
              <a:t> (2000)</a:t>
            </a:r>
          </a:p>
          <a:p>
            <a:pPr marL="0" indent="0">
              <a:lnSpc>
                <a:spcPct val="100000"/>
              </a:lnSpc>
              <a:buSzTx/>
              <a:buNone/>
              <a:defRPr/>
            </a:pPr>
            <a:endParaRPr lang="en-GB" b="1" dirty="0"/>
          </a:p>
          <a:p>
            <a:pPr marL="0" indent="0">
              <a:lnSpc>
                <a:spcPct val="100000"/>
              </a:lnSpc>
              <a:buSzTx/>
              <a:buNone/>
              <a:defRPr/>
            </a:pPr>
            <a:endParaRPr lang="en-GB" b="1" dirty="0"/>
          </a:p>
          <a:p>
            <a:pPr marL="0" indent="0">
              <a:lnSpc>
                <a:spcPct val="100000"/>
              </a:lnSpc>
              <a:buSzTx/>
              <a:buNone/>
              <a:defRPr/>
            </a:pPr>
            <a:r>
              <a:rPr lang="en-GB" b="1" dirty="0"/>
              <a:t>Extracurricular activities and academic performance</a:t>
            </a:r>
            <a:endParaRPr lang="en-GB" dirty="0"/>
          </a:p>
        </p:txBody>
      </p:sp>
    </p:spTree>
    <p:extLst>
      <p:ext uri="{BB962C8B-B14F-4D97-AF65-F5344CB8AC3E}">
        <p14:creationId xmlns:p14="http://schemas.microsoft.com/office/powerpoint/2010/main" val="31645296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GB" sz="3200" dirty="0">
                <a:solidFill>
                  <a:schemeClr val="accent5"/>
                </a:solidFill>
              </a:rPr>
              <a:t>Which heading fits the text?</a:t>
            </a:r>
            <a:endParaRPr lang="en-GB" dirty="0">
              <a:solidFill>
                <a:schemeClr val="accent5"/>
              </a:solidFill>
            </a:endParaRPr>
          </a:p>
        </p:txBody>
      </p:sp>
      <p:sp>
        <p:nvSpPr>
          <p:cNvPr id="3" name="Tijdelijke aanduiding voor inhoud 2"/>
          <p:cNvSpPr>
            <a:spLocks noGrp="1"/>
          </p:cNvSpPr>
          <p:nvPr>
            <p:ph idx="1"/>
          </p:nvPr>
        </p:nvSpPr>
        <p:spPr/>
        <p:txBody>
          <a:bodyPr>
            <a:normAutofit/>
          </a:bodyPr>
          <a:lstStyle/>
          <a:p>
            <a:pPr marL="0" indent="0">
              <a:lnSpc>
                <a:spcPct val="100000"/>
              </a:lnSpc>
              <a:buSzTx/>
              <a:buNone/>
              <a:defRPr/>
            </a:pPr>
            <a:endParaRPr lang="en-GB" b="1" dirty="0"/>
          </a:p>
          <a:p>
            <a:pPr marL="0" indent="0">
              <a:lnSpc>
                <a:spcPct val="100000"/>
              </a:lnSpc>
              <a:buSzTx/>
              <a:buNone/>
              <a:defRPr/>
            </a:pPr>
            <a:endParaRPr lang="en-GB" b="1" dirty="0"/>
          </a:p>
          <a:p>
            <a:pPr marL="0" indent="0">
              <a:lnSpc>
                <a:spcPct val="100000"/>
              </a:lnSpc>
              <a:buSzTx/>
              <a:buNone/>
              <a:defRPr/>
            </a:pPr>
            <a:r>
              <a:rPr lang="en-GB" b="1" dirty="0"/>
              <a:t>Influence of extracurricular activities on the academic performance of gifted children</a:t>
            </a:r>
          </a:p>
          <a:p>
            <a:pPr marL="0" indent="0">
              <a:lnSpc>
                <a:spcPct val="100000"/>
              </a:lnSpc>
              <a:buSzTx/>
              <a:buNone/>
              <a:defRPr/>
            </a:pPr>
            <a:r>
              <a:rPr lang="en-GB" dirty="0">
                <a:solidFill>
                  <a:srgbClr val="FF0000"/>
                </a:solidFill>
              </a:rPr>
              <a:t>Clearly indicates the content, but is too long</a:t>
            </a:r>
          </a:p>
          <a:p>
            <a:pPr marL="0" indent="0">
              <a:lnSpc>
                <a:spcPct val="100000"/>
              </a:lnSpc>
              <a:buSzTx/>
              <a:buNone/>
              <a:defRPr/>
            </a:pPr>
            <a:endParaRPr lang="en-GB" b="1" dirty="0"/>
          </a:p>
          <a:p>
            <a:pPr marL="0" indent="0">
              <a:lnSpc>
                <a:spcPct val="100000"/>
              </a:lnSpc>
              <a:buSzTx/>
              <a:buNone/>
              <a:defRPr/>
            </a:pPr>
            <a:r>
              <a:rPr lang="en-GB" b="1" dirty="0"/>
              <a:t>Research by </a:t>
            </a:r>
            <a:r>
              <a:rPr lang="en-GB" b="1" dirty="0" err="1"/>
              <a:t>Emerick</a:t>
            </a:r>
            <a:r>
              <a:rPr lang="en-GB" b="1" dirty="0"/>
              <a:t> (2000)</a:t>
            </a:r>
          </a:p>
          <a:p>
            <a:pPr marL="0" indent="0">
              <a:lnSpc>
                <a:spcPct val="100000"/>
              </a:lnSpc>
              <a:buSzTx/>
              <a:buNone/>
              <a:defRPr/>
            </a:pPr>
            <a:r>
              <a:rPr lang="en-GB" dirty="0">
                <a:solidFill>
                  <a:srgbClr val="FF0000"/>
                </a:solidFill>
              </a:rPr>
              <a:t>Unclear what to expect in the text</a:t>
            </a:r>
          </a:p>
          <a:p>
            <a:pPr marL="0" indent="0">
              <a:lnSpc>
                <a:spcPct val="100000"/>
              </a:lnSpc>
              <a:buSzTx/>
              <a:buNone/>
              <a:defRPr/>
            </a:pPr>
            <a:endParaRPr lang="en-GB" b="1" dirty="0"/>
          </a:p>
          <a:p>
            <a:pPr marL="0" indent="0">
              <a:lnSpc>
                <a:spcPct val="100000"/>
              </a:lnSpc>
              <a:buSzTx/>
              <a:buNone/>
              <a:defRPr/>
            </a:pPr>
            <a:r>
              <a:rPr lang="en-GB" b="1" dirty="0"/>
              <a:t>Extracurricular activities and academic performance</a:t>
            </a:r>
          </a:p>
          <a:p>
            <a:pPr marL="0" indent="0">
              <a:lnSpc>
                <a:spcPct val="100000"/>
              </a:lnSpc>
              <a:buSzTx/>
              <a:buNone/>
              <a:defRPr/>
            </a:pPr>
            <a:r>
              <a:rPr lang="en-GB" dirty="0">
                <a:solidFill>
                  <a:srgbClr val="00B050"/>
                </a:solidFill>
              </a:rPr>
              <a:t>Clearly highlight the paragraph’s content in a couple of words</a:t>
            </a:r>
          </a:p>
          <a:p>
            <a:pPr marL="0" indent="0">
              <a:lnSpc>
                <a:spcPct val="100000"/>
              </a:lnSpc>
              <a:buSzTx/>
              <a:buNone/>
              <a:defRPr/>
            </a:pPr>
            <a:endParaRPr lang="en-GB" dirty="0"/>
          </a:p>
        </p:txBody>
      </p:sp>
    </p:spTree>
    <p:extLst>
      <p:ext uri="{BB962C8B-B14F-4D97-AF65-F5344CB8AC3E}">
        <p14:creationId xmlns:p14="http://schemas.microsoft.com/office/powerpoint/2010/main" val="3370157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GB" sz="3200" dirty="0" err="1">
                <a:solidFill>
                  <a:schemeClr val="accent5"/>
                </a:solidFill>
              </a:rPr>
              <a:t>Ordening</a:t>
            </a:r>
            <a:r>
              <a:rPr lang="en-GB" sz="3200" dirty="0">
                <a:solidFill>
                  <a:schemeClr val="accent5"/>
                </a:solidFill>
              </a:rPr>
              <a:t> of headings</a:t>
            </a:r>
            <a:endParaRPr lang="en-US" dirty="0">
              <a:solidFill>
                <a:schemeClr val="accent5"/>
              </a:solidFill>
            </a:endParaRPr>
          </a:p>
        </p:txBody>
      </p:sp>
      <p:sp>
        <p:nvSpPr>
          <p:cNvPr id="2" name="Tijdelijke aanduiding voor inhoud 1"/>
          <p:cNvSpPr>
            <a:spLocks noGrp="1"/>
          </p:cNvSpPr>
          <p:nvPr>
            <p:ph idx="1"/>
          </p:nvPr>
        </p:nvSpPr>
        <p:spPr/>
        <p:txBody>
          <a:bodyPr>
            <a:normAutofit/>
          </a:bodyPr>
          <a:lstStyle/>
          <a:p>
            <a:pPr algn="ctr">
              <a:buNone/>
            </a:pPr>
            <a:endParaRPr lang="nl-NL" sz="3000" b="1" dirty="0"/>
          </a:p>
          <a:p>
            <a:pPr algn="ctr">
              <a:buNone/>
            </a:pPr>
            <a:endParaRPr lang="nl-NL" sz="3000" b="1" dirty="0"/>
          </a:p>
          <a:p>
            <a:pPr algn="ctr">
              <a:buNone/>
            </a:pPr>
            <a:r>
              <a:rPr lang="nl-NL" sz="3000" b="1" dirty="0" err="1"/>
              <a:t>Title</a:t>
            </a:r>
            <a:r>
              <a:rPr lang="nl-NL" sz="3000" b="1" dirty="0"/>
              <a:t>: The influence of mindfulness training on cognitive performance</a:t>
            </a:r>
          </a:p>
          <a:p>
            <a:pPr algn="ctr">
              <a:buNone/>
            </a:pPr>
            <a:endParaRPr lang="en-GB" sz="3000" dirty="0"/>
          </a:p>
          <a:p>
            <a:pPr algn="ctr">
              <a:buNone/>
            </a:pPr>
            <a:r>
              <a:rPr lang="nl-NL" sz="3000" dirty="0"/>
              <a:t>The origins of mindfulness training</a:t>
            </a:r>
          </a:p>
          <a:p>
            <a:pPr algn="ctr">
              <a:buNone/>
            </a:pPr>
            <a:r>
              <a:rPr lang="nl-NL" sz="3000" dirty="0"/>
              <a:t>Mindfulness and attention</a:t>
            </a:r>
          </a:p>
          <a:p>
            <a:pPr algn="ctr">
              <a:buNone/>
            </a:pPr>
            <a:r>
              <a:rPr lang="nl-NL" sz="3000" dirty="0"/>
              <a:t>Mindfulness</a:t>
            </a:r>
            <a:r>
              <a:rPr dirty="0"/>
              <a:t> </a:t>
            </a:r>
            <a:r>
              <a:rPr lang="nl-NL" sz="3000" dirty="0"/>
              <a:t>as a treatment for psychological symptoms</a:t>
            </a:r>
          </a:p>
          <a:p>
            <a:pPr algn="ctr">
              <a:buNone/>
            </a:pPr>
            <a:r>
              <a:rPr lang="nl-NL" sz="3000" dirty="0"/>
              <a:t>Causes of a decline in cognitive performance</a:t>
            </a:r>
          </a:p>
          <a:p>
            <a:pPr algn="ctr">
              <a:buNone/>
            </a:pPr>
            <a:r>
              <a:rPr lang="nl-NL" sz="3000" dirty="0"/>
              <a:t>Mindfulness and memory </a:t>
            </a:r>
          </a:p>
          <a:p>
            <a:pPr algn="ctr">
              <a:buNone/>
            </a:pPr>
            <a:r>
              <a:rPr lang="nl-NL" sz="3000" dirty="0"/>
              <a:t>Mindfulness and executive functions </a:t>
            </a:r>
            <a:endParaRPr lang="en-GB" sz="3000" dirty="0"/>
          </a:p>
          <a:p>
            <a:pPr algn="ctr">
              <a:buNone/>
            </a:pPr>
            <a:endParaRPr lang="en-GB" sz="2500" b="1" dirty="0"/>
          </a:p>
        </p:txBody>
      </p:sp>
    </p:spTree>
    <p:extLst>
      <p:ext uri="{BB962C8B-B14F-4D97-AF65-F5344CB8AC3E}">
        <p14:creationId xmlns:p14="http://schemas.microsoft.com/office/powerpoint/2010/main" val="294197353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GB" sz="3200" dirty="0" err="1">
                <a:solidFill>
                  <a:schemeClr val="accent5"/>
                </a:solidFill>
              </a:rPr>
              <a:t>Ordening</a:t>
            </a:r>
            <a:r>
              <a:rPr lang="en-GB" sz="3200" dirty="0">
                <a:solidFill>
                  <a:schemeClr val="accent5"/>
                </a:solidFill>
              </a:rPr>
              <a:t> of headings</a:t>
            </a:r>
            <a:endParaRPr lang="en-GB" dirty="0">
              <a:solidFill>
                <a:schemeClr val="accent5"/>
              </a:solidFill>
            </a:endParaRPr>
          </a:p>
        </p:txBody>
      </p:sp>
      <p:sp>
        <p:nvSpPr>
          <p:cNvPr id="2" name="Tijdelijke aanduiding voor inhoud 1"/>
          <p:cNvSpPr>
            <a:spLocks noGrp="1"/>
          </p:cNvSpPr>
          <p:nvPr>
            <p:ph idx="1"/>
          </p:nvPr>
        </p:nvSpPr>
        <p:spPr/>
        <p:txBody>
          <a:bodyPr>
            <a:normAutofit/>
          </a:bodyPr>
          <a:lstStyle/>
          <a:p>
            <a:pPr algn="ctr">
              <a:buNone/>
            </a:pPr>
            <a:endParaRPr lang="nl-NL" sz="3000" b="1" dirty="0"/>
          </a:p>
          <a:p>
            <a:pPr algn="ctr">
              <a:buNone/>
            </a:pPr>
            <a:endParaRPr lang="nl-NL" sz="3000" b="1" dirty="0"/>
          </a:p>
          <a:p>
            <a:pPr algn="ctr">
              <a:buNone/>
            </a:pPr>
            <a:r>
              <a:rPr lang="nl-NL" sz="3000" b="1" dirty="0" err="1"/>
              <a:t>Title</a:t>
            </a:r>
            <a:r>
              <a:rPr lang="nl-NL" sz="3000" b="1" dirty="0"/>
              <a:t>: The influence of mindfulness training on cognitive performance</a:t>
            </a:r>
          </a:p>
          <a:p>
            <a:pPr algn="ctr">
              <a:buNone/>
            </a:pPr>
            <a:endParaRPr lang="en-GB" sz="3000" dirty="0"/>
          </a:p>
          <a:p>
            <a:pPr algn="ctr">
              <a:buNone/>
            </a:pPr>
            <a:r>
              <a:rPr lang="nl-NL" sz="3000" dirty="0">
                <a:solidFill>
                  <a:srgbClr val="FF0000"/>
                </a:solidFill>
              </a:rPr>
              <a:t>The origins of mindfulness training</a:t>
            </a:r>
          </a:p>
          <a:p>
            <a:pPr algn="ctr">
              <a:buNone/>
            </a:pPr>
            <a:r>
              <a:rPr lang="nl-NL" sz="3000" dirty="0"/>
              <a:t>Mindfulness and attention</a:t>
            </a:r>
          </a:p>
          <a:p>
            <a:pPr algn="ctr">
              <a:buNone/>
            </a:pPr>
            <a:r>
              <a:rPr lang="nl-NL" sz="3000" dirty="0">
                <a:solidFill>
                  <a:srgbClr val="FF0000"/>
                </a:solidFill>
              </a:rPr>
              <a:t>Mindfulness</a:t>
            </a:r>
            <a:r>
              <a:rPr dirty="0"/>
              <a:t> </a:t>
            </a:r>
            <a:r>
              <a:rPr lang="nl-NL" sz="3000" dirty="0">
                <a:solidFill>
                  <a:srgbClr val="FF0000"/>
                </a:solidFill>
              </a:rPr>
              <a:t>as a treatment for psychological symptoms</a:t>
            </a:r>
          </a:p>
          <a:p>
            <a:pPr algn="ctr">
              <a:buNone/>
            </a:pPr>
            <a:r>
              <a:rPr lang="nl-NL" sz="3000" dirty="0">
                <a:solidFill>
                  <a:srgbClr val="FF0000"/>
                </a:solidFill>
              </a:rPr>
              <a:t>Causes of a decline in cognitive performance</a:t>
            </a:r>
          </a:p>
          <a:p>
            <a:pPr algn="ctr">
              <a:buNone/>
            </a:pPr>
            <a:r>
              <a:rPr lang="nl-NL" sz="3000" dirty="0"/>
              <a:t>Mindfulness and memory </a:t>
            </a:r>
          </a:p>
          <a:p>
            <a:pPr algn="ctr">
              <a:buNone/>
            </a:pPr>
            <a:r>
              <a:rPr lang="nl-NL" sz="3000" dirty="0"/>
              <a:t>Mindfulness and executive functions </a:t>
            </a:r>
            <a:endParaRPr lang="en-GB" sz="3000" dirty="0"/>
          </a:p>
          <a:p>
            <a:pPr algn="ctr">
              <a:buNone/>
            </a:pPr>
            <a:endParaRPr lang="en-GB" sz="2500" b="1" dirty="0"/>
          </a:p>
        </p:txBody>
      </p:sp>
    </p:spTree>
    <p:extLst>
      <p:ext uri="{BB962C8B-B14F-4D97-AF65-F5344CB8AC3E}">
        <p14:creationId xmlns:p14="http://schemas.microsoft.com/office/powerpoint/2010/main" val="28995426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lang="en-GB" sz="3200" dirty="0" err="1">
                <a:solidFill>
                  <a:schemeClr val="accent5"/>
                </a:solidFill>
              </a:rPr>
              <a:t>Ordening</a:t>
            </a:r>
            <a:r>
              <a:rPr lang="en-GB" sz="3200" dirty="0">
                <a:solidFill>
                  <a:schemeClr val="accent5"/>
                </a:solidFill>
              </a:rPr>
              <a:t> of headings</a:t>
            </a:r>
            <a:endParaRPr lang="en-GB" dirty="0">
              <a:solidFill>
                <a:schemeClr val="accent5"/>
              </a:solidFill>
            </a:endParaRPr>
          </a:p>
        </p:txBody>
      </p:sp>
      <p:sp>
        <p:nvSpPr>
          <p:cNvPr id="2" name="Tijdelijke aanduiding voor inhoud 1"/>
          <p:cNvSpPr>
            <a:spLocks noGrp="1"/>
          </p:cNvSpPr>
          <p:nvPr>
            <p:ph idx="1"/>
          </p:nvPr>
        </p:nvSpPr>
        <p:spPr/>
        <p:txBody>
          <a:bodyPr>
            <a:normAutofit/>
          </a:bodyPr>
          <a:lstStyle/>
          <a:p>
            <a:pPr>
              <a:buNone/>
            </a:pPr>
            <a:endParaRPr lang="nl-NL" sz="2800" b="1" dirty="0"/>
          </a:p>
          <a:p>
            <a:pPr algn="ctr">
              <a:buNone/>
            </a:pPr>
            <a:endParaRPr lang="nl-NL" sz="2800" b="1" dirty="0"/>
          </a:p>
          <a:p>
            <a:pPr algn="ctr">
              <a:buNone/>
            </a:pPr>
            <a:r>
              <a:rPr lang="nl-NL" sz="2800" b="1" dirty="0"/>
              <a:t>The influence of mindfulness training on cognitive performance</a:t>
            </a:r>
          </a:p>
          <a:p>
            <a:pPr algn="ctr">
              <a:buNone/>
            </a:pPr>
            <a:endParaRPr lang="en-GB" sz="2800" dirty="0"/>
          </a:p>
          <a:p>
            <a:pPr algn="ctr">
              <a:buNone/>
            </a:pPr>
            <a:r>
              <a:rPr lang="en-GB" sz="2800" dirty="0"/>
              <a:t>Cognitive performance: attention, memory and executive functions </a:t>
            </a:r>
          </a:p>
          <a:p>
            <a:pPr algn="ctr">
              <a:buNone/>
            </a:pPr>
            <a:r>
              <a:rPr lang="en-GB" sz="2800" dirty="0"/>
              <a:t>The effect of mindfulness training on attention</a:t>
            </a:r>
          </a:p>
          <a:p>
            <a:pPr algn="ctr">
              <a:buNone/>
            </a:pPr>
            <a:r>
              <a:rPr lang="en-GB" sz="2800" dirty="0"/>
              <a:t>The effect of mindfulness training on memory </a:t>
            </a:r>
          </a:p>
          <a:p>
            <a:pPr algn="ctr">
              <a:buNone/>
            </a:pPr>
            <a:r>
              <a:rPr lang="en-GB" sz="2800" dirty="0"/>
              <a:t>The effect of mindfulness training on executive functions </a:t>
            </a:r>
          </a:p>
          <a:p>
            <a:pPr algn="ctr">
              <a:buNone/>
            </a:pPr>
            <a:r>
              <a:rPr lang="en-GB" sz="2800" dirty="0"/>
              <a:t>Conclusion and discussion</a:t>
            </a:r>
          </a:p>
        </p:txBody>
      </p:sp>
    </p:spTree>
    <p:extLst>
      <p:ext uri="{BB962C8B-B14F-4D97-AF65-F5344CB8AC3E}">
        <p14:creationId xmlns:p14="http://schemas.microsoft.com/office/powerpoint/2010/main" val="2827218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r>
              <a:rPr lang="en-US" dirty="0"/>
              <a:t>COHERENCE</a:t>
            </a:r>
            <a:br>
              <a:rPr lang="en-US" dirty="0"/>
            </a:br>
            <a:r>
              <a:rPr lang="en-US" dirty="0"/>
              <a:t>Assessment criteria Rubric</a:t>
            </a:r>
            <a:endParaRPr lang="en-GB" dirty="0"/>
          </a:p>
        </p:txBody>
      </p:sp>
      <p:sp>
        <p:nvSpPr>
          <p:cNvPr id="2" name="Tijdelijke aanduiding voor inhoud 1"/>
          <p:cNvSpPr>
            <a:spLocks noGrp="1"/>
          </p:cNvSpPr>
          <p:nvPr>
            <p:ph idx="1"/>
          </p:nvPr>
        </p:nvSpPr>
        <p:spPr/>
        <p:txBody>
          <a:bodyPr/>
          <a:lstStyle/>
          <a:p>
            <a:pPr marL="287993" lvl="1" indent="0">
              <a:buNone/>
            </a:pPr>
            <a:endParaRPr lang="nl-NL" altLang="nl-NL" sz="2800" dirty="0"/>
          </a:p>
          <a:p>
            <a:pPr lvl="1" eaLnBrk="1" hangingPunct="1">
              <a:buClrTx/>
              <a:buFont typeface="Wingdings" panose="05000000000000000000" pitchFamily="2" charset="2"/>
              <a:buChar char="§"/>
            </a:pPr>
            <a:endParaRPr lang="nl-NL" altLang="nl-NL" sz="2800" dirty="0"/>
          </a:p>
          <a:p>
            <a:pPr>
              <a:buFont typeface="Arial" panose="020B0604020202020204" pitchFamily="34" charset="0"/>
              <a:buChar char="•"/>
            </a:pPr>
            <a:r>
              <a:rPr lang="en-US" altLang="nl-NL" sz="2800" dirty="0"/>
              <a:t>Text has been structured logically</a:t>
            </a:r>
          </a:p>
          <a:p>
            <a:pPr>
              <a:buFont typeface="Arial" panose="020B0604020202020204" pitchFamily="34" charset="0"/>
              <a:buChar char="•"/>
            </a:pPr>
            <a:r>
              <a:rPr lang="en-US" altLang="nl-NL" sz="2800" dirty="0"/>
              <a:t>Sufficient use of structural indicators</a:t>
            </a:r>
            <a:r>
              <a:rPr lang="en-US" sz="2800" dirty="0"/>
              <a:t> (i.e. signal words, introductory and transitional sentences, interim summaries)</a:t>
            </a:r>
            <a:endParaRPr lang="en-US" altLang="nl-NL" sz="2800" dirty="0"/>
          </a:p>
          <a:p>
            <a:pPr>
              <a:buFont typeface="Arial" panose="020B0604020202020204" pitchFamily="34" charset="0"/>
              <a:buChar char="•"/>
            </a:pPr>
            <a:r>
              <a:rPr lang="en-US" altLang="nl-NL" sz="2800" dirty="0"/>
              <a:t>Good coherence between paragraphs, sentences, and presented studies </a:t>
            </a:r>
          </a:p>
          <a:p>
            <a:pPr marL="109535" indent="0">
              <a:buNone/>
            </a:pPr>
            <a:endParaRPr lang="en-GB" dirty="0"/>
          </a:p>
        </p:txBody>
      </p:sp>
    </p:spTree>
    <p:extLst>
      <p:ext uri="{BB962C8B-B14F-4D97-AF65-F5344CB8AC3E}">
        <p14:creationId xmlns:p14="http://schemas.microsoft.com/office/powerpoint/2010/main" val="13265025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Pitfalls </a:t>
            </a:r>
            <a:r>
              <a:rPr lang="en-US" dirty="0"/>
              <a:t>coherence</a:t>
            </a:r>
            <a:endParaRPr lang="en-GB" dirty="0"/>
          </a:p>
        </p:txBody>
      </p:sp>
      <p:sp>
        <p:nvSpPr>
          <p:cNvPr id="2" name="Tijdelijke aanduiding voor inhoud 1"/>
          <p:cNvSpPr>
            <a:spLocks noGrp="1"/>
          </p:cNvSpPr>
          <p:nvPr>
            <p:ph idx="1"/>
          </p:nvPr>
        </p:nvSpPr>
        <p:spPr/>
        <p:txBody>
          <a:bodyPr/>
          <a:lstStyle/>
          <a:p>
            <a:endParaRPr lang="en-US" sz="2800" dirty="0"/>
          </a:p>
          <a:p>
            <a:r>
              <a:rPr lang="en-US" sz="2800" dirty="0"/>
              <a:t>Text appears to consist of loosely arranged (unrelated) components</a:t>
            </a:r>
            <a:endParaRPr lang="en-GB" sz="2800" dirty="0"/>
          </a:p>
          <a:p>
            <a:endParaRPr lang="en-GB" sz="2800" dirty="0"/>
          </a:p>
          <a:p>
            <a:r>
              <a:rPr lang="en-US" sz="2800" dirty="0"/>
              <a:t>Solution </a:t>
            </a:r>
            <a:r>
              <a:rPr lang="en-US" sz="2800" dirty="0">
                <a:sym typeface="Wingdings" panose="05000000000000000000" pitchFamily="2" charset="2"/>
              </a:rPr>
              <a:t> </a:t>
            </a:r>
            <a:r>
              <a:rPr lang="en-US" sz="2800" dirty="0"/>
              <a:t>Use structural indicators</a:t>
            </a:r>
            <a:r>
              <a:rPr sz="2800" dirty="0"/>
              <a:t>!</a:t>
            </a:r>
          </a:p>
        </p:txBody>
      </p:sp>
    </p:spTree>
    <p:extLst>
      <p:ext uri="{BB962C8B-B14F-4D97-AF65-F5344CB8AC3E}">
        <p14:creationId xmlns:p14="http://schemas.microsoft.com/office/powerpoint/2010/main" val="21167279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Structural indicators</a:t>
            </a:r>
            <a:endParaRPr lang="en-GB" dirty="0"/>
          </a:p>
        </p:txBody>
      </p:sp>
      <p:sp>
        <p:nvSpPr>
          <p:cNvPr id="2" name="Tijdelijke aanduiding voor inhoud 1"/>
          <p:cNvSpPr>
            <a:spLocks noGrp="1"/>
          </p:cNvSpPr>
          <p:nvPr>
            <p:ph idx="1"/>
          </p:nvPr>
        </p:nvSpPr>
        <p:spPr/>
        <p:txBody>
          <a:bodyPr>
            <a:normAutofit/>
          </a:bodyPr>
          <a:lstStyle/>
          <a:p>
            <a:pPr>
              <a:buClrTx/>
              <a:buFont typeface="Arial" panose="020B0604020202020204" pitchFamily="34" charset="0"/>
              <a:buChar char="•"/>
              <a:defRPr/>
            </a:pPr>
            <a:endParaRPr lang="nl-NL" sz="2800" dirty="0"/>
          </a:p>
          <a:p>
            <a:pPr>
              <a:buClrTx/>
              <a:buFont typeface="Arial" panose="020B0604020202020204" pitchFamily="34" charset="0"/>
              <a:buChar char="•"/>
              <a:defRPr/>
            </a:pPr>
            <a:r>
              <a:rPr lang="nl-NL" sz="2800" dirty="0"/>
              <a:t> </a:t>
            </a:r>
            <a:r>
              <a:rPr lang="nl-NL" sz="2800" dirty="0" err="1"/>
              <a:t>Use</a:t>
            </a:r>
            <a:r>
              <a:rPr lang="nl-NL" sz="2800" dirty="0"/>
              <a:t> signal words  </a:t>
            </a:r>
          </a:p>
          <a:p>
            <a:pPr>
              <a:buClrTx/>
              <a:buFont typeface="Arial" panose="020B0604020202020204" pitchFamily="34" charset="0"/>
              <a:buChar char="•"/>
              <a:defRPr/>
            </a:pPr>
            <a:r>
              <a:rPr lang="nl-NL" sz="2800" dirty="0"/>
              <a:t> Provide an overview</a:t>
            </a:r>
          </a:p>
          <a:p>
            <a:pPr>
              <a:buClrTx/>
              <a:buFont typeface="Arial" panose="020B0604020202020204" pitchFamily="34" charset="0"/>
              <a:buChar char="•"/>
              <a:defRPr/>
            </a:pPr>
            <a:r>
              <a:rPr lang="nl-NL" sz="2800" dirty="0"/>
              <a:t> Indicate transitions</a:t>
            </a:r>
          </a:p>
          <a:p>
            <a:pPr lvl="2">
              <a:buFont typeface="Arial" panose="020B0604020202020204" pitchFamily="34" charset="0"/>
              <a:buChar char="•"/>
              <a:defRPr/>
            </a:pPr>
            <a:r>
              <a:rPr lang="nl-NL" sz="2800" dirty="0"/>
              <a:t> between paragraphs, between sentences</a:t>
            </a:r>
          </a:p>
          <a:p>
            <a:pPr>
              <a:buClrTx/>
              <a:buFont typeface="Arial" panose="020B0604020202020204" pitchFamily="34" charset="0"/>
              <a:buChar char="•"/>
              <a:defRPr/>
            </a:pPr>
            <a:r>
              <a:rPr lang="nl-NL" sz="2800" dirty="0"/>
              <a:t> Interim summaries</a:t>
            </a:r>
          </a:p>
          <a:p>
            <a:pPr lvl="2">
              <a:buFont typeface="Arial" panose="020B0604020202020204" pitchFamily="34" charset="0"/>
              <a:buChar char="•"/>
              <a:defRPr/>
            </a:pPr>
            <a:r>
              <a:rPr lang="nl-NL" sz="2800" dirty="0"/>
              <a:t> in between paragraphs</a:t>
            </a:r>
          </a:p>
          <a:p>
            <a:pPr marL="566914" indent="-457189">
              <a:buFont typeface="Arial" panose="020B0604020202020204" pitchFamily="34" charset="0"/>
              <a:buChar char="•"/>
            </a:pPr>
            <a:endParaRPr lang="en-GB" sz="2800" dirty="0"/>
          </a:p>
          <a:p>
            <a:pPr marL="109725" indent="0">
              <a:buNone/>
            </a:pPr>
            <a:r>
              <a:rPr lang="nl-NL" sz="2800" dirty="0"/>
              <a:t>These are vital to readability!</a:t>
            </a:r>
          </a:p>
          <a:p>
            <a:pPr marL="109725" indent="0">
              <a:buNone/>
            </a:pPr>
            <a:endParaRPr lang="en-GB" dirty="0"/>
          </a:p>
        </p:txBody>
      </p:sp>
    </p:spTree>
    <p:extLst>
      <p:ext uri="{BB962C8B-B14F-4D97-AF65-F5344CB8AC3E}">
        <p14:creationId xmlns:p14="http://schemas.microsoft.com/office/powerpoint/2010/main" val="40820083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Signal words </a:t>
            </a:r>
            <a:endParaRPr lang="en-GB" dirty="0"/>
          </a:p>
        </p:txBody>
      </p:sp>
      <p:sp>
        <p:nvSpPr>
          <p:cNvPr id="2" name="Tijdelijke aanduiding voor inhoud 1"/>
          <p:cNvSpPr>
            <a:spLocks noGrp="1"/>
          </p:cNvSpPr>
          <p:nvPr>
            <p:ph idx="1"/>
          </p:nvPr>
        </p:nvSpPr>
        <p:spPr/>
        <p:txBody>
          <a:bodyPr>
            <a:normAutofit/>
          </a:bodyPr>
          <a:lstStyle/>
          <a:p>
            <a:pPr marL="109535" indent="0">
              <a:buNone/>
            </a:pPr>
            <a:r>
              <a:rPr lang="nl-NL" sz="2800" dirty="0"/>
              <a:t>Indicate a relation between paragraphs and sentences</a:t>
            </a:r>
          </a:p>
          <a:p>
            <a:pPr marL="109535" indent="0">
              <a:buNone/>
            </a:pPr>
            <a:endParaRPr lang="en-GB" sz="2800" dirty="0"/>
          </a:p>
          <a:p>
            <a:pPr marL="109535" indent="0">
              <a:buNone/>
            </a:pPr>
            <a:r>
              <a:rPr lang="nl-NL" sz="2800" dirty="0"/>
              <a:t>Also, moreover, furthermore </a:t>
            </a:r>
            <a:r>
              <a:rPr lang="nl-NL" sz="2800" dirty="0">
                <a:sym typeface="Wingdings" panose="05000000000000000000" pitchFamily="2" charset="2"/>
              </a:rPr>
              <a:t> summary</a:t>
            </a:r>
          </a:p>
          <a:p>
            <a:pPr marL="109535" indent="0">
              <a:buNone/>
            </a:pPr>
            <a:r>
              <a:rPr lang="nl-NL" sz="2800" dirty="0"/>
              <a:t>Yet, even though, nevertheless </a:t>
            </a:r>
            <a:r>
              <a:rPr lang="nl-NL" sz="2800" dirty="0">
                <a:sym typeface="Wingdings" panose="05000000000000000000" pitchFamily="2" charset="2"/>
              </a:rPr>
              <a:t></a:t>
            </a:r>
            <a:r>
              <a:rPr sz="2800" dirty="0"/>
              <a:t> </a:t>
            </a:r>
            <a:r>
              <a:rPr lang="nl-NL" sz="2800" dirty="0"/>
              <a:t>contradiction</a:t>
            </a:r>
          </a:p>
          <a:p>
            <a:pPr marL="109535" indent="0">
              <a:buNone/>
            </a:pPr>
            <a:r>
              <a:rPr lang="nl-NL" sz="2800" dirty="0"/>
              <a:t>Because, therefore, due to, hence </a:t>
            </a:r>
            <a:r>
              <a:rPr lang="nl-NL" sz="2800" dirty="0">
                <a:sym typeface="Wingdings" panose="05000000000000000000" pitchFamily="2" charset="2"/>
              </a:rPr>
              <a:t> cause</a:t>
            </a:r>
          </a:p>
          <a:p>
            <a:pPr marL="109535" indent="0">
              <a:buNone/>
            </a:pPr>
            <a:r>
              <a:rPr lang="nl-NL" sz="2800" dirty="0"/>
              <a:t>When, if, in the event that </a:t>
            </a:r>
            <a:r>
              <a:rPr lang="nl-NL" sz="2800" dirty="0">
                <a:sym typeface="Wingdings" panose="05000000000000000000" pitchFamily="2" charset="2"/>
              </a:rPr>
              <a:t> condition</a:t>
            </a:r>
          </a:p>
          <a:p>
            <a:pPr marL="109535" indent="0">
              <a:buNone/>
            </a:pPr>
            <a:endParaRPr lang="en-GB" sz="2800" dirty="0">
              <a:sym typeface="Wingdings" panose="05000000000000000000" pitchFamily="2" charset="2"/>
            </a:endParaRPr>
          </a:p>
          <a:p>
            <a:pPr marL="109535" lvl="1" indent="0">
              <a:spcBef>
                <a:spcPts val="400"/>
              </a:spcBef>
              <a:buSzPct val="68000"/>
              <a:buNone/>
            </a:pPr>
            <a:r>
              <a:rPr lang="nl-NL" sz="2800" b="1" dirty="0"/>
              <a:t>Check the overview of the most common signal words in the manual </a:t>
            </a:r>
            <a:r>
              <a:rPr sz="2800" b="1" dirty="0"/>
              <a:t>(Annex </a:t>
            </a:r>
            <a:r>
              <a:rPr lang="nl-NL" sz="2800" b="1" dirty="0"/>
              <a:t>7</a:t>
            </a:r>
            <a:r>
              <a:rPr sz="2800" b="1" dirty="0"/>
              <a:t>)!</a:t>
            </a:r>
            <a:endParaRPr lang="en-GB" sz="2800" b="1" dirty="0"/>
          </a:p>
          <a:p>
            <a:pPr marL="109535" indent="0">
              <a:buNone/>
            </a:pPr>
            <a:endParaRPr lang="en-GB" dirty="0"/>
          </a:p>
        </p:txBody>
      </p:sp>
    </p:spTree>
    <p:extLst>
      <p:ext uri="{BB962C8B-B14F-4D97-AF65-F5344CB8AC3E}">
        <p14:creationId xmlns:p14="http://schemas.microsoft.com/office/powerpoint/2010/main" val="7453842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dirty="0"/>
              <a:t>Providing an overview</a:t>
            </a:r>
            <a:endParaRPr lang="en-GB" dirty="0"/>
          </a:p>
        </p:txBody>
      </p:sp>
      <p:sp>
        <p:nvSpPr>
          <p:cNvPr id="83970" name="Tijdelijke aanduiding voor inhoud 1"/>
          <p:cNvSpPr>
            <a:spLocks noGrp="1"/>
          </p:cNvSpPr>
          <p:nvPr>
            <p:ph idx="1"/>
          </p:nvPr>
        </p:nvSpPr>
        <p:spPr/>
        <p:txBody>
          <a:bodyPr>
            <a:normAutofit/>
          </a:bodyPr>
          <a:lstStyle/>
          <a:p>
            <a:pPr marL="107948" indent="0">
              <a:buNone/>
            </a:pPr>
            <a:endParaRPr lang="en-US" altLang="nl-NL" sz="2800" dirty="0"/>
          </a:p>
          <a:p>
            <a:pPr marL="107948" indent="0">
              <a:buNone/>
            </a:pPr>
            <a:r>
              <a:rPr lang="en-US" altLang="nl-NL" sz="2800" dirty="0"/>
              <a:t>“The first biological treatment we will discuss is detoxification. Detoxification is …(Comer, 2007).”</a:t>
            </a:r>
          </a:p>
          <a:p>
            <a:pPr marL="107948" indent="0">
              <a:buNone/>
            </a:pPr>
            <a:endParaRPr lang="en-US" altLang="nl-NL" sz="2800" dirty="0"/>
          </a:p>
          <a:p>
            <a:pPr marL="107948" indent="0">
              <a:buNone/>
            </a:pPr>
            <a:r>
              <a:rPr lang="en-US" sz="2800" dirty="0"/>
              <a:t>“The second main aspect that will be focused on is the use of specific verbs.” </a:t>
            </a:r>
            <a:endParaRPr lang="en-US" altLang="nl-NL" sz="2800" dirty="0"/>
          </a:p>
        </p:txBody>
      </p:sp>
    </p:spTree>
    <p:extLst>
      <p:ext uri="{BB962C8B-B14F-4D97-AF65-F5344CB8AC3E}">
        <p14:creationId xmlns:p14="http://schemas.microsoft.com/office/powerpoint/2010/main" val="2385960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lstStyle/>
          <a:p>
            <a:r>
              <a:rPr dirty="0"/>
              <a:t>Indicate transitions </a:t>
            </a:r>
            <a:endParaRPr lang="en-GB" dirty="0"/>
          </a:p>
        </p:txBody>
      </p:sp>
      <p:sp>
        <p:nvSpPr>
          <p:cNvPr id="2" name="Tijdelijke aanduiding voor inhoud 1"/>
          <p:cNvSpPr>
            <a:spLocks noGrp="1"/>
          </p:cNvSpPr>
          <p:nvPr>
            <p:ph idx="1"/>
          </p:nvPr>
        </p:nvSpPr>
        <p:spPr/>
        <p:txBody>
          <a:bodyPr/>
          <a:lstStyle/>
          <a:p>
            <a:pPr marL="109535" indent="0">
              <a:buNone/>
            </a:pPr>
            <a:endParaRPr lang="en-US" sz="2800" dirty="0"/>
          </a:p>
          <a:p>
            <a:pPr marL="109535" indent="0">
              <a:buNone/>
            </a:pPr>
            <a:r>
              <a:rPr lang="en-US" sz="2800" dirty="0"/>
              <a:t>"The last paragraph (or this paragraph) looked at the effect the use of certain particular verbs had on how the speaker was rated. A second main factor that influences how the speaker is rated is his choice of words."</a:t>
            </a:r>
          </a:p>
          <a:p>
            <a:pPr marL="109535" indent="0">
              <a:buNone/>
            </a:pPr>
            <a:endParaRPr lang="en-GB" dirty="0"/>
          </a:p>
          <a:p>
            <a:pPr marL="109535" indent="0">
              <a:buNone/>
            </a:pPr>
            <a:endParaRPr lang="en-GB" dirty="0"/>
          </a:p>
        </p:txBody>
      </p:sp>
    </p:spTree>
    <p:extLst>
      <p:ext uri="{BB962C8B-B14F-4D97-AF65-F5344CB8AC3E}">
        <p14:creationId xmlns:p14="http://schemas.microsoft.com/office/powerpoint/2010/main" val="313363091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title"/>
          </p:nvPr>
        </p:nvSpPr>
        <p:spPr/>
        <p:txBody>
          <a:bodyPr>
            <a:noAutofit/>
          </a:bodyPr>
          <a:lstStyle/>
          <a:p>
            <a:pPr>
              <a:defRPr/>
            </a:pPr>
            <a:r>
              <a:rPr dirty="0"/>
              <a:t>Interim summaries</a:t>
            </a:r>
            <a:endParaRPr lang="en-GB" dirty="0"/>
          </a:p>
        </p:txBody>
      </p:sp>
      <p:sp>
        <p:nvSpPr>
          <p:cNvPr id="84994" name="Tijdelijke aanduiding voor inhoud 1"/>
          <p:cNvSpPr>
            <a:spLocks noGrp="1"/>
          </p:cNvSpPr>
          <p:nvPr>
            <p:ph idx="1"/>
          </p:nvPr>
        </p:nvSpPr>
        <p:spPr/>
        <p:txBody>
          <a:bodyPr>
            <a:normAutofit fontScale="85000" lnSpcReduction="10000"/>
          </a:bodyPr>
          <a:lstStyle/>
          <a:p>
            <a:pPr marL="109535" indent="0">
              <a:buNone/>
            </a:pPr>
            <a:endParaRPr lang="en-US" sz="2800" dirty="0"/>
          </a:p>
          <a:p>
            <a:pPr marL="109535" indent="0">
              <a:buNone/>
            </a:pPr>
            <a:r>
              <a:rPr lang="en-US" sz="2800" dirty="0"/>
              <a:t>“In summary, the various studies show that an overly critical style of upbringing increases a child's risk to develop a social anxiety disorder. “</a:t>
            </a:r>
          </a:p>
          <a:p>
            <a:pPr marL="109535" indent="0">
              <a:buNone/>
            </a:pPr>
            <a:endParaRPr lang="en-US" sz="2800" dirty="0"/>
          </a:p>
          <a:p>
            <a:pPr marL="109535" indent="0">
              <a:buNone/>
            </a:pPr>
            <a:r>
              <a:rPr lang="en-US" sz="2800" dirty="0"/>
              <a:t>“The effect of the mother on the social anxiety of a child hence differs from the father's influence on it. The behavior of the father, for instance, has a moderating effect on social anxiety, while the mother can have an aggravating effect on social anxiety. One explanation for these differing effects could be that mothers tend to teach their children social wariness, whereas fathers tend to teach them social confidence." </a:t>
            </a:r>
          </a:p>
          <a:p>
            <a:pPr marL="109535" indent="0">
              <a:buNone/>
            </a:pPr>
            <a:endParaRPr lang="en-GB" sz="2800" dirty="0"/>
          </a:p>
        </p:txBody>
      </p:sp>
    </p:spTree>
    <p:extLst>
      <p:ext uri="{BB962C8B-B14F-4D97-AF65-F5344CB8AC3E}">
        <p14:creationId xmlns:p14="http://schemas.microsoft.com/office/powerpoint/2010/main" val="2146543334"/>
      </p:ext>
    </p:extLst>
  </p:cSld>
  <p:clrMapOvr>
    <a:masterClrMapping/>
  </p:clrMapOvr>
</p:sld>
</file>

<file path=ppt/theme/theme1.xml><?xml version="1.0" encoding="utf-8"?>
<a:theme xmlns:a="http://schemas.openxmlformats.org/drawingml/2006/main" name="EUR_Presentatie_c18">
  <a:themeElements>
    <a:clrScheme name="Erasmus_Corporate">
      <a:dk1>
        <a:srgbClr val="002328"/>
      </a:dk1>
      <a:lt1>
        <a:sysClr val="window" lastClr="FFFFFF"/>
      </a:lt1>
      <a:dk2>
        <a:srgbClr val="00B969"/>
      </a:dk2>
      <a:lt2>
        <a:srgbClr val="9C9C9C"/>
      </a:lt2>
      <a:accent1>
        <a:srgbClr val="E3DAD8"/>
      </a:accent1>
      <a:accent2>
        <a:srgbClr val="00B4D2"/>
      </a:accent2>
      <a:accent3>
        <a:srgbClr val="00A22E"/>
      </a:accent3>
      <a:accent4>
        <a:srgbClr val="FFD700"/>
      </a:accent4>
      <a:accent5>
        <a:srgbClr val="FF9E00"/>
      </a:accent5>
      <a:accent6>
        <a:srgbClr val="BC0436"/>
      </a:accent6>
      <a:hlink>
        <a:srgbClr val="000000"/>
      </a:hlink>
      <a:folHlink>
        <a:srgbClr val="000000"/>
      </a:folHlink>
    </a:clrScheme>
    <a:fontScheme name="Erasmus_500-700">
      <a:majorFont>
        <a:latin typeface="Museo Sans 700"/>
        <a:ea typeface=""/>
        <a:cs typeface=""/>
      </a:majorFont>
      <a:minorFont>
        <a:latin typeface="Museo Sans 500"/>
        <a:ea typeface=""/>
        <a:cs typeface=""/>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28055_Erasmus_ESSB_template_NL_16x9.pptx" id="{3ADC2819-0082-4205-AE01-17D45B78D08B}" vid="{FB905D5A-2361-465A-9AF5-4D716AA8159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FF9A19BEFAF19E48A98499F0DCDB9845" ma:contentTypeVersion="14" ma:contentTypeDescription="Een nieuw document maken." ma:contentTypeScope="" ma:versionID="dffcc917a2dfb5bf427c53bfabe8ad2f">
  <xsd:schema xmlns:xsd="http://www.w3.org/2001/XMLSchema" xmlns:xs="http://www.w3.org/2001/XMLSchema" xmlns:p="http://schemas.microsoft.com/office/2006/metadata/properties" xmlns:ns2="e6184cdb-27b6-4fa9-b428-d3569f95926d" xmlns:ns3="ee5a7209-f4a2-4b85-bc1d-e34763a728ef" targetNamespace="http://schemas.microsoft.com/office/2006/metadata/properties" ma:root="true" ma:fieldsID="4949b5f5b4be31355d1afa7280bf2e3f" ns2:_="" ns3:_="">
    <xsd:import namespace="e6184cdb-27b6-4fa9-b428-d3569f95926d"/>
    <xsd:import namespace="ee5a7209-f4a2-4b85-bc1d-e34763a728e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184cdb-27b6-4fa9-b428-d3569f95926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Afbeeldingtags" ma:readOnly="false" ma:fieldId="{5cf76f15-5ced-4ddc-b409-7134ff3c332f}" ma:taxonomyMulti="true" ma:sspId="d5e0f8d3-5d55-42d7-8108-7e842a0d7440"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e5a7209-f4a2-4b85-bc1d-e34763a728ef" elementFormDefault="qualified">
    <xsd:import namespace="http://schemas.microsoft.com/office/2006/documentManagement/types"/>
    <xsd:import namespace="http://schemas.microsoft.com/office/infopath/2007/PartnerControls"/>
    <xsd:element name="SharedWithUsers" ma:index="11" nillable="true" ma:displayName="Gedeeld met"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Gedeeld met details" ma:internalName="SharedWithDetails" ma:readOnly="true">
      <xsd:simpleType>
        <xsd:restriction base="dms:Note">
          <xsd:maxLength value="255"/>
        </xsd:restriction>
      </xsd:simpleType>
    </xsd:element>
    <xsd:element name="TaxCatchAll" ma:index="19" nillable="true" ma:displayName="Taxonomy Catch All Column" ma:hidden="true" ma:list="{9f77011e-3075-432b-a5a0-f9ab8acea8dd}" ma:internalName="TaxCatchAll" ma:showField="CatchAllData" ma:web="ee5a7209-f4a2-4b85-bc1d-e34763a728e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hou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e6184cdb-27b6-4fa9-b428-d3569f95926d">
      <Terms xmlns="http://schemas.microsoft.com/office/infopath/2007/PartnerControls"/>
    </lcf76f155ced4ddcb4097134ff3c332f>
    <TaxCatchAll xmlns="ee5a7209-f4a2-4b85-bc1d-e34763a728ef" xsi:nil="true"/>
  </documentManagement>
</p:properties>
</file>

<file path=customXml/itemProps1.xml><?xml version="1.0" encoding="utf-8"?>
<ds:datastoreItem xmlns:ds="http://schemas.openxmlformats.org/officeDocument/2006/customXml" ds:itemID="{C389D139-1FF0-4956-B346-FBB589DC526D}"/>
</file>

<file path=customXml/itemProps2.xml><?xml version="1.0" encoding="utf-8"?>
<ds:datastoreItem xmlns:ds="http://schemas.openxmlformats.org/officeDocument/2006/customXml" ds:itemID="{CD9ED59D-3BCC-4297-8BB4-C99EF77A398A}"/>
</file>

<file path=customXml/itemProps3.xml><?xml version="1.0" encoding="utf-8"?>
<ds:datastoreItem xmlns:ds="http://schemas.openxmlformats.org/officeDocument/2006/customXml" ds:itemID="{71A60EAA-D460-4751-B260-B469716FD544}"/>
</file>

<file path=docProps/app.xml><?xml version="1.0" encoding="utf-8"?>
<Properties xmlns="http://schemas.openxmlformats.org/officeDocument/2006/extended-properties" xmlns:vt="http://schemas.openxmlformats.org/officeDocument/2006/docPropsVTypes">
  <TotalTime>128</TotalTime>
  <Words>2694</Words>
  <Application>Microsoft Office PowerPoint</Application>
  <PresentationFormat>Widescreen</PresentationFormat>
  <Paragraphs>250</Paragraphs>
  <Slides>21</Slides>
  <Notes>20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Arial</vt:lpstr>
      <vt:lpstr>Calibri</vt:lpstr>
      <vt:lpstr>Museo Sans 100</vt:lpstr>
      <vt:lpstr>Museo Sans 500</vt:lpstr>
      <vt:lpstr>Museo Sans 700</vt:lpstr>
      <vt:lpstr>Museo Sans 900</vt:lpstr>
      <vt:lpstr>Wingdings</vt:lpstr>
      <vt:lpstr>EUR_Presentatie_c18</vt:lpstr>
      <vt:lpstr>General structure and cohesion</vt:lpstr>
      <vt:lpstr>General structure literature report </vt:lpstr>
      <vt:lpstr>General structure  Assessment criteria Rubric</vt:lpstr>
      <vt:lpstr>Pitfalls</vt:lpstr>
      <vt:lpstr>Sub-topics </vt:lpstr>
      <vt:lpstr>Title and headings</vt:lpstr>
      <vt:lpstr>Which of these title is the best one?</vt:lpstr>
      <vt:lpstr>Which of these title is the best one?</vt:lpstr>
      <vt:lpstr>Which heading fits the text? </vt:lpstr>
      <vt:lpstr>Which heading fits the text?</vt:lpstr>
      <vt:lpstr>Which heading fits the text?</vt:lpstr>
      <vt:lpstr>Ordening of headings</vt:lpstr>
      <vt:lpstr>Ordening of headings</vt:lpstr>
      <vt:lpstr>Ordening of headings</vt:lpstr>
      <vt:lpstr>COHERENCE Assessment criteria Rubric</vt:lpstr>
      <vt:lpstr>Pitfalls coherence</vt:lpstr>
      <vt:lpstr>Structural indicators</vt:lpstr>
      <vt:lpstr>Signal words </vt:lpstr>
      <vt:lpstr>Providing an overview</vt:lpstr>
      <vt:lpstr>Indicate transitions </vt:lpstr>
      <vt:lpstr>Interim summaries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General structure and cohesion</dc:title>
  <dc:creator>Estella van der Wal</dc:creator>
  <cp:lastModifiedBy>Estella van der Wal</cp:lastModifiedBy>
  <cp:revision>8</cp:revision>
  <dcterms:created xsi:type="dcterms:W3CDTF">2022-03-22T07:43:46Z</dcterms:created>
  <dcterms:modified xsi:type="dcterms:W3CDTF">2022-06-05T07:31:39Z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0x010100FF9A19BEFAF19E48A98499F0DCDB9845</vt:lpwstr>
  </property>
</Properties>
</file>